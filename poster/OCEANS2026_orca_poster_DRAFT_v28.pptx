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10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1,336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 — all of it;</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873 of them built the presented model</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4846320"/>
          </a:xfrm>
          <a:prstGeom prst="roundRect">
            <a:avLst>
              <a:gd name="adj" fmla="val 1698"/>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184130" y="8732520"/>
            <a:ext cx="4389120" cy="1613916"/>
          </a:xfrm>
          <a:prstGeom prst="rect">
            <a:avLst/>
          </a:prstGeom>
        </p:spPr>
      </p:pic>
      <p:sp>
        <p:nvSpPr>
          <p:cNvPr id="45" name="Shape 40"/>
          <p:cNvSpPr/>
          <p:nvPr/>
        </p:nvSpPr>
        <p:spPr>
          <a:xfrm>
            <a:off x="8435340" y="10698480"/>
            <a:ext cx="7886700" cy="4572000"/>
          </a:xfrm>
          <a:prstGeom prst="roundRect">
            <a:avLst>
              <a:gd name="adj" fmla="val 1800"/>
            </a:avLst>
          </a:prstGeom>
          <a:solidFill>
            <a:srgbClr val="EEF3F7"/>
          </a:solidFill>
          <a:ln w="12700">
            <a:solidFill>
              <a:srgbClr val="D8E2EA"/>
            </a:solidFill>
            <a:prstDash val="solid"/>
          </a:ln>
        </p:spPr>
      </p:sp>
      <p:sp>
        <p:nvSpPr>
          <p:cNvPr id="46" name="Shape 41"/>
          <p:cNvSpPr/>
          <p:nvPr/>
        </p:nvSpPr>
        <p:spPr>
          <a:xfrm>
            <a:off x="8686800" y="1092708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_dpi300.png">    </p:cNvPr>
          <p:cNvPicPr>
            <a:picLocks noChangeAspect="1"/>
          </p:cNvPicPr>
          <p:nvPr/>
        </p:nvPicPr>
        <p:blipFill>
          <a:blip r:embed="rId4"/>
          <a:stretch>
            <a:fillRect/>
          </a:stretch>
        </p:blipFill>
        <p:spPr>
          <a:xfrm>
            <a:off x="10595610" y="11704320"/>
            <a:ext cx="3566160" cy="2971800"/>
          </a:xfrm>
          <a:prstGeom prst="rect">
            <a:avLst/>
          </a:prstGeom>
        </p:spPr>
      </p:pic>
      <p:sp>
        <p:nvSpPr>
          <p:cNvPr id="50" name="Text 44"/>
          <p:cNvSpPr/>
          <p:nvPr/>
        </p:nvSpPr>
        <p:spPr>
          <a:xfrm>
            <a:off x="8709660" y="14721840"/>
            <a:ext cx="7338060" cy="54864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which is the premise this method rests on. Where classes visibly overlap, orca against humpback, is the same confusion the spectrogram row shows and the scores in panel 10 measure. The humpback class here covers vocalization broadly, not only song.</a:t>
            </a:r>
            <a:endParaRPr lang="en-US" sz="800" dirty="0"/>
          </a:p>
        </p:txBody>
      </p:sp>
      <p:sp>
        <p:nvSpPr>
          <p:cNvPr id="51" name="Shape 45"/>
          <p:cNvSpPr/>
          <p:nvPr/>
        </p:nvSpPr>
        <p:spPr>
          <a:xfrm>
            <a:off x="8435340" y="15544800"/>
            <a:ext cx="7886700" cy="5212080"/>
          </a:xfrm>
          <a:prstGeom prst="roundRect">
            <a:avLst>
              <a:gd name="adj" fmla="val 1579"/>
            </a:avLst>
          </a:prstGeom>
          <a:solidFill>
            <a:srgbClr val="EEF3F7"/>
          </a:solidFill>
          <a:ln w="12700">
            <a:solidFill>
              <a:srgbClr val="D8E2EA"/>
            </a:solidFill>
            <a:prstDash val="solid"/>
          </a:ln>
        </p:spPr>
      </p:sp>
      <p:sp>
        <p:nvSpPr>
          <p:cNvPr id="52" name="Shape 46"/>
          <p:cNvSpPr/>
          <p:nvPr/>
        </p:nvSpPr>
        <p:spPr>
          <a:xfrm>
            <a:off x="8686800" y="1577340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577340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573682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50492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105120"/>
            <a:ext cx="5394960" cy="2157984"/>
          </a:xfrm>
          <a:prstGeom prst="rect">
            <a:avLst/>
          </a:prstGeom>
        </p:spPr>
      </p:pic>
      <p:sp>
        <p:nvSpPr>
          <p:cNvPr id="57" name="Text 50"/>
          <p:cNvSpPr/>
          <p:nvPr/>
        </p:nvSpPr>
        <p:spPr>
          <a:xfrm>
            <a:off x="8709660" y="20276820"/>
            <a:ext cx="7338060" cy="48006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850" dirty="0"/>
          </a:p>
        </p:txBody>
      </p:sp>
      <p:sp>
        <p:nvSpPr>
          <p:cNvPr id="58" name="Shape 51"/>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9" name="Shape 52"/>
          <p:cNvSpPr/>
          <p:nvPr/>
        </p:nvSpPr>
        <p:spPr>
          <a:xfrm>
            <a:off x="16847820" y="5806440"/>
            <a:ext cx="525780" cy="525780"/>
          </a:xfrm>
          <a:prstGeom prst="ellipse">
            <a:avLst/>
          </a:prstGeom>
          <a:solidFill>
            <a:srgbClr val="1C7293"/>
          </a:solidFill>
          <a:ln w="12700">
            <a:solidFill>
              <a:srgbClr val="1C7293"/>
            </a:solidFill>
            <a:prstDash val="solid"/>
          </a:ln>
        </p:spPr>
      </p:sp>
      <p:sp>
        <p:nvSpPr>
          <p:cNvPr id="60" name="Text 53"/>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1" name="Text 54"/>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2" name="Text 55"/>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Ten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3"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4" name="Text 56"/>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a:t>
            </a:r>
            <a:endParaRPr lang="en-US" sz="900" dirty="0"/>
          </a:p>
        </p:txBody>
      </p:sp>
      <p:sp>
        <p:nvSpPr>
          <p:cNvPr id="65" name="Shape 57"/>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6" name="Shape 58"/>
          <p:cNvSpPr/>
          <p:nvPr/>
        </p:nvSpPr>
        <p:spPr>
          <a:xfrm>
            <a:off x="16847820" y="13761720"/>
            <a:ext cx="525780" cy="525780"/>
          </a:xfrm>
          <a:prstGeom prst="ellipse">
            <a:avLst/>
          </a:prstGeom>
          <a:solidFill>
            <a:srgbClr val="1C7293"/>
          </a:solidFill>
          <a:ln w="12700">
            <a:solidFill>
              <a:srgbClr val="1C7293"/>
            </a:solidFill>
            <a:prstDash val="solid"/>
          </a:ln>
        </p:spPr>
      </p:sp>
      <p:sp>
        <p:nvSpPr>
          <p:cNvPr id="67" name="Text 59"/>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8" name="Text 60"/>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9" name="Image 6" descr="tsne_orca_by_day_4days_px30_pres_dpi300.png">    </p:cNvPr>
          <p:cNvPicPr>
            <a:picLocks noChangeAspect="1"/>
          </p:cNvPicPr>
          <p:nvPr/>
        </p:nvPicPr>
        <p:blipFill>
          <a:blip r:embed="rId7"/>
          <a:stretch>
            <a:fillRect/>
          </a:stretch>
        </p:blipFill>
        <p:spPr>
          <a:xfrm>
            <a:off x="17910810" y="14584680"/>
            <a:ext cx="5257800" cy="3483864"/>
          </a:xfrm>
          <a:prstGeom prst="rect">
            <a:avLst/>
          </a:prstGeom>
        </p:spPr>
      </p:pic>
      <p:sp>
        <p:nvSpPr>
          <p:cNvPr id="70" name="Text 61"/>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1" name="Text 62"/>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2" name="Shape 63"/>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3" name="Shape 64"/>
          <p:cNvSpPr/>
          <p:nvPr/>
        </p:nvSpPr>
        <p:spPr>
          <a:xfrm>
            <a:off x="25008840" y="5806440"/>
            <a:ext cx="525780" cy="525780"/>
          </a:xfrm>
          <a:prstGeom prst="ellipse">
            <a:avLst/>
          </a:prstGeom>
          <a:solidFill>
            <a:srgbClr val="1C7293"/>
          </a:solidFill>
          <a:ln w="12700">
            <a:solidFill>
              <a:srgbClr val="1C7293"/>
            </a:solidFill>
            <a:prstDash val="solid"/>
          </a:ln>
        </p:spPr>
      </p:sp>
      <p:sp>
        <p:nvSpPr>
          <p:cNvPr id="74" name="Text 65"/>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5" name="Text 66"/>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6"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7" name="Text 67"/>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8" name="Shape 68"/>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9" name="Shape 69"/>
          <p:cNvSpPr/>
          <p:nvPr/>
        </p:nvSpPr>
        <p:spPr>
          <a:xfrm>
            <a:off x="25008840" y="10927080"/>
            <a:ext cx="525780" cy="525780"/>
          </a:xfrm>
          <a:prstGeom prst="ellipse">
            <a:avLst/>
          </a:prstGeom>
          <a:solidFill>
            <a:srgbClr val="1C7293"/>
          </a:solidFill>
          <a:ln w="12700">
            <a:solidFill>
              <a:srgbClr val="1C7293"/>
            </a:solidFill>
            <a:prstDash val="solid"/>
          </a:ln>
        </p:spPr>
      </p:sp>
      <p:sp>
        <p:nvSpPr>
          <p:cNvPr id="80" name="Text 70"/>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1" name="Text 71"/>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2" name="Text 72"/>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3"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4" name="Text 73"/>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5" name="Shape 74"/>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6" name="Shape 75"/>
          <p:cNvSpPr/>
          <p:nvPr/>
        </p:nvSpPr>
        <p:spPr>
          <a:xfrm>
            <a:off x="25008840" y="16047720"/>
            <a:ext cx="525780" cy="525780"/>
          </a:xfrm>
          <a:prstGeom prst="ellipse">
            <a:avLst/>
          </a:prstGeom>
          <a:solidFill>
            <a:srgbClr val="1C7293"/>
          </a:solidFill>
          <a:ln w="12700">
            <a:solidFill>
              <a:srgbClr val="1C7293"/>
            </a:solidFill>
            <a:prstDash val="solid"/>
          </a:ln>
        </p:spPr>
      </p:sp>
      <p:sp>
        <p:nvSpPr>
          <p:cNvPr id="87" name="Text 76"/>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8" name="Text 77"/>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9" name="Text 78"/>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90" name="Text 79"/>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1" name="Text 80"/>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2" name="Text 81"/>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3" name="Text 82"/>
          <p:cNvSpPr/>
          <p:nvPr/>
        </p:nvSpPr>
        <p:spPr>
          <a:xfrm>
            <a:off x="25031700" y="19499580"/>
            <a:ext cx="7338060" cy="1188720"/>
          </a:xfrm>
          <a:prstGeom prst="rect">
            <a:avLst/>
          </a:prstGeom>
          <a:noFill/>
          <a:ln/>
        </p:spPr>
        <p:txBody>
          <a:bodyPr wrap="square" lIns="0" tIns="0" rIns="0" bIns="0" rtlCol="0" anchor="t"/>
          <a:lstStyle/>
          <a:p>
            <a:pPr indent="0" marL="0">
              <a:lnSpc>
                <a:spcPts val="950"/>
              </a:lnSpc>
              <a:buNone/>
            </a:pPr>
            <a:r>
              <a:rPr lang="en-US" sz="800" dirty="0">
                <a:solidFill>
                  <a:srgbClr val="4A5C6A"/>
                </a:solidFill>
                <a:latin typeface="Arial" pitchFamily="34" charset="0"/>
                <a:ea typeface="Arial" pitchFamily="34" charset="-122"/>
                <a:cs typeface="Arial" pitchFamily="34" charset="-120"/>
              </a:rPr>
              <a:t>van Merriënboer et al. (2025) Perch 2.0: the bittern lesson for bioacoustics, arXiv:2508.04665  ·  Burns et al. (2025) Perch 2.0 transfers ‘whale’ to underwater tasks, arXiv:2512.03219  ·  Google Research, perch-hoplite (GitHub)  ·  Harvey, Allen &amp; Harrell (2024) multispecies-whale, Kaggle  ·  Bonhoeffer et al. (2026) orcAI: a machine learning tool to detect and classify acoustic signals of killer whales, Mar. Mamm. Sci. 42(1) e70083, doi:10.1111/mms.70083  ·  Ryan et al. (2016) New passive acoustic monitoring in Monterey Bay National Marine Sanctuary, OCEANS 2016 MTS/IEEE Monterey, pp. 1–8, doi:10.1109/OCEANS.2016.7761363  ·  McInnes et al. (2023) Identification catalog and field guide for transient (Bigg’s) killer whales of Monterey Bay and California waters, NOAA SWFSC, doi:10.25923/0q3f-1812</a:t>
            </a:r>
            <a:endParaRPr lang="en-US" sz="800" dirty="0"/>
          </a:p>
        </p:txBody>
      </p:sp>
      <p:sp>
        <p:nvSpPr>
          <p:cNvPr id="94" name="Shape 83"/>
          <p:cNvSpPr/>
          <p:nvPr/>
        </p:nvSpPr>
        <p:spPr>
          <a:xfrm>
            <a:off x="30815280" y="20894040"/>
            <a:ext cx="914400" cy="914400"/>
          </a:xfrm>
          <a:prstGeom prst="rect">
            <a:avLst/>
          </a:prstGeom>
          <a:solidFill>
            <a:srgbClr val="FFFFFF"/>
          </a:solidFill>
          <a:ln w="25400">
            <a:solidFill>
              <a:srgbClr val="1C7293"/>
            </a:solidFill>
            <a:prstDash val="dash"/>
          </a:ln>
        </p:spPr>
      </p:sp>
      <p:sp>
        <p:nvSpPr>
          <p:cNvPr id="95" name="Text 84"/>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6" name="Text 85"/>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7" name="Text 86"/>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2026-08-22T21:47:22Z</dcterms:created>
  <dcterms:modified xsi:type="dcterms:W3CDTF">2026-08-22T21:47:22Z</dcterms:modified>
</cp:coreProperties>
</file>