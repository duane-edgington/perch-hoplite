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~1,450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the classifier retrains in ~30 s</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colour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5029200"/>
          </a:xfrm>
          <a:prstGeom prst="roundRect">
            <a:avLst>
              <a:gd name="adj" fmla="val 1636"/>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046970" y="8778240"/>
            <a:ext cx="4663440" cy="1714500"/>
          </a:xfrm>
          <a:prstGeom prst="rect">
            <a:avLst/>
          </a:prstGeom>
        </p:spPr>
      </p:pic>
      <p:sp>
        <p:nvSpPr>
          <p:cNvPr id="45" name="Shape 40"/>
          <p:cNvSpPr/>
          <p:nvPr/>
        </p:nvSpPr>
        <p:spPr>
          <a:xfrm>
            <a:off x="8435340" y="10881360"/>
            <a:ext cx="7886700" cy="4754880"/>
          </a:xfrm>
          <a:prstGeom prst="roundRect">
            <a:avLst>
              <a:gd name="adj" fmla="val 1731"/>
            </a:avLst>
          </a:prstGeom>
          <a:solidFill>
            <a:srgbClr val="EEF3F7"/>
          </a:solidFill>
          <a:ln w="12700">
            <a:solidFill>
              <a:srgbClr val="D8E2EA"/>
            </a:solidFill>
            <a:prstDash val="solid"/>
          </a:ln>
        </p:spPr>
      </p:sp>
      <p:sp>
        <p:nvSpPr>
          <p:cNvPr id="46" name="Shape 41"/>
          <p:cNvSpPr/>
          <p:nvPr/>
        </p:nvSpPr>
        <p:spPr>
          <a:xfrm>
            <a:off x="8686800" y="1110996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11099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10733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png">    </p:cNvPr>
          <p:cNvPicPr>
            <a:picLocks noChangeAspect="1"/>
          </p:cNvPicPr>
          <p:nvPr/>
        </p:nvPicPr>
        <p:blipFill>
          <a:blip r:embed="rId4"/>
          <a:stretch>
            <a:fillRect/>
          </a:stretch>
        </p:blipFill>
        <p:spPr>
          <a:xfrm>
            <a:off x="10504170" y="11887200"/>
            <a:ext cx="3749040" cy="3122676"/>
          </a:xfrm>
          <a:prstGeom prst="rect">
            <a:avLst/>
          </a:prstGeom>
        </p:spPr>
      </p:pic>
      <p:sp>
        <p:nvSpPr>
          <p:cNvPr id="50" name="Text 44"/>
          <p:cNvSpPr/>
          <p:nvPr/>
        </p:nvSpPr>
        <p:spPr>
          <a:xfrm>
            <a:off x="8709660" y="15064740"/>
            <a:ext cx="7338060"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823 labeled windows, 6 classes, 3 seasons (April 2018, October 2020, April 2026), as labeled at the July 2026 snapshot. The orca cluster holds across all three years — the embeddings are separable across recording conditions and time, which is the premise this method rests on. Where classes visibly overlap, orca against humpback, is the same confusion the spectrograms show and the detection scores measure. The humpback class here covers vocalization broadly, not only song.</a:t>
            </a:r>
            <a:endParaRPr lang="en-US" sz="850" dirty="0"/>
          </a:p>
        </p:txBody>
      </p:sp>
      <p:sp>
        <p:nvSpPr>
          <p:cNvPr id="51" name="Shape 45"/>
          <p:cNvSpPr/>
          <p:nvPr/>
        </p:nvSpPr>
        <p:spPr>
          <a:xfrm>
            <a:off x="8435340" y="15910560"/>
            <a:ext cx="7886700" cy="4846320"/>
          </a:xfrm>
          <a:prstGeom prst="roundRect">
            <a:avLst>
              <a:gd name="adj" fmla="val 1698"/>
            </a:avLst>
          </a:prstGeom>
          <a:solidFill>
            <a:srgbClr val="EEF3F7"/>
          </a:solidFill>
          <a:ln w="12700">
            <a:solidFill>
              <a:srgbClr val="D8E2EA"/>
            </a:solidFill>
            <a:prstDash val="solid"/>
          </a:ln>
        </p:spPr>
      </p:sp>
      <p:sp>
        <p:nvSpPr>
          <p:cNvPr id="52" name="Shape 46"/>
          <p:cNvSpPr/>
          <p:nvPr/>
        </p:nvSpPr>
        <p:spPr>
          <a:xfrm>
            <a:off x="8686800" y="1613916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61391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61025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87068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516600"/>
            <a:ext cx="5394960" cy="2157984"/>
          </a:xfrm>
          <a:prstGeom prst="rect">
            <a:avLst/>
          </a:prstGeom>
        </p:spPr>
      </p:pic>
      <p:sp>
        <p:nvSpPr>
          <p:cNvPr id="57" name="Shape 50"/>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8" name="Shape 51"/>
          <p:cNvSpPr/>
          <p:nvPr/>
        </p:nvSpPr>
        <p:spPr>
          <a:xfrm>
            <a:off x="16847820" y="5806440"/>
            <a:ext cx="525780" cy="525780"/>
          </a:xfrm>
          <a:prstGeom prst="ellipse">
            <a:avLst/>
          </a:prstGeom>
          <a:solidFill>
            <a:srgbClr val="1C7293"/>
          </a:solidFill>
          <a:ln w="12700">
            <a:solidFill>
              <a:srgbClr val="1C7293"/>
            </a:solidFill>
            <a:prstDash val="solid"/>
          </a:ln>
        </p:spPr>
      </p:sp>
      <p:sp>
        <p:nvSpPr>
          <p:cNvPr id="59" name="Text 52"/>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0" name="Text 53"/>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1" name="Text 54"/>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2"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3" name="Text 55"/>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4" name="Shape 56"/>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5" name="Shape 57"/>
          <p:cNvSpPr/>
          <p:nvPr/>
        </p:nvSpPr>
        <p:spPr>
          <a:xfrm>
            <a:off x="16847820" y="13761720"/>
            <a:ext cx="525780" cy="525780"/>
          </a:xfrm>
          <a:prstGeom prst="ellipse">
            <a:avLst/>
          </a:prstGeom>
          <a:solidFill>
            <a:srgbClr val="1C7293"/>
          </a:solidFill>
          <a:ln w="12700">
            <a:solidFill>
              <a:srgbClr val="1C7293"/>
            </a:solidFill>
            <a:prstDash val="solid"/>
          </a:ln>
        </p:spPr>
      </p:sp>
      <p:sp>
        <p:nvSpPr>
          <p:cNvPr id="66" name="Text 58"/>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7" name="Text 59"/>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8" name="Image 6" descr="tsne_orca_by_day_4days_px30_pres.png">    </p:cNvPr>
          <p:cNvPicPr>
            <a:picLocks noChangeAspect="1"/>
          </p:cNvPicPr>
          <p:nvPr/>
        </p:nvPicPr>
        <p:blipFill>
          <a:blip r:embed="rId7"/>
          <a:stretch>
            <a:fillRect/>
          </a:stretch>
        </p:blipFill>
        <p:spPr>
          <a:xfrm>
            <a:off x="17910810" y="14584680"/>
            <a:ext cx="5257800" cy="3483864"/>
          </a:xfrm>
          <a:prstGeom prst="rect">
            <a:avLst/>
          </a:prstGeom>
        </p:spPr>
      </p:pic>
      <p:sp>
        <p:nvSpPr>
          <p:cNvPr id="69" name="Text 60"/>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coloured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0" name="Text 61"/>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1" name="Shape 62"/>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2" name="Shape 63"/>
          <p:cNvSpPr/>
          <p:nvPr/>
        </p:nvSpPr>
        <p:spPr>
          <a:xfrm>
            <a:off x="25008840" y="5806440"/>
            <a:ext cx="525780" cy="525780"/>
          </a:xfrm>
          <a:prstGeom prst="ellipse">
            <a:avLst/>
          </a:prstGeom>
          <a:solidFill>
            <a:srgbClr val="1C7293"/>
          </a:solidFill>
          <a:ln w="12700">
            <a:solidFill>
              <a:srgbClr val="1C7293"/>
            </a:solidFill>
            <a:prstDash val="solid"/>
          </a:ln>
        </p:spPr>
      </p:sp>
      <p:sp>
        <p:nvSpPr>
          <p:cNvPr id="73" name="Text 64"/>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4" name="Text 65"/>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5"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6" name="Text 66"/>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7" name="Shape 67"/>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8" name="Shape 68"/>
          <p:cNvSpPr/>
          <p:nvPr/>
        </p:nvSpPr>
        <p:spPr>
          <a:xfrm>
            <a:off x="25008840" y="10927080"/>
            <a:ext cx="525780" cy="525780"/>
          </a:xfrm>
          <a:prstGeom prst="ellipse">
            <a:avLst/>
          </a:prstGeom>
          <a:solidFill>
            <a:srgbClr val="1C7293"/>
          </a:solidFill>
          <a:ln w="12700">
            <a:solidFill>
              <a:srgbClr val="1C7293"/>
            </a:solidFill>
            <a:prstDash val="solid"/>
          </a:ln>
        </p:spPr>
      </p:sp>
      <p:sp>
        <p:nvSpPr>
          <p:cNvPr id="79" name="Text 69"/>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0" name="Text 70"/>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1" name="Text 71"/>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2"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3" name="Text 72"/>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analysed.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4" name="Shape 73"/>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5" name="Shape 74"/>
          <p:cNvSpPr/>
          <p:nvPr/>
        </p:nvSpPr>
        <p:spPr>
          <a:xfrm>
            <a:off x="25008840" y="16047720"/>
            <a:ext cx="525780" cy="525780"/>
          </a:xfrm>
          <a:prstGeom prst="ellipse">
            <a:avLst/>
          </a:prstGeom>
          <a:solidFill>
            <a:srgbClr val="1C7293"/>
          </a:solidFill>
          <a:ln w="12700">
            <a:solidFill>
              <a:srgbClr val="1C7293"/>
            </a:solidFill>
            <a:prstDash val="solid"/>
          </a:ln>
        </p:spPr>
      </p:sp>
      <p:sp>
        <p:nvSpPr>
          <p:cNvPr id="86" name="Text 75"/>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7" name="Text 76"/>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8" name="Text 77"/>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89" name="Text 78"/>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0" name="Text 79"/>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1" name="Text 80"/>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2" name="Text 81"/>
          <p:cNvSpPr/>
          <p:nvPr/>
        </p:nvSpPr>
        <p:spPr>
          <a:xfrm>
            <a:off x="25031700" y="19499580"/>
            <a:ext cx="7338060" cy="1188720"/>
          </a:xfrm>
          <a:prstGeom prst="rect">
            <a:avLst/>
          </a:prstGeom>
          <a:noFill/>
          <a:ln/>
        </p:spPr>
        <p:txBody>
          <a:bodyPr wrap="square" lIns="0" tIns="0" rIns="0" bIns="0" rtlCol="0" anchor="t"/>
          <a:lstStyle/>
          <a:p>
            <a:pPr indent="0" marL="0">
              <a:lnSpc>
                <a:spcPts val="950"/>
              </a:lnSpc>
              <a:buNone/>
            </a:pPr>
            <a:r>
              <a:rPr lang="en-US" sz="800" dirty="0">
                <a:solidFill>
                  <a:srgbClr val="4A5C6A"/>
                </a:solidFill>
                <a:latin typeface="Arial" pitchFamily="34" charset="0"/>
                <a:ea typeface="Arial" pitchFamily="34" charset="-122"/>
                <a:cs typeface="Arial" pitchFamily="34" charset="-120"/>
              </a:rPr>
              <a:t>van Merriënboer et al. (2025) Perch 2.0: the bittern lesson for bioacoustics, arXiv:2508.04665  ·  Burns et al. (2025) Perch 2.0 transfers ‘whale’ to underwater tasks, arXiv:2512.03219  ·  Google Research, perch-hoplite (GitHub)  ·  Harvey, Allen &amp; Harrell (2024) multispecies-whale, Kaggle  ·  Bonhoeffer et al. (2026) orcAI: a machine learning tool to detect and classify acoustic signals of killer whales, Mar. Mamm. Sci. 42(1) e70083, doi:10.1111/mms.70083  ·  Ryan et al. (2016) New passive acoustic monitoring in Monterey Bay National Marine Sanctuary, OCEANS 2016 MTS/IEEE Monterey, pp. 1–8, doi:10.1109/OCEANS.2016.7761363  ·  McInnes et al. (2023) Identification catalog and field guide for transient (Bigg’s) killer whales of Monterey Bay and California waters, NOAA SWFSC, doi:10.25923/0q3f-1812</a:t>
            </a:r>
            <a:endParaRPr lang="en-US" sz="800" dirty="0"/>
          </a:p>
        </p:txBody>
      </p:sp>
      <p:sp>
        <p:nvSpPr>
          <p:cNvPr id="93" name="Shape 82"/>
          <p:cNvSpPr/>
          <p:nvPr/>
        </p:nvSpPr>
        <p:spPr>
          <a:xfrm>
            <a:off x="30815280" y="20894040"/>
            <a:ext cx="914400" cy="914400"/>
          </a:xfrm>
          <a:prstGeom prst="rect">
            <a:avLst/>
          </a:prstGeom>
          <a:solidFill>
            <a:srgbClr val="FFFFFF"/>
          </a:solidFill>
          <a:ln w="25400">
            <a:solidFill>
              <a:srgbClr val="1C7293"/>
            </a:solidFill>
            <a:prstDash val="dash"/>
          </a:ln>
        </p:spPr>
      </p:sp>
      <p:sp>
        <p:nvSpPr>
          <p:cNvPr id="94" name="Text 83"/>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5" name="Text 84"/>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6" name="Text 85"/>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2026-08-22T15:08:23Z</dcterms:created>
  <dcterms:modified xsi:type="dcterms:W3CDTF">2026-08-22T15:08:23Z</dcterms:modified>
</cp:coreProperties>
</file>