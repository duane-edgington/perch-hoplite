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6254496"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14 days</a:t>
            </a:r>
            <a:endParaRPr lang="en-US" sz="2600" dirty="0"/>
          </a:p>
        </p:txBody>
      </p:sp>
      <p:sp>
        <p:nvSpPr>
          <p:cNvPr id="10" name="Text 8"/>
          <p:cNvSpPr/>
          <p:nvPr/>
        </p:nvSpPr>
        <p:spPr>
          <a:xfrm>
            <a:off x="502920"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of confirmed orca in April–May 2018:</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ten from v4, four more when the loop was re-run</a:t>
            </a:r>
            <a:endParaRPr lang="en-US" sz="1000" dirty="0"/>
          </a:p>
        </p:txBody>
      </p:sp>
      <p:sp>
        <p:nvSpPr>
          <p:cNvPr id="11" name="Shape 9"/>
          <p:cNvSpPr/>
          <p:nvPr/>
        </p:nvSpPr>
        <p:spPr>
          <a:xfrm>
            <a:off x="6803136" y="3108960"/>
            <a:ext cx="6254496"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7031736"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95% fewer</a:t>
            </a:r>
            <a:endParaRPr lang="en-US" sz="2600" dirty="0"/>
          </a:p>
        </p:txBody>
      </p:sp>
      <p:sp>
        <p:nvSpPr>
          <p:cNvPr id="13" name="Text 11"/>
          <p:cNvSpPr/>
          <p:nvPr/>
        </p:nvSpPr>
        <p:spPr>
          <a:xfrm>
            <a:off x="7031736"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false alarms in a held-out month,</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from 17 corrective labels (6,489 → 304)</a:t>
            </a:r>
            <a:endParaRPr lang="en-US" sz="1000" dirty="0"/>
          </a:p>
        </p:txBody>
      </p:sp>
      <p:sp>
        <p:nvSpPr>
          <p:cNvPr id="14" name="Shape 12"/>
          <p:cNvSpPr/>
          <p:nvPr/>
        </p:nvSpPr>
        <p:spPr>
          <a:xfrm>
            <a:off x="13331952" y="3108960"/>
            <a:ext cx="6254496"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3560552"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1,336 labels</a:t>
            </a:r>
            <a:endParaRPr lang="en-US" sz="2600" dirty="0"/>
          </a:p>
        </p:txBody>
      </p:sp>
      <p:sp>
        <p:nvSpPr>
          <p:cNvPr id="16" name="Text 14"/>
          <p:cNvSpPr/>
          <p:nvPr/>
        </p:nvSpPr>
        <p:spPr>
          <a:xfrm>
            <a:off x="13560552"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every one of them in ~8–10 h</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of researchers' time</a:t>
            </a:r>
            <a:endParaRPr lang="en-US" sz="1000" dirty="0"/>
          </a:p>
        </p:txBody>
      </p:sp>
      <p:sp>
        <p:nvSpPr>
          <p:cNvPr id="17" name="Shape 15"/>
          <p:cNvSpPr/>
          <p:nvPr/>
        </p:nvSpPr>
        <p:spPr>
          <a:xfrm>
            <a:off x="19860768" y="3108960"/>
            <a:ext cx="6254496"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0089368"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0.95</a:t>
            </a:r>
            <a:endParaRPr lang="en-US" sz="2600" dirty="0"/>
          </a:p>
        </p:txBody>
      </p:sp>
      <p:sp>
        <p:nvSpPr>
          <p:cNvPr id="19" name="Text 17"/>
          <p:cNvSpPr/>
          <p:nvPr/>
        </p:nvSpPr>
        <p:spPr>
          <a:xfrm>
            <a:off x="20089368"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orca detection score (F1: 0 = useless,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1 = perfect) at our chosen cutoff</a:t>
            </a:r>
            <a:endParaRPr lang="en-US" sz="1000" dirty="0"/>
          </a:p>
        </p:txBody>
      </p:sp>
      <p:sp>
        <p:nvSpPr>
          <p:cNvPr id="20" name="Shape 18"/>
          <p:cNvSpPr/>
          <p:nvPr/>
        </p:nvSpPr>
        <p:spPr>
          <a:xfrm>
            <a:off x="26389584" y="3108960"/>
            <a:ext cx="6254496" cy="2103120"/>
          </a:xfrm>
          <a:prstGeom prst="roundRect">
            <a:avLst>
              <a:gd name="adj" fmla="val 3261"/>
            </a:avLst>
          </a:prstGeom>
          <a:solidFill>
            <a:srgbClr val="13315C"/>
          </a:solidFill>
          <a:ln w="12700">
            <a:solidFill>
              <a:srgbClr val="13315C"/>
            </a:solidFill>
            <a:prstDash val="solid"/>
          </a:ln>
        </p:spPr>
      </p:sp>
      <p:sp>
        <p:nvSpPr>
          <p:cNvPr id="21" name="Text 19"/>
          <p:cNvSpPr/>
          <p:nvPr/>
        </p:nvSpPr>
        <p:spPr>
          <a:xfrm>
            <a:off x="26618184"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+19 points</a:t>
            </a:r>
            <a:endParaRPr lang="en-US" sz="2600" dirty="0"/>
          </a:p>
        </p:txBody>
      </p:sp>
      <p:sp>
        <p:nvSpPr>
          <p:cNvPr id="22" name="Text 20"/>
          <p:cNvSpPr/>
          <p:nvPr/>
        </p:nvSpPr>
        <p:spPr>
          <a:xfrm>
            <a:off x="26618184"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more of a held-out month’s orca found</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when the loop was run again</a:t>
            </a:r>
            <a:endParaRPr lang="en-US" sz="1000" dirty="0"/>
          </a:p>
        </p:txBody>
      </p:sp>
      <p:sp>
        <p:nvSpPr>
          <p:cNvPr id="23" name="Shape 21"/>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4" name="Shape 22"/>
          <p:cNvSpPr/>
          <p:nvPr/>
        </p:nvSpPr>
        <p:spPr>
          <a:xfrm>
            <a:off x="502920" y="5806440"/>
            <a:ext cx="480060" cy="480060"/>
          </a:xfrm>
          <a:prstGeom prst="ellipse">
            <a:avLst/>
          </a:prstGeom>
          <a:solidFill>
            <a:srgbClr val="1C7293"/>
          </a:solidFill>
          <a:ln w="12700">
            <a:solidFill>
              <a:srgbClr val="1C7293"/>
            </a:solidFill>
            <a:prstDash val="solid"/>
          </a:ln>
        </p:spPr>
      </p:sp>
      <p:sp>
        <p:nvSpPr>
          <p:cNvPr id="25" name="Text 23"/>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6" name="Text 24"/>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27" name="Text 25"/>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28" name="Shape 26"/>
          <p:cNvSpPr/>
          <p:nvPr/>
        </p:nvSpPr>
        <p:spPr>
          <a:xfrm>
            <a:off x="274320" y="8869680"/>
            <a:ext cx="6254496" cy="5760720"/>
          </a:xfrm>
          <a:prstGeom prst="roundRect">
            <a:avLst>
              <a:gd name="adj" fmla="val 1429"/>
            </a:avLst>
          </a:prstGeom>
          <a:solidFill>
            <a:srgbClr val="EEF3F7"/>
          </a:solidFill>
          <a:ln w="12700">
            <a:solidFill>
              <a:srgbClr val="D8E2EA"/>
            </a:solidFill>
            <a:prstDash val="solid"/>
          </a:ln>
        </p:spPr>
      </p:sp>
      <p:sp>
        <p:nvSpPr>
          <p:cNvPr id="29" name="Shape 27"/>
          <p:cNvSpPr/>
          <p:nvPr/>
        </p:nvSpPr>
        <p:spPr>
          <a:xfrm>
            <a:off x="502920" y="9098280"/>
            <a:ext cx="480060" cy="480060"/>
          </a:xfrm>
          <a:prstGeom prst="ellipse">
            <a:avLst/>
          </a:prstGeom>
          <a:solidFill>
            <a:srgbClr val="1C7293"/>
          </a:solidFill>
          <a:ln w="12700">
            <a:solidFill>
              <a:srgbClr val="1C7293"/>
            </a:solidFill>
            <a:prstDash val="solid"/>
          </a:ln>
        </p:spPr>
      </p:sp>
      <p:sp>
        <p:nvSpPr>
          <p:cNvPr id="30" name="Text 28"/>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1" name="Text 29"/>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2" name="Text 30"/>
          <p:cNvSpPr/>
          <p:nvPr/>
        </p:nvSpPr>
        <p:spPr>
          <a:xfrm>
            <a:off x="548640" y="9829800"/>
            <a:ext cx="5705856"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00" dirty="0"/>
          </a:p>
        </p:txBody>
      </p:sp>
      <p:pic>
        <p:nvPicPr>
          <p:cNvPr id="33" name="Image 0" descr="oceans2026_fig1_mars_observatory.jpg">    </p:cNvPr>
          <p:cNvPicPr>
            <a:picLocks noChangeAspect="1"/>
          </p:cNvPicPr>
          <p:nvPr/>
        </p:nvPicPr>
        <p:blipFill>
          <a:blip r:embed="rId1"/>
          <a:stretch>
            <a:fillRect/>
          </a:stretch>
        </p:blipFill>
        <p:spPr>
          <a:xfrm>
            <a:off x="1344168" y="11247120"/>
            <a:ext cx="4114800" cy="2706624"/>
          </a:xfrm>
          <a:prstGeom prst="rect">
            <a:avLst/>
          </a:prstGeom>
        </p:spPr>
      </p:pic>
      <p:sp>
        <p:nvSpPr>
          <p:cNvPr id="34" name="Text 31"/>
          <p:cNvSpPr/>
          <p:nvPr/>
        </p:nvSpPr>
        <p:spPr>
          <a:xfrm>
            <a:off x="548640" y="1401318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5" name="Shape 32"/>
          <p:cNvSpPr/>
          <p:nvPr/>
        </p:nvSpPr>
        <p:spPr>
          <a:xfrm>
            <a:off x="274320" y="14904720"/>
            <a:ext cx="6254496" cy="4754880"/>
          </a:xfrm>
          <a:prstGeom prst="roundRect">
            <a:avLst>
              <a:gd name="adj" fmla="val 1731"/>
            </a:avLst>
          </a:prstGeom>
          <a:solidFill>
            <a:srgbClr val="EEF3F7"/>
          </a:solidFill>
          <a:ln w="12700">
            <a:solidFill>
              <a:srgbClr val="D8E2EA"/>
            </a:solidFill>
            <a:prstDash val="solid"/>
          </a:ln>
        </p:spPr>
      </p:sp>
      <p:sp>
        <p:nvSpPr>
          <p:cNvPr id="36" name="Shape 33"/>
          <p:cNvSpPr/>
          <p:nvPr/>
        </p:nvSpPr>
        <p:spPr>
          <a:xfrm>
            <a:off x="502920" y="15133320"/>
            <a:ext cx="480060" cy="480060"/>
          </a:xfrm>
          <a:prstGeom prst="ellipse">
            <a:avLst/>
          </a:prstGeom>
          <a:solidFill>
            <a:srgbClr val="1C7293"/>
          </a:solidFill>
          <a:ln w="12700">
            <a:solidFill>
              <a:srgbClr val="1C7293"/>
            </a:solidFill>
            <a:prstDash val="solid"/>
          </a:ln>
        </p:spPr>
      </p:sp>
      <p:sp>
        <p:nvSpPr>
          <p:cNvPr id="37" name="Text 34"/>
          <p:cNvSpPr/>
          <p:nvPr/>
        </p:nvSpPr>
        <p:spPr>
          <a:xfrm>
            <a:off x="502920" y="151333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8" name="Text 35"/>
          <p:cNvSpPr/>
          <p:nvPr/>
        </p:nvSpPr>
        <p:spPr>
          <a:xfrm>
            <a:off x="1074420" y="150647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39" name="Text 36"/>
          <p:cNvSpPr/>
          <p:nvPr/>
        </p:nvSpPr>
        <p:spPr>
          <a:xfrm>
            <a:off x="548640" y="1586484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0" name="Image 1" descr="poster_fig3_class_spectrograms.png">    </p:cNvPr>
          <p:cNvPicPr>
            <a:picLocks noChangeAspect="1"/>
          </p:cNvPicPr>
          <p:nvPr/>
        </p:nvPicPr>
        <p:blipFill>
          <a:blip r:embed="rId2"/>
          <a:stretch>
            <a:fillRect/>
          </a:stretch>
        </p:blipFill>
        <p:spPr>
          <a:xfrm>
            <a:off x="548640" y="17327880"/>
            <a:ext cx="5705856" cy="1458468"/>
          </a:xfrm>
          <a:prstGeom prst="rect">
            <a:avLst/>
          </a:prstGeom>
        </p:spPr>
      </p:pic>
      <p:sp>
        <p:nvSpPr>
          <p:cNvPr id="41" name="Text 37"/>
          <p:cNvSpPr/>
          <p:nvPr/>
        </p:nvSpPr>
        <p:spPr>
          <a:xfrm>
            <a:off x="548640" y="1883664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2" name="Shape 38"/>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3" name="Shape 39"/>
          <p:cNvSpPr/>
          <p:nvPr/>
        </p:nvSpPr>
        <p:spPr>
          <a:xfrm>
            <a:off x="7031736" y="5806440"/>
            <a:ext cx="480060" cy="480060"/>
          </a:xfrm>
          <a:prstGeom prst="ellipse">
            <a:avLst/>
          </a:prstGeom>
          <a:solidFill>
            <a:srgbClr val="1C7293"/>
          </a:solidFill>
          <a:ln w="12700">
            <a:solidFill>
              <a:srgbClr val="1C7293"/>
            </a:solidFill>
            <a:prstDash val="solid"/>
          </a:ln>
        </p:spPr>
      </p:sp>
      <p:sp>
        <p:nvSpPr>
          <p:cNvPr id="44" name="Text 40"/>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5" name="Text 41"/>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6" name="Text 42"/>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47" name="Image 2" descr="oceans2026_fig2_agile_modeling_loop.png">    </p:cNvPr>
          <p:cNvPicPr>
            <a:picLocks noChangeAspect="1"/>
          </p:cNvPicPr>
          <p:nvPr/>
        </p:nvPicPr>
        <p:blipFill>
          <a:blip r:embed="rId3"/>
          <a:stretch>
            <a:fillRect/>
          </a:stretch>
        </p:blipFill>
        <p:spPr>
          <a:xfrm>
            <a:off x="7077456" y="9372600"/>
            <a:ext cx="5705856" cy="2098548"/>
          </a:xfrm>
          <a:prstGeom prst="rect">
            <a:avLst/>
          </a:prstGeom>
        </p:spPr>
      </p:pic>
      <p:pic>
        <p:nvPicPr>
          <p:cNvPr id="48" name="Image 3" descr="gradio_review_panel_crop.png">    </p:cNvPr>
          <p:cNvPicPr>
            <a:picLocks noChangeAspect="1"/>
          </p:cNvPicPr>
          <p:nvPr/>
        </p:nvPicPr>
        <p:blipFill>
          <a:blip r:embed="rId4"/>
          <a:stretch>
            <a:fillRect/>
          </a:stretch>
        </p:blipFill>
        <p:spPr>
          <a:xfrm>
            <a:off x="7077456" y="11612880"/>
            <a:ext cx="5705856" cy="2327148"/>
          </a:xfrm>
          <a:prstGeom prst="rect">
            <a:avLst/>
          </a:prstGeom>
        </p:spPr>
      </p:pic>
      <p:sp>
        <p:nvSpPr>
          <p:cNvPr id="49" name="Text 43"/>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0" name="Shape 44"/>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1" name="Shape 45"/>
          <p:cNvSpPr/>
          <p:nvPr/>
        </p:nvSpPr>
        <p:spPr>
          <a:xfrm>
            <a:off x="7031736" y="15224760"/>
            <a:ext cx="480060" cy="480060"/>
          </a:xfrm>
          <a:prstGeom prst="ellipse">
            <a:avLst/>
          </a:prstGeom>
          <a:solidFill>
            <a:srgbClr val="1C7293"/>
          </a:solidFill>
          <a:ln w="12700">
            <a:solidFill>
              <a:srgbClr val="1C7293"/>
            </a:solidFill>
            <a:prstDash val="solid"/>
          </a:ln>
        </p:spPr>
      </p:sp>
      <p:sp>
        <p:nvSpPr>
          <p:cNvPr id="52" name="Text 46"/>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3" name="Text 47"/>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4" name="Image 4" descr="tsne_apr2018_oct2020_apr2026_norm_dpi300.png">    </p:cNvPr>
          <p:cNvPicPr>
            <a:picLocks noChangeAspect="1"/>
          </p:cNvPicPr>
          <p:nvPr/>
        </p:nvPicPr>
        <p:blipFill>
          <a:blip r:embed="rId5"/>
          <a:stretch>
            <a:fillRect/>
          </a:stretch>
        </p:blipFill>
        <p:spPr>
          <a:xfrm>
            <a:off x="7735824" y="16002000"/>
            <a:ext cx="4389120" cy="3657600"/>
          </a:xfrm>
          <a:prstGeom prst="rect">
            <a:avLst/>
          </a:prstGeom>
        </p:spPr>
      </p:pic>
      <p:sp>
        <p:nvSpPr>
          <p:cNvPr id="55" name="Text 48"/>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6" name="Shape 49"/>
          <p:cNvSpPr/>
          <p:nvPr/>
        </p:nvSpPr>
        <p:spPr>
          <a:xfrm>
            <a:off x="13331952" y="5577840"/>
            <a:ext cx="6254496" cy="5852160"/>
          </a:xfrm>
          <a:prstGeom prst="roundRect">
            <a:avLst>
              <a:gd name="adj" fmla="val 1406"/>
            </a:avLst>
          </a:prstGeom>
          <a:solidFill>
            <a:srgbClr val="EEF3F7"/>
          </a:solidFill>
          <a:ln w="12700">
            <a:solidFill>
              <a:srgbClr val="D8E2EA"/>
            </a:solidFill>
            <a:prstDash val="solid"/>
          </a:ln>
        </p:spPr>
      </p:sp>
      <p:sp>
        <p:nvSpPr>
          <p:cNvPr id="57" name="Shape 50"/>
          <p:cNvSpPr/>
          <p:nvPr/>
        </p:nvSpPr>
        <p:spPr>
          <a:xfrm>
            <a:off x="13560552" y="5806440"/>
            <a:ext cx="480060" cy="480060"/>
          </a:xfrm>
          <a:prstGeom prst="ellipse">
            <a:avLst/>
          </a:prstGeom>
          <a:solidFill>
            <a:srgbClr val="1C7293"/>
          </a:solidFill>
          <a:ln w="12700">
            <a:solidFill>
              <a:srgbClr val="1C7293"/>
            </a:solidFill>
            <a:prstDash val="solid"/>
          </a:ln>
        </p:spPr>
      </p:sp>
      <p:sp>
        <p:nvSpPr>
          <p:cNvPr id="58" name="Text 51"/>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59" name="Text 52"/>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0" name="Text 53"/>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1" name="Image 5" descr="oceans2026_fig3_classifier_trajectory.png">    </p:cNvPr>
          <p:cNvPicPr>
            <a:picLocks noChangeAspect="1"/>
          </p:cNvPicPr>
          <p:nvPr/>
        </p:nvPicPr>
        <p:blipFill>
          <a:blip r:embed="rId6"/>
          <a:stretch>
            <a:fillRect/>
          </a:stretch>
        </p:blipFill>
        <p:spPr>
          <a:xfrm>
            <a:off x="13606272" y="8366760"/>
            <a:ext cx="5705856" cy="2281428"/>
          </a:xfrm>
          <a:prstGeom prst="rect">
            <a:avLst/>
          </a:prstGeom>
        </p:spPr>
      </p:pic>
      <p:sp>
        <p:nvSpPr>
          <p:cNvPr id="62" name="Text 54"/>
          <p:cNvSpPr/>
          <p:nvPr/>
        </p:nvSpPr>
        <p:spPr>
          <a:xfrm>
            <a:off x="13606272" y="10698480"/>
            <a:ext cx="5705856" cy="6858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3" name="Shape 55"/>
          <p:cNvSpPr/>
          <p:nvPr/>
        </p:nvSpPr>
        <p:spPr>
          <a:xfrm>
            <a:off x="13331952" y="11704320"/>
            <a:ext cx="6254496" cy="8321040"/>
          </a:xfrm>
          <a:prstGeom prst="roundRect">
            <a:avLst>
              <a:gd name="adj" fmla="val 1316"/>
            </a:avLst>
          </a:prstGeom>
          <a:solidFill>
            <a:srgbClr val="EEF3F7"/>
          </a:solidFill>
          <a:ln w="12700">
            <a:solidFill>
              <a:srgbClr val="D8E2EA"/>
            </a:solidFill>
            <a:prstDash val="solid"/>
          </a:ln>
        </p:spPr>
      </p:sp>
      <p:sp>
        <p:nvSpPr>
          <p:cNvPr id="64" name="Shape 56"/>
          <p:cNvSpPr/>
          <p:nvPr/>
        </p:nvSpPr>
        <p:spPr>
          <a:xfrm>
            <a:off x="13560552" y="11932920"/>
            <a:ext cx="480060" cy="480060"/>
          </a:xfrm>
          <a:prstGeom prst="ellipse">
            <a:avLst/>
          </a:prstGeom>
          <a:solidFill>
            <a:srgbClr val="1C7293"/>
          </a:solidFill>
          <a:ln w="12700">
            <a:solidFill>
              <a:srgbClr val="1C7293"/>
            </a:solidFill>
            <a:prstDash val="solid"/>
          </a:ln>
        </p:spPr>
      </p:sp>
      <p:sp>
        <p:nvSpPr>
          <p:cNvPr id="65" name="Text 57"/>
          <p:cNvSpPr/>
          <p:nvPr/>
        </p:nvSpPr>
        <p:spPr>
          <a:xfrm>
            <a:off x="13560552" y="119329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66" name="Text 58"/>
          <p:cNvSpPr/>
          <p:nvPr/>
        </p:nvSpPr>
        <p:spPr>
          <a:xfrm>
            <a:off x="14132052" y="118643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67" name="Text 59"/>
          <p:cNvSpPr/>
          <p:nvPr/>
        </p:nvSpPr>
        <p:spPr>
          <a:xfrm>
            <a:off x="13606272" y="1266444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68" name="Image 6" descr="oceans2026_fig4_calendar_apr_may_2018.png">    </p:cNvPr>
          <p:cNvPicPr>
            <a:picLocks noChangeAspect="1"/>
          </p:cNvPicPr>
          <p:nvPr/>
        </p:nvPicPr>
        <p:blipFill>
          <a:blip r:embed="rId7"/>
          <a:stretch>
            <a:fillRect/>
          </a:stretch>
        </p:blipFill>
        <p:spPr>
          <a:xfrm>
            <a:off x="13606272" y="16687800"/>
            <a:ext cx="5705856" cy="2345436"/>
          </a:xfrm>
          <a:prstGeom prst="rect">
            <a:avLst/>
          </a:prstGeom>
        </p:spPr>
      </p:pic>
      <p:sp>
        <p:nvSpPr>
          <p:cNvPr id="69" name="Text 60"/>
          <p:cNvSpPr/>
          <p:nvPr/>
        </p:nvSpPr>
        <p:spPr>
          <a:xfrm>
            <a:off x="13606272" y="1908810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0" name="Shape 61"/>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1" name="Shape 62"/>
          <p:cNvSpPr/>
          <p:nvPr/>
        </p:nvSpPr>
        <p:spPr>
          <a:xfrm>
            <a:off x="20089368" y="5806440"/>
            <a:ext cx="480060" cy="480060"/>
          </a:xfrm>
          <a:prstGeom prst="ellipse">
            <a:avLst/>
          </a:prstGeom>
          <a:solidFill>
            <a:srgbClr val="1C7293"/>
          </a:solidFill>
          <a:ln w="12700">
            <a:solidFill>
              <a:srgbClr val="1C7293"/>
            </a:solidFill>
            <a:prstDash val="solid"/>
          </a:ln>
        </p:spPr>
      </p:sp>
      <p:sp>
        <p:nvSpPr>
          <p:cNvPr id="72" name="Text 63"/>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3" name="Text 64"/>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4" name="Image 7" descr="tsne_orca_by_day_4days_px30_pres_dpi300.png">    </p:cNvPr>
          <p:cNvPicPr>
            <a:picLocks noChangeAspect="1"/>
          </p:cNvPicPr>
          <p:nvPr/>
        </p:nvPicPr>
        <p:blipFill>
          <a:blip r:embed="rId8"/>
          <a:stretch>
            <a:fillRect/>
          </a:stretch>
        </p:blipFill>
        <p:spPr>
          <a:xfrm>
            <a:off x="20135088" y="6583680"/>
            <a:ext cx="5705856" cy="3781044"/>
          </a:xfrm>
          <a:prstGeom prst="rect">
            <a:avLst/>
          </a:prstGeom>
        </p:spPr>
      </p:pic>
      <p:sp>
        <p:nvSpPr>
          <p:cNvPr id="75" name="Text 65"/>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76" name="Text 66"/>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77" name="Shape 67"/>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78" name="Shape 68"/>
          <p:cNvSpPr/>
          <p:nvPr/>
        </p:nvSpPr>
        <p:spPr>
          <a:xfrm>
            <a:off x="20089368" y="13213080"/>
            <a:ext cx="480060" cy="480060"/>
          </a:xfrm>
          <a:prstGeom prst="ellipse">
            <a:avLst/>
          </a:prstGeom>
          <a:solidFill>
            <a:srgbClr val="1C7293"/>
          </a:solidFill>
          <a:ln w="12700">
            <a:solidFill>
              <a:srgbClr val="1C7293"/>
            </a:solidFill>
            <a:prstDash val="solid"/>
          </a:ln>
        </p:spPr>
      </p:sp>
      <p:sp>
        <p:nvSpPr>
          <p:cNvPr id="79" name="Text 69"/>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0" name="Text 70"/>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1" name="Image 8" descr="oceans2026_fig8_threshold_sweep_v4.png">    </p:cNvPr>
          <p:cNvPicPr>
            <a:picLocks noChangeAspect="1"/>
          </p:cNvPicPr>
          <p:nvPr/>
        </p:nvPicPr>
        <p:blipFill>
          <a:blip r:embed="rId9"/>
          <a:stretch>
            <a:fillRect/>
          </a:stretch>
        </p:blipFill>
        <p:spPr>
          <a:xfrm>
            <a:off x="20135088" y="14036040"/>
            <a:ext cx="5705856" cy="1636776"/>
          </a:xfrm>
          <a:prstGeom prst="rect">
            <a:avLst/>
          </a:prstGeom>
        </p:spPr>
      </p:pic>
      <p:sp>
        <p:nvSpPr>
          <p:cNvPr id="82" name="Text 71"/>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3" name="Shape 72"/>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4" name="Shape 73"/>
          <p:cNvSpPr/>
          <p:nvPr/>
        </p:nvSpPr>
        <p:spPr>
          <a:xfrm>
            <a:off x="26618184" y="5806440"/>
            <a:ext cx="480060" cy="480060"/>
          </a:xfrm>
          <a:prstGeom prst="ellipse">
            <a:avLst/>
          </a:prstGeom>
          <a:solidFill>
            <a:srgbClr val="1C7293"/>
          </a:solidFill>
          <a:ln w="12700">
            <a:solidFill>
              <a:srgbClr val="1C7293"/>
            </a:solidFill>
            <a:prstDash val="solid"/>
          </a:ln>
        </p:spPr>
      </p:sp>
      <p:sp>
        <p:nvSpPr>
          <p:cNvPr id="85" name="Text 74"/>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86" name="Text 75"/>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87" name="Text 76"/>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88" name="Image 9" descr="oceans2026_fig10_v10_holdout.png">    </p:cNvPr>
          <p:cNvPicPr>
            <a:picLocks noChangeAspect="1"/>
          </p:cNvPicPr>
          <p:nvPr/>
        </p:nvPicPr>
        <p:blipFill>
          <a:blip r:embed="rId10"/>
          <a:stretch>
            <a:fillRect/>
          </a:stretch>
        </p:blipFill>
        <p:spPr>
          <a:xfrm>
            <a:off x="26663904" y="7086600"/>
            <a:ext cx="5705856" cy="1463040"/>
          </a:xfrm>
          <a:prstGeom prst="rect">
            <a:avLst/>
          </a:prstGeom>
        </p:spPr>
      </p:pic>
      <p:sp>
        <p:nvSpPr>
          <p:cNvPr id="89" name="Text 77"/>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0" name="Shape 78"/>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1" name="Shape 79"/>
          <p:cNvSpPr/>
          <p:nvPr/>
        </p:nvSpPr>
        <p:spPr>
          <a:xfrm>
            <a:off x="26618184" y="12207240"/>
            <a:ext cx="480060" cy="480060"/>
          </a:xfrm>
          <a:prstGeom prst="ellipse">
            <a:avLst/>
          </a:prstGeom>
          <a:solidFill>
            <a:srgbClr val="1C7293"/>
          </a:solidFill>
          <a:ln w="12700">
            <a:solidFill>
              <a:srgbClr val="1C7293"/>
            </a:solidFill>
            <a:prstDash val="solid"/>
          </a:ln>
        </p:spPr>
      </p:sp>
      <p:sp>
        <p:nvSpPr>
          <p:cNvPr id="92" name="Text 80"/>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3" name="Text 81"/>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4" name="Text 82"/>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5" name="Image 10" descr="oceans2026_fig9_per_class_f1_v4.png">    </p:cNvPr>
          <p:cNvPicPr>
            <a:picLocks noChangeAspect="1"/>
          </p:cNvPicPr>
          <p:nvPr/>
        </p:nvPicPr>
        <p:blipFill>
          <a:blip r:embed="rId11"/>
          <a:stretch>
            <a:fillRect/>
          </a:stretch>
        </p:blipFill>
        <p:spPr>
          <a:xfrm>
            <a:off x="26663904" y="13350240"/>
            <a:ext cx="5705856" cy="1495044"/>
          </a:xfrm>
          <a:prstGeom prst="rect">
            <a:avLst/>
          </a:prstGeom>
        </p:spPr>
      </p:pic>
      <p:sp>
        <p:nvSpPr>
          <p:cNvPr id="96" name="Text 83"/>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97" name="Shape 84"/>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98" name="Shape 85"/>
          <p:cNvSpPr/>
          <p:nvPr/>
        </p:nvSpPr>
        <p:spPr>
          <a:xfrm>
            <a:off x="26618184" y="16870680"/>
            <a:ext cx="480060" cy="480060"/>
          </a:xfrm>
          <a:prstGeom prst="ellipse">
            <a:avLst/>
          </a:prstGeom>
          <a:solidFill>
            <a:srgbClr val="1C7293"/>
          </a:solidFill>
          <a:ln w="12700">
            <a:solidFill>
              <a:srgbClr val="1C7293"/>
            </a:solidFill>
            <a:prstDash val="solid"/>
          </a:ln>
        </p:spPr>
      </p:sp>
      <p:sp>
        <p:nvSpPr>
          <p:cNvPr id="99" name="Text 86"/>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0" name="Text 87"/>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1" name="Text 88"/>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2" name="Text 89"/>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3" name="Text 90"/>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4" name="Text 91"/>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5" name="Text 92"/>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sp>
        <p:nvSpPr>
          <p:cNvPr id="106" name="Shape 93"/>
          <p:cNvSpPr/>
          <p:nvPr/>
        </p:nvSpPr>
        <p:spPr>
          <a:xfrm>
            <a:off x="30815280" y="20894040"/>
            <a:ext cx="914400" cy="914400"/>
          </a:xfrm>
          <a:prstGeom prst="rect">
            <a:avLst/>
          </a:prstGeom>
          <a:solidFill>
            <a:srgbClr val="FFFFFF"/>
          </a:solidFill>
          <a:ln w="25400">
            <a:solidFill>
              <a:srgbClr val="1C7293"/>
            </a:solidFill>
            <a:prstDash val="dash"/>
          </a:ln>
        </p:spPr>
      </p:sp>
      <p:sp>
        <p:nvSpPr>
          <p:cNvPr id="107" name="Text 94"/>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08" name="Text 95"/>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09" name="Text 96"/>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2026-08-23T18:12:08Z</dcterms:created>
  <dcterms:modified xsi:type="dcterms:W3CDTF">2026-08-23T18:12:08Z</dcterms:modified>
</cp:coreProperties>
</file>