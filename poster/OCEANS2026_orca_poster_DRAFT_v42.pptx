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jp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slideLayout" Target="../slideLayouts/slideLayout1.xml"/><Relationship Id="rId1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0" y="274320"/>
            <a:ext cx="21762720" cy="2560320"/>
          </a:xfrm>
          <a:prstGeom prst="rect">
            <a:avLst/>
          </a:prstGeom>
          <a:solidFill>
            <a:srgbClr val="0B2545"/>
          </a:solidFill>
          <a:ln w="12700">
            <a:solidFill>
              <a:srgbClr val="0B2545"/>
            </a:solidFill>
            <a:prstDash val="solid"/>
          </a:ln>
        </p:spPr>
      </p:sp>
      <p:sp>
        <p:nvSpPr>
          <p:cNvPr id="3" name="Text 1"/>
          <p:cNvSpPr/>
          <p:nvPr/>
        </p:nvSpPr>
        <p:spPr>
          <a:xfrm>
            <a:off x="4480560" y="388620"/>
            <a:ext cx="21031200" cy="1417320"/>
          </a:xfrm>
          <a:prstGeom prst="rect">
            <a:avLst/>
          </a:prstGeom>
          <a:noFill/>
          <a:ln/>
        </p:spPr>
        <p:txBody>
          <a:bodyPr wrap="square" lIns="0" tIns="0" rIns="0" bIns="0" rtlCol="0" anchor="ctr"/>
          <a:lstStyle/>
          <a:p>
            <a:pPr indent="0" marL="0">
              <a:lnSpc>
                <a:spcPts val="3100"/>
              </a:lnSpc>
              <a:buNone/>
            </a:pPr>
            <a:r>
              <a:rPr lang="en-US" sz="27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2700" dirty="0"/>
          </a:p>
        </p:txBody>
      </p:sp>
      <p:sp>
        <p:nvSpPr>
          <p:cNvPr id="4" name="Text 2"/>
          <p:cNvSpPr/>
          <p:nvPr/>
        </p:nvSpPr>
        <p:spPr>
          <a:xfrm>
            <a:off x="4480560" y="1851660"/>
            <a:ext cx="21031200"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Duane R. Edgington</a:t>
            </a:r>
            <a:pPr indent="0" marL="0">
              <a:buNone/>
            </a:pPr>
            <a:r>
              <a:rPr lang="en-US" sz="1400" dirty="0">
                <a:solidFill>
                  <a:srgbClr val="FFFFFF"/>
                </a:solidFill>
                <a:latin typeface="Arial" pitchFamily="34" charset="0"/>
                <a:ea typeface="Arial" pitchFamily="34" charset="-122"/>
                <a:cs typeface="Arial" pitchFamily="34" charset="-120"/>
              </a:rPr>
              <a:t>  and  </a:t>
            </a:r>
            <a:pPr indent="0" marL="0">
              <a:buNone/>
            </a:pPr>
            <a:r>
              <a:rPr lang="en-US" sz="1400" b="1" dirty="0">
                <a:solidFill>
                  <a:srgbClr val="FFFFFF"/>
                </a:solidFill>
                <a:latin typeface="Arial" pitchFamily="34" charset="0"/>
                <a:ea typeface="Arial" pitchFamily="34" charset="-122"/>
                <a:cs typeface="Arial" pitchFamily="34" charset="-120"/>
              </a:rPr>
              <a:t>John Ryan</a:t>
            </a:r>
            <a:pPr indent="0" marL="0">
              <a:buNone/>
            </a:pPr>
            <a:r>
              <a:rPr lang="en-US" sz="14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400" dirty="0"/>
          </a:p>
        </p:txBody>
      </p:sp>
      <p:sp>
        <p:nvSpPr>
          <p:cNvPr id="5" name="Text 3"/>
          <p:cNvSpPr/>
          <p:nvPr/>
        </p:nvSpPr>
        <p:spPr>
          <a:xfrm>
            <a:off x="4480560" y="2286000"/>
            <a:ext cx="21031200" cy="365760"/>
          </a:xfrm>
          <a:prstGeom prst="rect">
            <a:avLst/>
          </a:prstGeom>
          <a:noFill/>
          <a:ln/>
        </p:spPr>
        <p:txBody>
          <a:bodyPr wrap="square" lIns="0" tIns="0" rIns="0" bIns="0" rtlCol="0" anchor="ctr"/>
          <a:lstStyle/>
          <a:p>
            <a:pPr indent="0" marL="0">
              <a:buNone/>
            </a:pPr>
            <a:r>
              <a:rPr lang="en-US" sz="1100" dirty="0">
                <a:solidFill>
                  <a:srgbClr val="34C6A8"/>
                </a:solidFill>
                <a:latin typeface="Arial" pitchFamily="34" charset="0"/>
                <a:ea typeface="Arial" pitchFamily="34" charset="-122"/>
                <a:cs typeface="Arial" pitchFamily="34" charset="-120"/>
              </a:rPr>
              <a:t>A foundation model is a large model pre-trained on masses of data, reusable for new tasks with very little new labeling.</a:t>
            </a:r>
            <a:endParaRPr lang="en-US" sz="1100" dirty="0"/>
          </a:p>
        </p:txBody>
      </p:sp>
      <p:pic>
        <p:nvPicPr>
          <p:cNvPr id="6" name="Image 0" descr="MBARI_logo_type.png">    </p:cNvPr>
          <p:cNvPicPr>
            <a:picLocks noChangeAspect="1"/>
          </p:cNvPicPr>
          <p:nvPr/>
        </p:nvPicPr>
        <p:blipFill>
          <a:blip r:embed="rId1"/>
          <a:stretch>
            <a:fillRect/>
          </a:stretch>
        </p:blipFill>
        <p:spPr>
          <a:xfrm>
            <a:off x="411480" y="914400"/>
            <a:ext cx="3383280" cy="1252728"/>
          </a:xfrm>
          <a:prstGeom prst="rect">
            <a:avLst/>
          </a:prstGeom>
        </p:spPr>
      </p:pic>
      <p:pic>
        <p:nvPicPr>
          <p:cNvPr id="7" name="Image 1" descr="general_poster.png">    </p:cNvPr>
          <p:cNvPicPr>
            <a:picLocks noChangeAspect="1"/>
          </p:cNvPicPr>
          <p:nvPr/>
        </p:nvPicPr>
        <p:blipFill>
          <a:blip r:embed="rId2"/>
          <a:stretch>
            <a:fillRect/>
          </a:stretch>
        </p:blipFill>
        <p:spPr>
          <a:xfrm>
            <a:off x="31414212" y="1028700"/>
            <a:ext cx="1229868" cy="960120"/>
          </a:xfrm>
          <a:prstGeom prst="rect">
            <a:avLst/>
          </a:prstGeom>
        </p:spPr>
      </p:pic>
      <p:pic>
        <p:nvPicPr>
          <p:cNvPr id="8" name="Image 2" descr="Logo_O26M_hi.png">    </p:cNvPr>
          <p:cNvPicPr>
            <a:picLocks noChangeAspect="1"/>
          </p:cNvPicPr>
          <p:nvPr/>
        </p:nvPicPr>
        <p:blipFill>
          <a:blip r:embed="rId3"/>
          <a:stretch>
            <a:fillRect/>
          </a:stretch>
        </p:blipFill>
        <p:spPr>
          <a:xfrm>
            <a:off x="29905452" y="937260"/>
            <a:ext cx="1143000" cy="1143000"/>
          </a:xfrm>
          <a:prstGeom prst="rect">
            <a:avLst/>
          </a:prstGeom>
        </p:spPr>
      </p:pic>
      <p:pic>
        <p:nvPicPr>
          <p:cNvPr id="9" name="Image 3" descr="Logo_OES_hi.png">    </p:cNvPr>
          <p:cNvPicPr>
            <a:picLocks noChangeAspect="1"/>
          </p:cNvPicPr>
          <p:nvPr/>
        </p:nvPicPr>
        <p:blipFill>
          <a:blip r:embed="rId4"/>
          <a:stretch>
            <a:fillRect/>
          </a:stretch>
        </p:blipFill>
        <p:spPr>
          <a:xfrm>
            <a:off x="27669744" y="1074420"/>
            <a:ext cx="1869948" cy="868680"/>
          </a:xfrm>
          <a:prstGeom prst="rect">
            <a:avLst/>
          </a:prstGeom>
        </p:spPr>
      </p:pic>
      <p:sp>
        <p:nvSpPr>
          <p:cNvPr id="10" name="Shape 4"/>
          <p:cNvSpPr/>
          <p:nvPr/>
        </p:nvSpPr>
        <p:spPr>
          <a:xfrm>
            <a:off x="274320" y="3108960"/>
            <a:ext cx="32369760" cy="1828800"/>
          </a:xfrm>
          <a:prstGeom prst="roundRect">
            <a:avLst>
              <a:gd name="adj" fmla="val 3000"/>
            </a:avLst>
          </a:prstGeom>
          <a:solidFill>
            <a:srgbClr val="13315C"/>
          </a:solidFill>
          <a:ln w="12700">
            <a:solidFill>
              <a:srgbClr val="13315C"/>
            </a:solidFill>
            <a:prstDash val="solid"/>
          </a:ln>
        </p:spPr>
      </p:sp>
      <p:sp>
        <p:nvSpPr>
          <p:cNvPr id="11" name="Text 5"/>
          <p:cNvSpPr/>
          <p:nvPr/>
        </p:nvSpPr>
        <p:spPr>
          <a:xfrm>
            <a:off x="457200" y="3429000"/>
            <a:ext cx="1828800" cy="1188720"/>
          </a:xfrm>
          <a:prstGeom prst="rect">
            <a:avLst/>
          </a:prstGeom>
          <a:noFill/>
          <a:ln/>
        </p:spPr>
        <p:txBody>
          <a:bodyPr wrap="square" lIns="0" tIns="0" rIns="0" bIns="0" rtlCol="0" anchor="ctr"/>
          <a:lstStyle/>
          <a:p>
            <a:pPr algn="l" indent="0" marL="0">
              <a:lnSpc>
                <a:spcPts val="1200"/>
              </a:lnSpc>
              <a:buNone/>
            </a:pPr>
            <a:r>
              <a:rPr lang="en-US" sz="950" b="1" dirty="0">
                <a:solidFill>
                  <a:srgbClr val="34C6A8"/>
                </a:solidFill>
                <a:latin typeface="Arial" pitchFamily="34" charset="0"/>
                <a:ea typeface="Arial" pitchFamily="34" charset="-122"/>
                <a:cs typeface="Arial" pitchFamily="34" charset="-120"/>
              </a:rPr>
              <a:t>AT A</a:t>
            </a:r>
            <a:endParaRPr lang="en-US" sz="950" dirty="0"/>
          </a:p>
          <a:p>
            <a:pPr algn="l" indent="0" marL="0">
              <a:lnSpc>
                <a:spcPts val="1200"/>
              </a:lnSpc>
              <a:buNone/>
            </a:pPr>
            <a:r>
              <a:rPr lang="en-US" sz="950" b="1" dirty="0">
                <a:solidFill>
                  <a:srgbClr val="34C6A8"/>
                </a:solidFill>
                <a:latin typeface="Arial" pitchFamily="34" charset="0"/>
                <a:ea typeface="Arial" pitchFamily="34" charset="-122"/>
                <a:cs typeface="Arial" pitchFamily="34" charset="-120"/>
              </a:rPr>
              <a:t>GLANCE</a:t>
            </a:r>
            <a:endParaRPr lang="en-US" sz="950" dirty="0"/>
          </a:p>
        </p:txBody>
      </p:sp>
      <p:sp>
        <p:nvSpPr>
          <p:cNvPr id="12" name="Text 6"/>
          <p:cNvSpPr/>
          <p:nvPr/>
        </p:nvSpPr>
        <p:spPr>
          <a:xfrm>
            <a:off x="2468880" y="3360420"/>
            <a:ext cx="6263640" cy="685800"/>
          </a:xfrm>
          <a:prstGeom prst="rect">
            <a:avLst/>
          </a:prstGeom>
          <a:noFill/>
          <a:ln/>
        </p:spPr>
        <p:txBody>
          <a:bodyPr wrap="square" lIns="0" tIns="0" rIns="0" bIns="0" rtlCol="0" anchor="ctr"/>
          <a:lstStyle/>
          <a:p>
            <a:pPr algn="l" indent="0" marL="0">
              <a:buNone/>
            </a:pPr>
            <a:r>
              <a:rPr lang="en-US" sz="2100" b="1" dirty="0">
                <a:solidFill>
                  <a:srgbClr val="34C6A8"/>
                </a:solidFill>
                <a:latin typeface="Cambria" pitchFamily="34" charset="0"/>
                <a:ea typeface="Cambria" pitchFamily="34" charset="-122"/>
                <a:cs typeface="Cambria" pitchFamily="34" charset="-120"/>
              </a:rPr>
              <a:t>14 days</a:t>
            </a:r>
            <a:endParaRPr lang="en-US" sz="2100" dirty="0"/>
          </a:p>
        </p:txBody>
      </p:sp>
      <p:sp>
        <p:nvSpPr>
          <p:cNvPr id="13" name="Text 7"/>
          <p:cNvSpPr/>
          <p:nvPr/>
        </p:nvSpPr>
        <p:spPr>
          <a:xfrm>
            <a:off x="2468880" y="4046220"/>
            <a:ext cx="6263640" cy="685800"/>
          </a:xfrm>
          <a:prstGeom prst="rect">
            <a:avLst/>
          </a:prstGeom>
          <a:noFill/>
          <a:ln/>
        </p:spPr>
        <p:txBody>
          <a:bodyPr wrap="square" lIns="0" tIns="0" rIns="0" bIns="0" rtlCol="0" anchor="t"/>
          <a:lstStyle/>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of confirmed orca in April–May 2018: ten from v4,</a:t>
            </a:r>
            <a:endParaRPr lang="en-US" sz="850" dirty="0"/>
          </a:p>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four more when the loop was re-run</a:t>
            </a:r>
            <a:endParaRPr lang="en-US" sz="850" dirty="0"/>
          </a:p>
        </p:txBody>
      </p:sp>
      <p:sp>
        <p:nvSpPr>
          <p:cNvPr id="14" name="Shape 8"/>
          <p:cNvSpPr/>
          <p:nvPr/>
        </p:nvSpPr>
        <p:spPr>
          <a:xfrm>
            <a:off x="8970264" y="3451860"/>
            <a:ext cx="16002" cy="1143000"/>
          </a:xfrm>
          <a:prstGeom prst="rect">
            <a:avLst/>
          </a:prstGeom>
          <a:solidFill>
            <a:srgbClr val="3B5F8A"/>
          </a:solidFill>
          <a:ln w="12700">
            <a:solidFill>
              <a:srgbClr val="3B5F8A"/>
            </a:solidFill>
            <a:prstDash val="solid"/>
          </a:ln>
        </p:spPr>
      </p:sp>
      <p:sp>
        <p:nvSpPr>
          <p:cNvPr id="15" name="Text 9"/>
          <p:cNvSpPr/>
          <p:nvPr/>
        </p:nvSpPr>
        <p:spPr>
          <a:xfrm>
            <a:off x="9098280" y="3360420"/>
            <a:ext cx="5532120" cy="685800"/>
          </a:xfrm>
          <a:prstGeom prst="rect">
            <a:avLst/>
          </a:prstGeom>
          <a:noFill/>
          <a:ln/>
        </p:spPr>
        <p:txBody>
          <a:bodyPr wrap="square" lIns="0" tIns="0" rIns="0" bIns="0" rtlCol="0" anchor="ctr"/>
          <a:lstStyle/>
          <a:p>
            <a:pPr algn="l" indent="0" marL="0">
              <a:buNone/>
            </a:pPr>
            <a:r>
              <a:rPr lang="en-US" sz="2100" b="1" dirty="0">
                <a:solidFill>
                  <a:srgbClr val="34C6A8"/>
                </a:solidFill>
                <a:latin typeface="Cambria" pitchFamily="34" charset="0"/>
                <a:ea typeface="Cambria" pitchFamily="34" charset="-122"/>
                <a:cs typeface="Cambria" pitchFamily="34" charset="-120"/>
              </a:rPr>
              <a:t>95% fewer</a:t>
            </a:r>
            <a:endParaRPr lang="en-US" sz="2100" dirty="0"/>
          </a:p>
        </p:txBody>
      </p:sp>
      <p:sp>
        <p:nvSpPr>
          <p:cNvPr id="16" name="Text 10"/>
          <p:cNvSpPr/>
          <p:nvPr/>
        </p:nvSpPr>
        <p:spPr>
          <a:xfrm>
            <a:off x="9098280" y="4046220"/>
            <a:ext cx="5532120" cy="685800"/>
          </a:xfrm>
          <a:prstGeom prst="rect">
            <a:avLst/>
          </a:prstGeom>
          <a:noFill/>
          <a:ln/>
        </p:spPr>
        <p:txBody>
          <a:bodyPr wrap="square" lIns="0" tIns="0" rIns="0" bIns="0" rtlCol="0" anchor="t"/>
          <a:lstStyle/>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false alarms in a held-out month,</a:t>
            </a:r>
            <a:endParaRPr lang="en-US" sz="850" dirty="0"/>
          </a:p>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from 17 corrective labels (6,489 → 304)</a:t>
            </a:r>
            <a:endParaRPr lang="en-US" sz="850" dirty="0"/>
          </a:p>
        </p:txBody>
      </p:sp>
      <p:sp>
        <p:nvSpPr>
          <p:cNvPr id="17" name="Shape 11"/>
          <p:cNvSpPr/>
          <p:nvPr/>
        </p:nvSpPr>
        <p:spPr>
          <a:xfrm>
            <a:off x="14868144" y="3451860"/>
            <a:ext cx="16002" cy="1143000"/>
          </a:xfrm>
          <a:prstGeom prst="rect">
            <a:avLst/>
          </a:prstGeom>
          <a:solidFill>
            <a:srgbClr val="3B5F8A"/>
          </a:solidFill>
          <a:ln w="12700">
            <a:solidFill>
              <a:srgbClr val="3B5F8A"/>
            </a:solidFill>
            <a:prstDash val="solid"/>
          </a:ln>
        </p:spPr>
      </p:sp>
      <p:sp>
        <p:nvSpPr>
          <p:cNvPr id="18" name="Text 12"/>
          <p:cNvSpPr/>
          <p:nvPr/>
        </p:nvSpPr>
        <p:spPr>
          <a:xfrm>
            <a:off x="14996160" y="3360420"/>
            <a:ext cx="6355080" cy="685800"/>
          </a:xfrm>
          <a:prstGeom prst="rect">
            <a:avLst/>
          </a:prstGeom>
          <a:noFill/>
          <a:ln/>
        </p:spPr>
        <p:txBody>
          <a:bodyPr wrap="square" lIns="0" tIns="0" rIns="0" bIns="0" rtlCol="0" anchor="ctr"/>
          <a:lstStyle/>
          <a:p>
            <a:pPr algn="l" indent="0" marL="0">
              <a:buNone/>
            </a:pPr>
            <a:r>
              <a:rPr lang="en-US" sz="2100" b="1" dirty="0">
                <a:solidFill>
                  <a:srgbClr val="34C6A8"/>
                </a:solidFill>
                <a:latin typeface="Cambria" pitchFamily="34" charset="0"/>
                <a:ea typeface="Cambria" pitchFamily="34" charset="-122"/>
                <a:cs typeface="Cambria" pitchFamily="34" charset="-120"/>
              </a:rPr>
              <a:t>1,336 labels</a:t>
            </a:r>
            <a:endParaRPr lang="en-US" sz="2100" dirty="0"/>
          </a:p>
        </p:txBody>
      </p:sp>
      <p:sp>
        <p:nvSpPr>
          <p:cNvPr id="19" name="Text 13"/>
          <p:cNvSpPr/>
          <p:nvPr/>
        </p:nvSpPr>
        <p:spPr>
          <a:xfrm>
            <a:off x="14996160" y="4046220"/>
            <a:ext cx="6355080" cy="685800"/>
          </a:xfrm>
          <a:prstGeom prst="rect">
            <a:avLst/>
          </a:prstGeom>
          <a:noFill/>
          <a:ln/>
        </p:spPr>
        <p:txBody>
          <a:bodyPr wrap="square" lIns="0" tIns="0" rIns="0" bIns="0" rtlCol="0" anchor="t"/>
          <a:lstStyle/>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all in ~8–10 h of researchers’ time;</a:t>
            </a:r>
            <a:endParaRPr lang="en-US" sz="850" dirty="0"/>
          </a:p>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873 built the presented model</a:t>
            </a:r>
            <a:endParaRPr lang="en-US" sz="850" dirty="0"/>
          </a:p>
        </p:txBody>
      </p:sp>
      <p:sp>
        <p:nvSpPr>
          <p:cNvPr id="20" name="Shape 14"/>
          <p:cNvSpPr/>
          <p:nvPr/>
        </p:nvSpPr>
        <p:spPr>
          <a:xfrm>
            <a:off x="21588984" y="3451860"/>
            <a:ext cx="16002" cy="1143000"/>
          </a:xfrm>
          <a:prstGeom prst="rect">
            <a:avLst/>
          </a:prstGeom>
          <a:solidFill>
            <a:srgbClr val="3B5F8A"/>
          </a:solidFill>
          <a:ln w="12700">
            <a:solidFill>
              <a:srgbClr val="3B5F8A"/>
            </a:solidFill>
            <a:prstDash val="solid"/>
          </a:ln>
        </p:spPr>
      </p:sp>
      <p:sp>
        <p:nvSpPr>
          <p:cNvPr id="21" name="Text 15"/>
          <p:cNvSpPr/>
          <p:nvPr/>
        </p:nvSpPr>
        <p:spPr>
          <a:xfrm>
            <a:off x="21717000" y="3360420"/>
            <a:ext cx="5257800" cy="685800"/>
          </a:xfrm>
          <a:prstGeom prst="rect">
            <a:avLst/>
          </a:prstGeom>
          <a:noFill/>
          <a:ln/>
        </p:spPr>
        <p:txBody>
          <a:bodyPr wrap="square" lIns="0" tIns="0" rIns="0" bIns="0" rtlCol="0" anchor="ctr"/>
          <a:lstStyle/>
          <a:p>
            <a:pPr algn="l" indent="0" marL="0">
              <a:buNone/>
            </a:pPr>
            <a:r>
              <a:rPr lang="en-US" sz="2100" b="1" dirty="0">
                <a:solidFill>
                  <a:srgbClr val="34C6A8"/>
                </a:solidFill>
                <a:latin typeface="Cambria" pitchFamily="34" charset="0"/>
                <a:ea typeface="Cambria" pitchFamily="34" charset="-122"/>
                <a:cs typeface="Cambria" pitchFamily="34" charset="-120"/>
              </a:rPr>
              <a:t>0.95</a:t>
            </a:r>
            <a:endParaRPr lang="en-US" sz="2100" dirty="0"/>
          </a:p>
        </p:txBody>
      </p:sp>
      <p:sp>
        <p:nvSpPr>
          <p:cNvPr id="22" name="Text 16"/>
          <p:cNvSpPr/>
          <p:nvPr/>
        </p:nvSpPr>
        <p:spPr>
          <a:xfrm>
            <a:off x="21717000" y="4046220"/>
            <a:ext cx="5257800" cy="685800"/>
          </a:xfrm>
          <a:prstGeom prst="rect">
            <a:avLst/>
          </a:prstGeom>
          <a:noFill/>
          <a:ln/>
        </p:spPr>
        <p:txBody>
          <a:bodyPr wrap="square" lIns="0" tIns="0" rIns="0" bIns="0" rtlCol="0" anchor="t"/>
          <a:lstStyle/>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orca detection score (F1: 0 = useless,</a:t>
            </a:r>
            <a:endParaRPr lang="en-US" sz="850" dirty="0"/>
          </a:p>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1 = perfect) at our chosen cutoff</a:t>
            </a:r>
            <a:endParaRPr lang="en-US" sz="850" dirty="0"/>
          </a:p>
        </p:txBody>
      </p:sp>
      <p:sp>
        <p:nvSpPr>
          <p:cNvPr id="23" name="Shape 17"/>
          <p:cNvSpPr/>
          <p:nvPr/>
        </p:nvSpPr>
        <p:spPr>
          <a:xfrm>
            <a:off x="27212544" y="3451860"/>
            <a:ext cx="16002" cy="1143000"/>
          </a:xfrm>
          <a:prstGeom prst="rect">
            <a:avLst/>
          </a:prstGeom>
          <a:solidFill>
            <a:srgbClr val="3B5F8A"/>
          </a:solidFill>
          <a:ln w="12700">
            <a:solidFill>
              <a:srgbClr val="3B5F8A"/>
            </a:solidFill>
            <a:prstDash val="solid"/>
          </a:ln>
        </p:spPr>
      </p:sp>
      <p:sp>
        <p:nvSpPr>
          <p:cNvPr id="24" name="Text 18"/>
          <p:cNvSpPr/>
          <p:nvPr/>
        </p:nvSpPr>
        <p:spPr>
          <a:xfrm>
            <a:off x="27340560" y="3360420"/>
            <a:ext cx="5166360" cy="685800"/>
          </a:xfrm>
          <a:prstGeom prst="rect">
            <a:avLst/>
          </a:prstGeom>
          <a:noFill/>
          <a:ln/>
        </p:spPr>
        <p:txBody>
          <a:bodyPr wrap="square" lIns="0" tIns="0" rIns="0" bIns="0" rtlCol="0" anchor="ctr"/>
          <a:lstStyle/>
          <a:p>
            <a:pPr algn="l" indent="0" marL="0">
              <a:buNone/>
            </a:pPr>
            <a:r>
              <a:rPr lang="en-US" sz="2100" b="1" dirty="0">
                <a:solidFill>
                  <a:srgbClr val="34C6A8"/>
                </a:solidFill>
                <a:latin typeface="Cambria" pitchFamily="34" charset="0"/>
                <a:ea typeface="Cambria" pitchFamily="34" charset="-122"/>
                <a:cs typeface="Cambria" pitchFamily="34" charset="-120"/>
              </a:rPr>
              <a:t>+19 points</a:t>
            </a:r>
            <a:endParaRPr lang="en-US" sz="2100" dirty="0"/>
          </a:p>
        </p:txBody>
      </p:sp>
      <p:sp>
        <p:nvSpPr>
          <p:cNvPr id="25" name="Text 19"/>
          <p:cNvSpPr/>
          <p:nvPr/>
        </p:nvSpPr>
        <p:spPr>
          <a:xfrm>
            <a:off x="27340560" y="4046220"/>
            <a:ext cx="5166360" cy="685800"/>
          </a:xfrm>
          <a:prstGeom prst="rect">
            <a:avLst/>
          </a:prstGeom>
          <a:noFill/>
          <a:ln/>
        </p:spPr>
        <p:txBody>
          <a:bodyPr wrap="square" lIns="0" tIns="0" rIns="0" bIns="0" rtlCol="0" anchor="t"/>
          <a:lstStyle/>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more of a held-out month’s orca found</a:t>
            </a:r>
            <a:endParaRPr lang="en-US" sz="850" dirty="0"/>
          </a:p>
          <a:p>
            <a:pPr algn="l" indent="0" marL="0">
              <a:lnSpc>
                <a:spcPts val="1050"/>
              </a:lnSpc>
              <a:buNone/>
            </a:pPr>
            <a:r>
              <a:rPr lang="en-US" sz="850" dirty="0">
                <a:solidFill>
                  <a:srgbClr val="FFFFFF"/>
                </a:solidFill>
                <a:latin typeface="Arial" pitchFamily="34" charset="0"/>
                <a:ea typeface="Arial" pitchFamily="34" charset="-122"/>
                <a:cs typeface="Arial" pitchFamily="34" charset="-120"/>
              </a:rPr>
              <a:t>when the loop was run again</a:t>
            </a:r>
            <a:endParaRPr lang="en-US" sz="850" dirty="0"/>
          </a:p>
        </p:txBody>
      </p:sp>
      <p:sp>
        <p:nvSpPr>
          <p:cNvPr id="26" name="Shape 20"/>
          <p:cNvSpPr/>
          <p:nvPr/>
        </p:nvSpPr>
        <p:spPr>
          <a:xfrm>
            <a:off x="274320" y="5577840"/>
            <a:ext cx="6254496" cy="3017520"/>
          </a:xfrm>
          <a:prstGeom prst="roundRect">
            <a:avLst>
              <a:gd name="adj" fmla="val 2727"/>
            </a:avLst>
          </a:prstGeom>
          <a:solidFill>
            <a:srgbClr val="EEF3F7"/>
          </a:solidFill>
          <a:ln w="12700">
            <a:solidFill>
              <a:srgbClr val="D8E2EA"/>
            </a:solidFill>
            <a:prstDash val="solid"/>
          </a:ln>
        </p:spPr>
      </p:sp>
      <p:sp>
        <p:nvSpPr>
          <p:cNvPr id="27" name="Shape 21"/>
          <p:cNvSpPr/>
          <p:nvPr/>
        </p:nvSpPr>
        <p:spPr>
          <a:xfrm>
            <a:off x="502920" y="5806440"/>
            <a:ext cx="480060" cy="480060"/>
          </a:xfrm>
          <a:prstGeom prst="ellipse">
            <a:avLst/>
          </a:prstGeom>
          <a:solidFill>
            <a:srgbClr val="1C7293"/>
          </a:solidFill>
          <a:ln w="12700">
            <a:solidFill>
              <a:srgbClr val="1C7293"/>
            </a:solidFill>
            <a:prstDash val="solid"/>
          </a:ln>
        </p:spPr>
      </p:sp>
      <p:sp>
        <p:nvSpPr>
          <p:cNvPr id="28" name="Text 22"/>
          <p:cNvSpPr/>
          <p:nvPr/>
        </p:nvSpPr>
        <p:spPr>
          <a:xfrm>
            <a:off x="502920"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9" name="Text 23"/>
          <p:cNvSpPr/>
          <p:nvPr/>
        </p:nvSpPr>
        <p:spPr>
          <a:xfrm>
            <a:off x="1074420"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The gap</a:t>
            </a:r>
            <a:endParaRPr lang="en-US" sz="1400" dirty="0"/>
          </a:p>
        </p:txBody>
      </p:sp>
      <p:sp>
        <p:nvSpPr>
          <p:cNvPr id="30" name="Text 24"/>
          <p:cNvSpPr/>
          <p:nvPr/>
        </p:nvSpPr>
        <p:spPr>
          <a:xfrm>
            <a:off x="548640" y="6537960"/>
            <a:ext cx="5705856" cy="192024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are scarce.</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200" dirty="0"/>
          </a:p>
        </p:txBody>
      </p:sp>
      <p:sp>
        <p:nvSpPr>
          <p:cNvPr id="31" name="Shape 25"/>
          <p:cNvSpPr/>
          <p:nvPr/>
        </p:nvSpPr>
        <p:spPr>
          <a:xfrm>
            <a:off x="274320" y="8869680"/>
            <a:ext cx="6254496" cy="5760720"/>
          </a:xfrm>
          <a:prstGeom prst="roundRect">
            <a:avLst>
              <a:gd name="adj" fmla="val 1429"/>
            </a:avLst>
          </a:prstGeom>
          <a:solidFill>
            <a:srgbClr val="EEF3F7"/>
          </a:solidFill>
          <a:ln w="12700">
            <a:solidFill>
              <a:srgbClr val="D8E2EA"/>
            </a:solidFill>
            <a:prstDash val="solid"/>
          </a:ln>
        </p:spPr>
      </p:sp>
      <p:sp>
        <p:nvSpPr>
          <p:cNvPr id="32" name="Shape 26"/>
          <p:cNvSpPr/>
          <p:nvPr/>
        </p:nvSpPr>
        <p:spPr>
          <a:xfrm>
            <a:off x="502920" y="9098280"/>
            <a:ext cx="480060" cy="480060"/>
          </a:xfrm>
          <a:prstGeom prst="ellipse">
            <a:avLst/>
          </a:prstGeom>
          <a:solidFill>
            <a:srgbClr val="1C7293"/>
          </a:solidFill>
          <a:ln w="12700">
            <a:solidFill>
              <a:srgbClr val="1C7293"/>
            </a:solidFill>
            <a:prstDash val="solid"/>
          </a:ln>
        </p:spPr>
      </p:sp>
      <p:sp>
        <p:nvSpPr>
          <p:cNvPr id="33" name="Text 27"/>
          <p:cNvSpPr/>
          <p:nvPr/>
        </p:nvSpPr>
        <p:spPr>
          <a:xfrm>
            <a:off x="502920" y="90982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34" name="Text 28"/>
          <p:cNvSpPr/>
          <p:nvPr/>
        </p:nvSpPr>
        <p:spPr>
          <a:xfrm>
            <a:off x="1074420" y="90297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A continuous listening post</a:t>
            </a:r>
            <a:endParaRPr lang="en-US" sz="1400" dirty="0"/>
          </a:p>
        </p:txBody>
      </p:sp>
      <p:sp>
        <p:nvSpPr>
          <p:cNvPr id="35" name="Text 29"/>
          <p:cNvSpPr/>
          <p:nvPr/>
        </p:nvSpPr>
        <p:spPr>
          <a:xfrm>
            <a:off x="548640" y="9829800"/>
            <a:ext cx="5705856" cy="128016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Archived and public as the Pacific Ocean Sound recordings; analysis windows here span 2018–2026.</a:t>
            </a:r>
            <a:endParaRPr lang="en-US" sz="1200" dirty="0"/>
          </a:p>
        </p:txBody>
      </p:sp>
      <p:pic>
        <p:nvPicPr>
          <p:cNvPr id="36" name="Image 4" descr="oceans2026_fig1_mars_observatory.jpg">    </p:cNvPr>
          <p:cNvPicPr>
            <a:picLocks noChangeAspect="1"/>
          </p:cNvPicPr>
          <p:nvPr/>
        </p:nvPicPr>
        <p:blipFill>
          <a:blip r:embed="rId5"/>
          <a:stretch>
            <a:fillRect/>
          </a:stretch>
        </p:blipFill>
        <p:spPr>
          <a:xfrm>
            <a:off x="1344168" y="11247120"/>
            <a:ext cx="4114800" cy="2706624"/>
          </a:xfrm>
          <a:prstGeom prst="rect">
            <a:avLst/>
          </a:prstGeom>
        </p:spPr>
      </p:pic>
      <p:sp>
        <p:nvSpPr>
          <p:cNvPr id="37" name="Text 30"/>
          <p:cNvSpPr/>
          <p:nvPr/>
        </p:nvSpPr>
        <p:spPr>
          <a:xfrm>
            <a:off x="548640" y="14013180"/>
            <a:ext cx="5705856" cy="54864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850" dirty="0"/>
          </a:p>
        </p:txBody>
      </p:sp>
      <p:sp>
        <p:nvSpPr>
          <p:cNvPr id="38" name="Shape 31"/>
          <p:cNvSpPr/>
          <p:nvPr/>
        </p:nvSpPr>
        <p:spPr>
          <a:xfrm>
            <a:off x="274320" y="14904720"/>
            <a:ext cx="6254496" cy="4754880"/>
          </a:xfrm>
          <a:prstGeom prst="roundRect">
            <a:avLst>
              <a:gd name="adj" fmla="val 1731"/>
            </a:avLst>
          </a:prstGeom>
          <a:solidFill>
            <a:srgbClr val="EEF3F7"/>
          </a:solidFill>
          <a:ln w="12700">
            <a:solidFill>
              <a:srgbClr val="D8E2EA"/>
            </a:solidFill>
            <a:prstDash val="solid"/>
          </a:ln>
        </p:spPr>
      </p:sp>
      <p:sp>
        <p:nvSpPr>
          <p:cNvPr id="39" name="Shape 32"/>
          <p:cNvSpPr/>
          <p:nvPr/>
        </p:nvSpPr>
        <p:spPr>
          <a:xfrm>
            <a:off x="502920" y="15133320"/>
            <a:ext cx="480060" cy="480060"/>
          </a:xfrm>
          <a:prstGeom prst="ellipse">
            <a:avLst/>
          </a:prstGeom>
          <a:solidFill>
            <a:srgbClr val="1C7293"/>
          </a:solidFill>
          <a:ln w="12700">
            <a:solidFill>
              <a:srgbClr val="1C7293"/>
            </a:solidFill>
            <a:prstDash val="solid"/>
          </a:ln>
        </p:spPr>
      </p:sp>
      <p:sp>
        <p:nvSpPr>
          <p:cNvPr id="40" name="Text 33"/>
          <p:cNvSpPr/>
          <p:nvPr/>
        </p:nvSpPr>
        <p:spPr>
          <a:xfrm>
            <a:off x="502920" y="1513332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41" name="Text 34"/>
          <p:cNvSpPr/>
          <p:nvPr/>
        </p:nvSpPr>
        <p:spPr>
          <a:xfrm>
            <a:off x="1074420" y="1506474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Off-the-shelf CNNs confuse the bay</a:t>
            </a:r>
            <a:endParaRPr lang="en-US" sz="1400" dirty="0"/>
          </a:p>
        </p:txBody>
      </p:sp>
      <p:sp>
        <p:nvSpPr>
          <p:cNvPr id="42" name="Text 35"/>
          <p:cNvSpPr/>
          <p:nvPr/>
        </p:nvSpPr>
        <p:spPr>
          <a:xfrm>
            <a:off x="548640" y="15864840"/>
            <a:ext cx="5705856" cy="137160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Google multispecies whale CNN and OrcAI (Icelandic fish-eating orcas) both produced high-confidence orca detections on MARS recordings.</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150" dirty="0"/>
          </a:p>
        </p:txBody>
      </p:sp>
      <p:pic>
        <p:nvPicPr>
          <p:cNvPr id="43" name="Image 5" descr="poster_fig3_class_spectrograms.png">    </p:cNvPr>
          <p:cNvPicPr>
            <a:picLocks noChangeAspect="1"/>
          </p:cNvPicPr>
          <p:nvPr/>
        </p:nvPicPr>
        <p:blipFill>
          <a:blip r:embed="rId6"/>
          <a:stretch>
            <a:fillRect/>
          </a:stretch>
        </p:blipFill>
        <p:spPr>
          <a:xfrm>
            <a:off x="548640" y="17327880"/>
            <a:ext cx="5705856" cy="1458468"/>
          </a:xfrm>
          <a:prstGeom prst="rect">
            <a:avLst/>
          </a:prstGeom>
        </p:spPr>
      </p:pic>
      <p:sp>
        <p:nvSpPr>
          <p:cNvPr id="44" name="Text 36"/>
          <p:cNvSpPr/>
          <p:nvPr/>
        </p:nvSpPr>
        <p:spPr>
          <a:xfrm>
            <a:off x="548640" y="18836640"/>
            <a:ext cx="5705856" cy="77724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color scale, so brightness and detail are directly comparable. Orca and humpback song both carry tonal, harmonically stacked content in overlapping bands — which is why the classifier confuses them.</a:t>
            </a:r>
            <a:endParaRPr lang="en-US" sz="750" dirty="0"/>
          </a:p>
        </p:txBody>
      </p:sp>
      <p:sp>
        <p:nvSpPr>
          <p:cNvPr id="45" name="Shape 37"/>
          <p:cNvSpPr/>
          <p:nvPr/>
        </p:nvSpPr>
        <p:spPr>
          <a:xfrm>
            <a:off x="6803136" y="5577840"/>
            <a:ext cx="6254496" cy="9144000"/>
          </a:xfrm>
          <a:prstGeom prst="roundRect">
            <a:avLst>
              <a:gd name="adj" fmla="val 1316"/>
            </a:avLst>
          </a:prstGeom>
          <a:solidFill>
            <a:srgbClr val="EEF3F7"/>
          </a:solidFill>
          <a:ln w="12700">
            <a:solidFill>
              <a:srgbClr val="D8E2EA"/>
            </a:solidFill>
            <a:prstDash val="solid"/>
          </a:ln>
        </p:spPr>
      </p:sp>
      <p:sp>
        <p:nvSpPr>
          <p:cNvPr id="46" name="Shape 38"/>
          <p:cNvSpPr/>
          <p:nvPr/>
        </p:nvSpPr>
        <p:spPr>
          <a:xfrm>
            <a:off x="7031736" y="5806440"/>
            <a:ext cx="480060" cy="480060"/>
          </a:xfrm>
          <a:prstGeom prst="ellipse">
            <a:avLst/>
          </a:prstGeom>
          <a:solidFill>
            <a:srgbClr val="1C7293"/>
          </a:solidFill>
          <a:ln w="12700">
            <a:solidFill>
              <a:srgbClr val="1C7293"/>
            </a:solidFill>
            <a:prstDash val="solid"/>
          </a:ln>
        </p:spPr>
      </p:sp>
      <p:sp>
        <p:nvSpPr>
          <p:cNvPr id="47" name="Text 39"/>
          <p:cNvSpPr/>
          <p:nvPr/>
        </p:nvSpPr>
        <p:spPr>
          <a:xfrm>
            <a:off x="7031736"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48" name="Text 40"/>
          <p:cNvSpPr/>
          <p:nvPr/>
        </p:nvSpPr>
        <p:spPr>
          <a:xfrm>
            <a:off x="7603236"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Teaching a big model a new sound</a:t>
            </a:r>
            <a:endParaRPr lang="en-US" sz="1400" dirty="0"/>
          </a:p>
        </p:txBody>
      </p:sp>
      <p:sp>
        <p:nvSpPr>
          <p:cNvPr id="49" name="Text 41"/>
          <p:cNvSpPr/>
          <p:nvPr/>
        </p:nvSpPr>
        <p:spPr>
          <a:xfrm>
            <a:off x="7077456" y="6537960"/>
            <a:ext cx="5705856" cy="274320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00" dirty="0"/>
          </a:p>
        </p:txBody>
      </p:sp>
      <p:pic>
        <p:nvPicPr>
          <p:cNvPr id="50" name="Image 6" descr="oceans2026_fig2_agile_modeling_loop.png">    </p:cNvPr>
          <p:cNvPicPr>
            <a:picLocks noChangeAspect="1"/>
          </p:cNvPicPr>
          <p:nvPr/>
        </p:nvPicPr>
        <p:blipFill>
          <a:blip r:embed="rId7"/>
          <a:stretch>
            <a:fillRect/>
          </a:stretch>
        </p:blipFill>
        <p:spPr>
          <a:xfrm>
            <a:off x="7077456" y="9372600"/>
            <a:ext cx="5705856" cy="2098548"/>
          </a:xfrm>
          <a:prstGeom prst="rect">
            <a:avLst/>
          </a:prstGeom>
        </p:spPr>
      </p:pic>
      <p:pic>
        <p:nvPicPr>
          <p:cNvPr id="51" name="Image 7" descr="gradio_review_panel_crop.png">    </p:cNvPr>
          <p:cNvPicPr>
            <a:picLocks noChangeAspect="1"/>
          </p:cNvPicPr>
          <p:nvPr/>
        </p:nvPicPr>
        <p:blipFill>
          <a:blip r:embed="rId8"/>
          <a:stretch>
            <a:fillRect/>
          </a:stretch>
        </p:blipFill>
        <p:spPr>
          <a:xfrm>
            <a:off x="7077456" y="11612880"/>
            <a:ext cx="5705856" cy="2327148"/>
          </a:xfrm>
          <a:prstGeom prst="rect">
            <a:avLst/>
          </a:prstGeom>
        </p:spPr>
      </p:pic>
      <p:sp>
        <p:nvSpPr>
          <p:cNvPr id="52" name="Text 42"/>
          <p:cNvSpPr/>
          <p:nvPr/>
        </p:nvSpPr>
        <p:spPr>
          <a:xfrm>
            <a:off x="7077456" y="14013180"/>
            <a:ext cx="5705856" cy="64008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What one turn of the loop looks like: a 5-second candidate, its spectrogram and audio, and six one-click labels — orca_call, humpback_song, dolphin_call, ship_noise, other, unlabeled. This detection was surfaced by v4 on 23 April 2018 (MARS_20180423_225912, score 2.03) and confirmed orca by ear. Reviewers also see a 30 s context view, not shown.</a:t>
            </a:r>
            <a:endParaRPr lang="en-US" sz="750" dirty="0"/>
          </a:p>
        </p:txBody>
      </p:sp>
      <p:sp>
        <p:nvSpPr>
          <p:cNvPr id="53" name="Shape 43"/>
          <p:cNvSpPr/>
          <p:nvPr/>
        </p:nvSpPr>
        <p:spPr>
          <a:xfrm>
            <a:off x="6803136" y="14996160"/>
            <a:ext cx="6254496" cy="5760720"/>
          </a:xfrm>
          <a:prstGeom prst="roundRect">
            <a:avLst>
              <a:gd name="adj" fmla="val 1429"/>
            </a:avLst>
          </a:prstGeom>
          <a:solidFill>
            <a:srgbClr val="EEF3F7"/>
          </a:solidFill>
          <a:ln w="12700">
            <a:solidFill>
              <a:srgbClr val="D8E2EA"/>
            </a:solidFill>
            <a:prstDash val="solid"/>
          </a:ln>
        </p:spPr>
      </p:sp>
      <p:sp>
        <p:nvSpPr>
          <p:cNvPr id="54" name="Shape 44"/>
          <p:cNvSpPr/>
          <p:nvPr/>
        </p:nvSpPr>
        <p:spPr>
          <a:xfrm>
            <a:off x="7031736" y="15224760"/>
            <a:ext cx="480060" cy="480060"/>
          </a:xfrm>
          <a:prstGeom prst="ellipse">
            <a:avLst/>
          </a:prstGeom>
          <a:solidFill>
            <a:srgbClr val="1C7293"/>
          </a:solidFill>
          <a:ln w="12700">
            <a:solidFill>
              <a:srgbClr val="1C7293"/>
            </a:solidFill>
            <a:prstDash val="solid"/>
          </a:ln>
        </p:spPr>
      </p:sp>
      <p:sp>
        <p:nvSpPr>
          <p:cNvPr id="55" name="Text 45"/>
          <p:cNvSpPr/>
          <p:nvPr/>
        </p:nvSpPr>
        <p:spPr>
          <a:xfrm>
            <a:off x="7031736" y="1522476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56" name="Text 46"/>
          <p:cNvSpPr/>
          <p:nvPr/>
        </p:nvSpPr>
        <p:spPr>
          <a:xfrm>
            <a:off x="7603236" y="1515618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The classes separate</a:t>
            </a:r>
            <a:endParaRPr lang="en-US" sz="1400" dirty="0"/>
          </a:p>
        </p:txBody>
      </p:sp>
      <p:pic>
        <p:nvPicPr>
          <p:cNvPr id="57" name="Image 8" descr="tsne_apr2018_oct2020_apr2026_norm_dpi300.png">    </p:cNvPr>
          <p:cNvPicPr>
            <a:picLocks noChangeAspect="1"/>
          </p:cNvPicPr>
          <p:nvPr/>
        </p:nvPicPr>
        <p:blipFill>
          <a:blip r:embed="rId9"/>
          <a:stretch>
            <a:fillRect/>
          </a:stretch>
        </p:blipFill>
        <p:spPr>
          <a:xfrm>
            <a:off x="7735824" y="16002000"/>
            <a:ext cx="4389120" cy="3657600"/>
          </a:xfrm>
          <a:prstGeom prst="rect">
            <a:avLst/>
          </a:prstGeom>
        </p:spPr>
      </p:pic>
      <p:sp>
        <p:nvSpPr>
          <p:cNvPr id="58" name="Text 47"/>
          <p:cNvSpPr/>
          <p:nvPr/>
        </p:nvSpPr>
        <p:spPr>
          <a:xfrm>
            <a:off x="7077456" y="19705320"/>
            <a:ext cx="5705856" cy="96012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1,076 labeled windows, 6 classes, 3 seasons — the three the models trained on; May 2018 is held out and does not appear. The orca cluster holds across all three years, so the embeddings are separable across recording conditions and time. Where classes overlap, orca against humpback, is the same confusion the spectrogram row shows.</a:t>
            </a:r>
            <a:endParaRPr lang="en-US" sz="750" dirty="0"/>
          </a:p>
        </p:txBody>
      </p:sp>
      <p:sp>
        <p:nvSpPr>
          <p:cNvPr id="59" name="Shape 48"/>
          <p:cNvSpPr/>
          <p:nvPr/>
        </p:nvSpPr>
        <p:spPr>
          <a:xfrm>
            <a:off x="13331952" y="5577840"/>
            <a:ext cx="6254496" cy="5852160"/>
          </a:xfrm>
          <a:prstGeom prst="roundRect">
            <a:avLst>
              <a:gd name="adj" fmla="val 1406"/>
            </a:avLst>
          </a:prstGeom>
          <a:solidFill>
            <a:srgbClr val="EEF3F7"/>
          </a:solidFill>
          <a:ln w="12700">
            <a:solidFill>
              <a:srgbClr val="D8E2EA"/>
            </a:solidFill>
            <a:prstDash val="solid"/>
          </a:ln>
        </p:spPr>
      </p:sp>
      <p:sp>
        <p:nvSpPr>
          <p:cNvPr id="60" name="Shape 49"/>
          <p:cNvSpPr/>
          <p:nvPr/>
        </p:nvSpPr>
        <p:spPr>
          <a:xfrm>
            <a:off x="13560552" y="5806440"/>
            <a:ext cx="480060" cy="480060"/>
          </a:xfrm>
          <a:prstGeom prst="ellipse">
            <a:avLst/>
          </a:prstGeom>
          <a:solidFill>
            <a:srgbClr val="1C7293"/>
          </a:solidFill>
          <a:ln w="12700">
            <a:solidFill>
              <a:srgbClr val="1C7293"/>
            </a:solidFill>
            <a:prstDash val="solid"/>
          </a:ln>
        </p:spPr>
      </p:sp>
      <p:sp>
        <p:nvSpPr>
          <p:cNvPr id="61" name="Text 50"/>
          <p:cNvSpPr/>
          <p:nvPr/>
        </p:nvSpPr>
        <p:spPr>
          <a:xfrm>
            <a:off x="13560552"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62" name="Text 51"/>
          <p:cNvSpPr/>
          <p:nvPr/>
        </p:nvSpPr>
        <p:spPr>
          <a:xfrm>
            <a:off x="14132052"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v0 → v4: five labeling waves</a:t>
            </a:r>
            <a:endParaRPr lang="en-US" sz="1400" dirty="0"/>
          </a:p>
        </p:txBody>
      </p:sp>
      <p:sp>
        <p:nvSpPr>
          <p:cNvPr id="63" name="Text 52"/>
          <p:cNvSpPr/>
          <p:nvPr/>
        </p:nvSpPr>
        <p:spPr>
          <a:xfrm>
            <a:off x="13606272" y="6537960"/>
            <a:ext cx="5705856" cy="17373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Eight more corrective labels produce v4, the model built in this walkthrough.</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64" name="Image 9" descr="oceans2026_fig3_classifier_trajectory.png">    </p:cNvPr>
          <p:cNvPicPr>
            <a:picLocks noChangeAspect="1"/>
          </p:cNvPicPr>
          <p:nvPr/>
        </p:nvPicPr>
        <p:blipFill>
          <a:blip r:embed="rId10"/>
          <a:stretch>
            <a:fillRect/>
          </a:stretch>
        </p:blipFill>
        <p:spPr>
          <a:xfrm>
            <a:off x="13606272" y="8366760"/>
            <a:ext cx="5705856" cy="2281428"/>
          </a:xfrm>
          <a:prstGeom prst="rect">
            <a:avLst/>
          </a:prstGeom>
        </p:spPr>
      </p:pic>
      <p:sp>
        <p:nvSpPr>
          <p:cNvPr id="65" name="Text 53"/>
          <p:cNvSpPr/>
          <p:nvPr/>
        </p:nvSpPr>
        <p:spPr>
          <a:xfrm>
            <a:off x="13606272" y="10698480"/>
            <a:ext cx="5705856" cy="68580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Before v0: four of those hours — nearly half the project’s total — went on hand review of April 2018 audio. Two 50-clip rounds settled orca-or-not, then three longer sessions worked 25 clips at a time to give dolphin and humpback their own classes, every humpback clip checked by John Ryan. Hence v0’s 584 labels.</a:t>
            </a:r>
            <a:endParaRPr lang="en-US" sz="750" dirty="0"/>
          </a:p>
        </p:txBody>
      </p:sp>
      <p:sp>
        <p:nvSpPr>
          <p:cNvPr id="66" name="Shape 54"/>
          <p:cNvSpPr/>
          <p:nvPr/>
        </p:nvSpPr>
        <p:spPr>
          <a:xfrm>
            <a:off x="13331952" y="11704320"/>
            <a:ext cx="6254496" cy="8321040"/>
          </a:xfrm>
          <a:prstGeom prst="roundRect">
            <a:avLst>
              <a:gd name="adj" fmla="val 1316"/>
            </a:avLst>
          </a:prstGeom>
          <a:solidFill>
            <a:srgbClr val="EEF3F7"/>
          </a:solidFill>
          <a:ln w="12700">
            <a:solidFill>
              <a:srgbClr val="D8E2EA"/>
            </a:solidFill>
            <a:prstDash val="solid"/>
          </a:ln>
        </p:spPr>
      </p:sp>
      <p:sp>
        <p:nvSpPr>
          <p:cNvPr id="67" name="Shape 55"/>
          <p:cNvSpPr/>
          <p:nvPr/>
        </p:nvSpPr>
        <p:spPr>
          <a:xfrm>
            <a:off x="13560552" y="11932920"/>
            <a:ext cx="480060" cy="480060"/>
          </a:xfrm>
          <a:prstGeom prst="ellipse">
            <a:avLst/>
          </a:prstGeom>
          <a:solidFill>
            <a:srgbClr val="1C7293"/>
          </a:solidFill>
          <a:ln w="12700">
            <a:solidFill>
              <a:srgbClr val="1C7293"/>
            </a:solidFill>
            <a:prstDash val="solid"/>
          </a:ln>
        </p:spPr>
      </p:sp>
      <p:sp>
        <p:nvSpPr>
          <p:cNvPr id="68" name="Text 56"/>
          <p:cNvSpPr/>
          <p:nvPr/>
        </p:nvSpPr>
        <p:spPr>
          <a:xfrm>
            <a:off x="13560552" y="1193292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69" name="Text 57"/>
          <p:cNvSpPr/>
          <p:nvPr/>
        </p:nvSpPr>
        <p:spPr>
          <a:xfrm>
            <a:off x="14132052" y="1186434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Spring 2018 was not one encounter</a:t>
            </a:r>
            <a:endParaRPr lang="en-US" sz="1400" dirty="0"/>
          </a:p>
        </p:txBody>
      </p:sp>
      <p:sp>
        <p:nvSpPr>
          <p:cNvPr id="70" name="Text 58"/>
          <p:cNvSpPr/>
          <p:nvPr/>
        </p:nvSpPr>
        <p:spPr>
          <a:xfrm>
            <a:off x="13606272" y="12664440"/>
            <a:ext cx="5705856" cy="393192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Previously known: a single Bigg’s orca event on 13 April 2018.</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All 58 detections on 23 and 24 April were then reviewed as well: 55 orca, two humpback, one left unlabeled.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May 2018: 12 May confirmed 181/181; 13 May gives 8 confirmed orca clips on full review, and 14 and 16 May are confirmed too.</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Neither v4 nor orca_v10 has trained on May 2018 recordings — these are detections in a month the presented models have never seen.</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Ten confirmed orca days across the two months from v4 alone — sustained Bigg’s presence, not one encounter.</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150" dirty="0"/>
          </a:p>
        </p:txBody>
      </p:sp>
      <p:pic>
        <p:nvPicPr>
          <p:cNvPr id="71" name="Image 10" descr="oceans2026_fig4_calendar_apr_may_2018.png">    </p:cNvPr>
          <p:cNvPicPr>
            <a:picLocks noChangeAspect="1"/>
          </p:cNvPicPr>
          <p:nvPr/>
        </p:nvPicPr>
        <p:blipFill>
          <a:blip r:embed="rId11"/>
          <a:stretch>
            <a:fillRect/>
          </a:stretch>
        </p:blipFill>
        <p:spPr>
          <a:xfrm>
            <a:off x="13606272" y="16687800"/>
            <a:ext cx="5705856" cy="2345436"/>
          </a:xfrm>
          <a:prstGeom prst="rect">
            <a:avLst/>
          </a:prstGeom>
        </p:spPr>
      </p:pic>
      <p:sp>
        <p:nvSpPr>
          <p:cNvPr id="72" name="Text 59"/>
          <p:cNvSpPr/>
          <p:nvPr/>
        </p:nvSpPr>
        <p:spPr>
          <a:xfrm>
            <a:off x="13606272" y="19088100"/>
            <a:ext cx="5705856" cy="86868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Every day marked confirmed has been listened to. Bars show detections above the cutoff, and days differ in weight: 12 May rests on 181 reviewed clips. 13 May’s single bar understates it — seven further confirmed orca clips sit below the cutoff. Ten days are confirmed under v4. The four hollow triangles are days only v10 found — 2, 3, 7 and 29 May — marked rather than drawn as bars, because v4 had almost no detections there to plot. Fourteen days in all; see panel 10.</a:t>
            </a:r>
            <a:endParaRPr lang="en-US" sz="750" dirty="0"/>
          </a:p>
        </p:txBody>
      </p:sp>
      <p:sp>
        <p:nvSpPr>
          <p:cNvPr id="73" name="Shape 60"/>
          <p:cNvSpPr/>
          <p:nvPr/>
        </p:nvSpPr>
        <p:spPr>
          <a:xfrm>
            <a:off x="19860768" y="5577840"/>
            <a:ext cx="6254496" cy="7132320"/>
          </a:xfrm>
          <a:prstGeom prst="roundRect">
            <a:avLst>
              <a:gd name="adj" fmla="val 1316"/>
            </a:avLst>
          </a:prstGeom>
          <a:solidFill>
            <a:srgbClr val="EEF3F7"/>
          </a:solidFill>
          <a:ln w="12700">
            <a:solidFill>
              <a:srgbClr val="D8E2EA"/>
            </a:solidFill>
            <a:prstDash val="solid"/>
          </a:ln>
        </p:spPr>
      </p:sp>
      <p:sp>
        <p:nvSpPr>
          <p:cNvPr id="74" name="Shape 61"/>
          <p:cNvSpPr/>
          <p:nvPr/>
        </p:nvSpPr>
        <p:spPr>
          <a:xfrm>
            <a:off x="20089368" y="5806440"/>
            <a:ext cx="480060" cy="480060"/>
          </a:xfrm>
          <a:prstGeom prst="ellipse">
            <a:avLst/>
          </a:prstGeom>
          <a:solidFill>
            <a:srgbClr val="1C7293"/>
          </a:solidFill>
          <a:ln w="12700">
            <a:solidFill>
              <a:srgbClr val="1C7293"/>
            </a:solidFill>
            <a:prstDash val="solid"/>
          </a:ln>
        </p:spPr>
      </p:sp>
      <p:sp>
        <p:nvSpPr>
          <p:cNvPr id="75" name="Text 62"/>
          <p:cNvSpPr/>
          <p:nvPr/>
        </p:nvSpPr>
        <p:spPr>
          <a:xfrm>
            <a:off x="20089368"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76" name="Text 63"/>
          <p:cNvSpPr/>
          <p:nvPr/>
        </p:nvSpPr>
        <p:spPr>
          <a:xfrm>
            <a:off x="20660868"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Structure between encounters</a:t>
            </a:r>
            <a:endParaRPr lang="en-US" sz="1400" dirty="0"/>
          </a:p>
        </p:txBody>
      </p:sp>
      <p:pic>
        <p:nvPicPr>
          <p:cNvPr id="77" name="Image 11" descr="tsne_orca_by_day_4days_px30_pres_dpi300.png">    </p:cNvPr>
          <p:cNvPicPr>
            <a:picLocks noChangeAspect="1"/>
          </p:cNvPicPr>
          <p:nvPr/>
        </p:nvPicPr>
        <p:blipFill>
          <a:blip r:embed="rId12"/>
          <a:stretch>
            <a:fillRect/>
          </a:stretch>
        </p:blipFill>
        <p:spPr>
          <a:xfrm>
            <a:off x="20135088" y="6583680"/>
            <a:ext cx="5705856" cy="3781044"/>
          </a:xfrm>
          <a:prstGeom prst="rect">
            <a:avLst/>
          </a:prstGeom>
        </p:spPr>
      </p:pic>
      <p:sp>
        <p:nvSpPr>
          <p:cNvPr id="78" name="Text 64"/>
          <p:cNvSpPr/>
          <p:nvPr/>
        </p:nvSpPr>
        <p:spPr>
          <a:xfrm>
            <a:off x="20135088" y="10424160"/>
            <a:ext cx="5705856" cy="91440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Zooming inside the orca cluster: 473 confirmed orca windows, colored by day. The 25 April evening encounter (purple) sits apart from the 13 April morning event (blue), and 12 May holds its own region a month later. The classes separate in the map at left — and within orca, encounters do too. Exploratory; perplexity 30.</a:t>
            </a:r>
            <a:endParaRPr lang="en-US" sz="750" dirty="0"/>
          </a:p>
        </p:txBody>
      </p:sp>
      <p:sp>
        <p:nvSpPr>
          <p:cNvPr id="79" name="Text 65"/>
          <p:cNvSpPr/>
          <p:nvPr/>
        </p:nvSpPr>
        <p:spPr>
          <a:xfrm>
            <a:off x="20135088" y="11430000"/>
            <a:ext cx="5705856" cy="11887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100" dirty="0"/>
          </a:p>
        </p:txBody>
      </p:sp>
      <p:sp>
        <p:nvSpPr>
          <p:cNvPr id="80" name="Shape 66"/>
          <p:cNvSpPr/>
          <p:nvPr/>
        </p:nvSpPr>
        <p:spPr>
          <a:xfrm>
            <a:off x="19860768" y="12984480"/>
            <a:ext cx="6254496" cy="4389120"/>
          </a:xfrm>
          <a:prstGeom prst="roundRect">
            <a:avLst>
              <a:gd name="adj" fmla="val 1875"/>
            </a:avLst>
          </a:prstGeom>
          <a:solidFill>
            <a:srgbClr val="EEF3F7"/>
          </a:solidFill>
          <a:ln w="12700">
            <a:solidFill>
              <a:srgbClr val="D8E2EA"/>
            </a:solidFill>
            <a:prstDash val="solid"/>
          </a:ln>
        </p:spPr>
      </p:sp>
      <p:sp>
        <p:nvSpPr>
          <p:cNvPr id="81" name="Shape 67"/>
          <p:cNvSpPr/>
          <p:nvPr/>
        </p:nvSpPr>
        <p:spPr>
          <a:xfrm>
            <a:off x="20089368" y="13213080"/>
            <a:ext cx="480060" cy="480060"/>
          </a:xfrm>
          <a:prstGeom prst="ellipse">
            <a:avLst/>
          </a:prstGeom>
          <a:solidFill>
            <a:srgbClr val="1C7293"/>
          </a:solidFill>
          <a:ln w="12700">
            <a:solidFill>
              <a:srgbClr val="1C7293"/>
            </a:solidFill>
            <a:prstDash val="solid"/>
          </a:ln>
        </p:spPr>
      </p:sp>
      <p:sp>
        <p:nvSpPr>
          <p:cNvPr id="82" name="Text 68"/>
          <p:cNvSpPr/>
          <p:nvPr/>
        </p:nvSpPr>
        <p:spPr>
          <a:xfrm>
            <a:off x="20089368" y="132130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83" name="Text 69"/>
          <p:cNvSpPr/>
          <p:nvPr/>
        </p:nvSpPr>
        <p:spPr>
          <a:xfrm>
            <a:off x="20660868" y="131445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Seen but not heard</a:t>
            </a:r>
            <a:endParaRPr lang="en-US" sz="1400" dirty="0"/>
          </a:p>
        </p:txBody>
      </p:sp>
      <p:pic>
        <p:nvPicPr>
          <p:cNvPr id="84" name="Image 12" descr="oceans2026_fig8_threshold_sweep_v4.png">    </p:cNvPr>
          <p:cNvPicPr>
            <a:picLocks noChangeAspect="1"/>
          </p:cNvPicPr>
          <p:nvPr/>
        </p:nvPicPr>
        <p:blipFill>
          <a:blip r:embed="rId13"/>
          <a:stretch>
            <a:fillRect/>
          </a:stretch>
        </p:blipFill>
        <p:spPr>
          <a:xfrm>
            <a:off x="20135088" y="14036040"/>
            <a:ext cx="5705856" cy="1636776"/>
          </a:xfrm>
          <a:prstGeom prst="rect">
            <a:avLst/>
          </a:prstGeom>
        </p:spPr>
      </p:pic>
      <p:sp>
        <p:nvSpPr>
          <p:cNvPr id="85" name="Text 70"/>
          <p:cNvSpPr/>
          <p:nvPr/>
        </p:nvSpPr>
        <p:spPr>
          <a:xfrm>
            <a:off x="20135088" y="15773400"/>
            <a:ext cx="5705856" cy="150876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86" name="Shape 71"/>
          <p:cNvSpPr/>
          <p:nvPr/>
        </p:nvSpPr>
        <p:spPr>
          <a:xfrm>
            <a:off x="26389584" y="5577840"/>
            <a:ext cx="6254496" cy="6126480"/>
          </a:xfrm>
          <a:prstGeom prst="roundRect">
            <a:avLst>
              <a:gd name="adj" fmla="val 1343"/>
            </a:avLst>
          </a:prstGeom>
          <a:solidFill>
            <a:srgbClr val="EEF3F7"/>
          </a:solidFill>
          <a:ln w="12700">
            <a:solidFill>
              <a:srgbClr val="D8E2EA"/>
            </a:solidFill>
            <a:prstDash val="solid"/>
          </a:ln>
        </p:spPr>
      </p:sp>
      <p:sp>
        <p:nvSpPr>
          <p:cNvPr id="87" name="Shape 72"/>
          <p:cNvSpPr/>
          <p:nvPr/>
        </p:nvSpPr>
        <p:spPr>
          <a:xfrm>
            <a:off x="26618184" y="5806440"/>
            <a:ext cx="480060" cy="480060"/>
          </a:xfrm>
          <a:prstGeom prst="ellipse">
            <a:avLst/>
          </a:prstGeom>
          <a:solidFill>
            <a:srgbClr val="1C7293"/>
          </a:solidFill>
          <a:ln w="12700">
            <a:solidFill>
              <a:srgbClr val="1C7293"/>
            </a:solidFill>
            <a:prstDash val="solid"/>
          </a:ln>
        </p:spPr>
      </p:sp>
      <p:sp>
        <p:nvSpPr>
          <p:cNvPr id="88" name="Text 73"/>
          <p:cNvSpPr/>
          <p:nvPr/>
        </p:nvSpPr>
        <p:spPr>
          <a:xfrm>
            <a:off x="26618184"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89" name="Text 74"/>
          <p:cNvSpPr/>
          <p:nvPr/>
        </p:nvSpPr>
        <p:spPr>
          <a:xfrm>
            <a:off x="27189684"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Running the loop again</a:t>
            </a:r>
            <a:endParaRPr lang="en-US" sz="1400" dirty="0"/>
          </a:p>
        </p:txBody>
      </p:sp>
      <p:sp>
        <p:nvSpPr>
          <p:cNvPr id="90" name="Text 75"/>
          <p:cNvSpPr/>
          <p:nvPr/>
        </p:nvSpPr>
        <p:spPr>
          <a:xfrm>
            <a:off x="26663904" y="6515100"/>
            <a:ext cx="5705856" cy="411480"/>
          </a:xfrm>
          <a:prstGeom prst="rect">
            <a:avLst/>
          </a:prstGeom>
          <a:noFill/>
          <a:ln/>
        </p:spPr>
        <p:txBody>
          <a:bodyPr wrap="square" lIns="0" tIns="0" rIns="0" bIns="0" rtlCol="0" anchor="t"/>
          <a:lstStyle/>
          <a:p>
            <a:pPr indent="0" marL="0">
              <a:lnSpc>
                <a:spcPts val="1100"/>
              </a:lnSpc>
              <a:buNone/>
            </a:pPr>
            <a:r>
              <a:rPr lang="en-US" sz="950" dirty="0">
                <a:solidFill>
                  <a:srgbClr val="132330"/>
                </a:solidFill>
                <a:latin typeface="Arial" pitchFamily="34" charset="0"/>
                <a:ea typeface="Arial" pitchFamily="34" charset="-122"/>
                <a:cs typeface="Arial" pitchFamily="34" charset="-120"/>
              </a:rPr>
              <a:t>One more turn of the loop, on more labels, produced a second classifier — orca_v10. May 2018 is the referee: neither it nor v4 has ever trained on that month.</a:t>
            </a:r>
            <a:endParaRPr lang="en-US" sz="950" dirty="0"/>
          </a:p>
        </p:txBody>
      </p:sp>
      <p:pic>
        <p:nvPicPr>
          <p:cNvPr id="91" name="Image 13" descr="oceans2026_fig10_v10_holdout.png">    </p:cNvPr>
          <p:cNvPicPr>
            <a:picLocks noChangeAspect="1"/>
          </p:cNvPicPr>
          <p:nvPr/>
        </p:nvPicPr>
        <p:blipFill>
          <a:blip r:embed="rId14"/>
          <a:stretch>
            <a:fillRect/>
          </a:stretch>
        </p:blipFill>
        <p:spPr>
          <a:xfrm>
            <a:off x="26663904" y="7086600"/>
            <a:ext cx="5705856" cy="1463040"/>
          </a:xfrm>
          <a:prstGeom prst="rect">
            <a:avLst/>
          </a:prstGeom>
        </p:spPr>
      </p:pic>
      <p:sp>
        <p:nvSpPr>
          <p:cNvPr id="92" name="Text 76"/>
          <p:cNvSpPr/>
          <p:nvPr/>
        </p:nvSpPr>
        <p:spPr>
          <a:xfrm>
            <a:off x="26663904" y="8686800"/>
            <a:ext cx="5705856" cy="2834640"/>
          </a:xfrm>
          <a:prstGeom prst="rect">
            <a:avLst/>
          </a:prstGeom>
          <a:noFill/>
          <a:ln/>
        </p:spPr>
        <p:txBody>
          <a:bodyPr wrap="square" lIns="0" tIns="0" rIns="0" bIns="0" rtlCol="0" anchor="t"/>
          <a:lstStyle/>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Across the 196 ear-confirmed orca windows in May, v10 scores higher than v4 on 192 of the 195 they share.</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Of v10’s above-threshold detections not already confirmed, all 14 were reviewed by ear and all 14 were orca — no false alarms among those reviewed. May is not exhaustively labeled, so this is not a month-wide false-alarm rate.</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Four fell on days never previously confirmed — 2, 3, 7 and 29 May. May’s confirmed orca days go from four to eight, and the ten days in panel 7 become fourteen.</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The loop does not just produce a detector. Each turn produces a measurably better one.</a:t>
            </a:r>
            <a:endParaRPr lang="en-US" sz="1000" dirty="0"/>
          </a:p>
        </p:txBody>
      </p:sp>
      <p:sp>
        <p:nvSpPr>
          <p:cNvPr id="93" name="Shape 77"/>
          <p:cNvSpPr/>
          <p:nvPr/>
        </p:nvSpPr>
        <p:spPr>
          <a:xfrm>
            <a:off x="26389584" y="11978640"/>
            <a:ext cx="6254496" cy="4389120"/>
          </a:xfrm>
          <a:prstGeom prst="roundRect">
            <a:avLst>
              <a:gd name="adj" fmla="val 1875"/>
            </a:avLst>
          </a:prstGeom>
          <a:solidFill>
            <a:srgbClr val="EEF3F7"/>
          </a:solidFill>
          <a:ln w="12700">
            <a:solidFill>
              <a:srgbClr val="D8E2EA"/>
            </a:solidFill>
            <a:prstDash val="solid"/>
          </a:ln>
        </p:spPr>
      </p:sp>
      <p:sp>
        <p:nvSpPr>
          <p:cNvPr id="94" name="Shape 78"/>
          <p:cNvSpPr/>
          <p:nvPr/>
        </p:nvSpPr>
        <p:spPr>
          <a:xfrm>
            <a:off x="26618184" y="12207240"/>
            <a:ext cx="480060" cy="480060"/>
          </a:xfrm>
          <a:prstGeom prst="ellipse">
            <a:avLst/>
          </a:prstGeom>
          <a:solidFill>
            <a:srgbClr val="1C7293"/>
          </a:solidFill>
          <a:ln w="12700">
            <a:solidFill>
              <a:srgbClr val="1C7293"/>
            </a:solidFill>
            <a:prstDash val="solid"/>
          </a:ln>
        </p:spPr>
      </p:sp>
      <p:sp>
        <p:nvSpPr>
          <p:cNvPr id="95" name="Text 79"/>
          <p:cNvSpPr/>
          <p:nvPr/>
        </p:nvSpPr>
        <p:spPr>
          <a:xfrm>
            <a:off x="26618184" y="122072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11</a:t>
            </a:r>
            <a:endParaRPr lang="en-US" sz="1400" dirty="0"/>
          </a:p>
        </p:txBody>
      </p:sp>
      <p:sp>
        <p:nvSpPr>
          <p:cNvPr id="96" name="Text 80"/>
          <p:cNvSpPr/>
          <p:nvPr/>
        </p:nvSpPr>
        <p:spPr>
          <a:xfrm>
            <a:off x="27189684" y="121386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Measured limits</a:t>
            </a:r>
            <a:endParaRPr lang="en-US" sz="1400" dirty="0"/>
          </a:p>
        </p:txBody>
      </p:sp>
      <p:sp>
        <p:nvSpPr>
          <p:cNvPr id="97" name="Text 81"/>
          <p:cNvSpPr/>
          <p:nvPr/>
        </p:nvSpPr>
        <p:spPr>
          <a:xfrm>
            <a:off x="26663904" y="12915900"/>
            <a:ext cx="5705856" cy="365760"/>
          </a:xfrm>
          <a:prstGeom prst="rect">
            <a:avLst/>
          </a:prstGeom>
          <a:noFill/>
          <a:ln/>
        </p:spPr>
        <p:txBody>
          <a:bodyPr wrap="square" lIns="0" tIns="0" rIns="0" bIns="0" rtlCol="0" anchor="t"/>
          <a:lstStyle/>
          <a:p>
            <a:pPr indent="0" marL="0">
              <a:lnSpc>
                <a:spcPts val="950"/>
              </a:lnSpc>
              <a:buNone/>
            </a:pPr>
            <a:r>
              <a:rPr lang="en-US" sz="800" i="1" dirty="0">
                <a:solidFill>
                  <a:srgbClr val="4A5C6A"/>
                </a:solidFill>
                <a:latin typeface="Arial" pitchFamily="34" charset="0"/>
                <a:ea typeface="Arial" pitchFamily="34" charset="-122"/>
                <a:cs typeface="Arial" pitchFamily="34" charset="-120"/>
              </a:rPr>
              <a:t>Per-class scores for orca_v10, on 459 held-out windows. Each class has its own cutoff.</a:t>
            </a:r>
            <a:endParaRPr lang="en-US" sz="800" dirty="0"/>
          </a:p>
        </p:txBody>
      </p:sp>
      <p:pic>
        <p:nvPicPr>
          <p:cNvPr id="98" name="Image 14" descr="oceans2026_fig9_per_class_f1_v4.png">    </p:cNvPr>
          <p:cNvPicPr>
            <a:picLocks noChangeAspect="1"/>
          </p:cNvPicPr>
          <p:nvPr/>
        </p:nvPicPr>
        <p:blipFill>
          <a:blip r:embed="rId15"/>
          <a:stretch>
            <a:fillRect/>
          </a:stretch>
        </p:blipFill>
        <p:spPr>
          <a:xfrm>
            <a:off x="26663904" y="13350240"/>
            <a:ext cx="5705856" cy="1495044"/>
          </a:xfrm>
          <a:prstGeom prst="rect">
            <a:avLst/>
          </a:prstGeom>
        </p:spPr>
      </p:pic>
      <p:sp>
        <p:nvSpPr>
          <p:cNvPr id="99" name="Text 82"/>
          <p:cNvSpPr/>
          <p:nvPr/>
        </p:nvSpPr>
        <p:spPr>
          <a:xfrm>
            <a:off x="26663904" y="14950440"/>
            <a:ext cx="5705856" cy="1325880"/>
          </a:xfrm>
          <a:prstGeom prst="rect">
            <a:avLst/>
          </a:prstGeom>
          <a:noFill/>
          <a:ln/>
        </p:spPr>
        <p:txBody>
          <a:bodyPr wrap="square" lIns="0" tIns="0" rIns="0" bIns="0" rtlCol="0" anchor="t"/>
          <a:lstStyle/>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Each class needs its own cutoff — the best values run from +0.79 to +2.31, so one global setting cannot serve them all. v10’s orca cutoff of +2.31 is its own optimum, not a correction to the +1.16 used with v4 elsewhere here.</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Cutoffs are set on months the model did not train on, never on the month being analyzed.</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950" dirty="0"/>
          </a:p>
        </p:txBody>
      </p:sp>
      <p:sp>
        <p:nvSpPr>
          <p:cNvPr id="100" name="Shape 83"/>
          <p:cNvSpPr/>
          <p:nvPr/>
        </p:nvSpPr>
        <p:spPr>
          <a:xfrm>
            <a:off x="26389584" y="16642080"/>
            <a:ext cx="6254496" cy="3749040"/>
          </a:xfrm>
          <a:prstGeom prst="roundRect">
            <a:avLst>
              <a:gd name="adj" fmla="val 2195"/>
            </a:avLst>
          </a:prstGeom>
          <a:solidFill>
            <a:srgbClr val="EEF3F7"/>
          </a:solidFill>
          <a:ln w="12700">
            <a:solidFill>
              <a:srgbClr val="D8E2EA"/>
            </a:solidFill>
            <a:prstDash val="solid"/>
          </a:ln>
        </p:spPr>
      </p:sp>
      <p:sp>
        <p:nvSpPr>
          <p:cNvPr id="101" name="Shape 84"/>
          <p:cNvSpPr/>
          <p:nvPr/>
        </p:nvSpPr>
        <p:spPr>
          <a:xfrm>
            <a:off x="26618184" y="16870680"/>
            <a:ext cx="480060" cy="480060"/>
          </a:xfrm>
          <a:prstGeom prst="ellipse">
            <a:avLst/>
          </a:prstGeom>
          <a:solidFill>
            <a:srgbClr val="1C7293"/>
          </a:solidFill>
          <a:ln w="12700">
            <a:solidFill>
              <a:srgbClr val="1C7293"/>
            </a:solidFill>
            <a:prstDash val="solid"/>
          </a:ln>
        </p:spPr>
      </p:sp>
      <p:sp>
        <p:nvSpPr>
          <p:cNvPr id="102" name="Text 85"/>
          <p:cNvSpPr/>
          <p:nvPr/>
        </p:nvSpPr>
        <p:spPr>
          <a:xfrm>
            <a:off x="26618184" y="168706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12</a:t>
            </a:r>
            <a:endParaRPr lang="en-US" sz="1400" dirty="0"/>
          </a:p>
        </p:txBody>
      </p:sp>
      <p:sp>
        <p:nvSpPr>
          <p:cNvPr id="103" name="Text 86"/>
          <p:cNvSpPr/>
          <p:nvPr/>
        </p:nvSpPr>
        <p:spPr>
          <a:xfrm>
            <a:off x="27189684" y="168021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Next</a:t>
            </a:r>
            <a:endParaRPr lang="en-US" sz="1400" dirty="0"/>
          </a:p>
        </p:txBody>
      </p:sp>
      <p:sp>
        <p:nvSpPr>
          <p:cNvPr id="104" name="Text 87"/>
          <p:cNvSpPr/>
          <p:nvPr/>
        </p:nvSpPr>
        <p:spPr>
          <a:xfrm>
            <a:off x="26663904" y="17602200"/>
            <a:ext cx="5705856" cy="1097280"/>
          </a:xfrm>
          <a:prstGeom prst="rect">
            <a:avLst/>
          </a:prstGeom>
          <a:noFill/>
          <a:ln/>
        </p:spPr>
        <p:txBody>
          <a:bodyPr wrap="square" lIns="0" tIns="0" rIns="0" bIns="0" rtlCol="0" anchor="t"/>
          <a:lstStyle/>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Humpback vocalization is one broad class covering song and a wide range of other calls. Separating them is the likeliest route to lifting the weakest scores here.</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Each of the two would then need its own score cutoff, as every class already has.</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Extending to the Southern Resident and Offshore ecotypes.</a:t>
            </a:r>
            <a:endParaRPr lang="en-US" sz="950" dirty="0"/>
          </a:p>
        </p:txBody>
      </p:sp>
      <p:sp>
        <p:nvSpPr>
          <p:cNvPr id="105" name="Text 88"/>
          <p:cNvSpPr/>
          <p:nvPr/>
        </p:nvSpPr>
        <p:spPr>
          <a:xfrm>
            <a:off x="26663904" y="18745200"/>
            <a:ext cx="5705856" cy="228600"/>
          </a:xfrm>
          <a:prstGeom prst="rect">
            <a:avLst/>
          </a:prstGeom>
          <a:noFill/>
          <a:ln/>
        </p:spPr>
        <p:txBody>
          <a:bodyPr wrap="square" lIns="0" tIns="0" rIns="0" bIns="0" rtlCol="0" anchor="ctr"/>
          <a:lstStyle/>
          <a:p>
            <a:pPr indent="0" marL="0">
              <a:buNone/>
            </a:pPr>
            <a:r>
              <a:rPr lang="en-US" sz="1000" b="1" dirty="0">
                <a:solidFill>
                  <a:srgbClr val="0B2545"/>
                </a:solidFill>
                <a:latin typeface="Cambria" pitchFamily="34" charset="0"/>
                <a:ea typeface="Cambria" pitchFamily="34" charset="-122"/>
                <a:cs typeface="Cambria" pitchFamily="34" charset="-120"/>
              </a:rPr>
              <a:t>Acknowledgements</a:t>
            </a:r>
            <a:endParaRPr lang="en-US" sz="1000" dirty="0"/>
          </a:p>
        </p:txBody>
      </p:sp>
      <p:sp>
        <p:nvSpPr>
          <p:cNvPr id="106" name="Text 89"/>
          <p:cNvSpPr/>
          <p:nvPr/>
        </p:nvSpPr>
        <p:spPr>
          <a:xfrm>
            <a:off x="26663904" y="18973800"/>
            <a:ext cx="5705856" cy="548640"/>
          </a:xfrm>
          <a:prstGeom prst="rect">
            <a:avLst/>
          </a:prstGeom>
          <a:noFill/>
          <a:ln/>
        </p:spPr>
        <p:txBody>
          <a:bodyPr wrap="square" lIns="0" tIns="0" rIns="0" bIns="0" rtlCol="0" anchor="t"/>
          <a:lstStyle/>
          <a:p>
            <a:pPr indent="0" marL="0">
              <a:lnSpc>
                <a:spcPts val="850"/>
              </a:lnSpc>
              <a:buNone/>
            </a:pPr>
            <a:r>
              <a:rPr lang="en-US" sz="75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750" dirty="0"/>
          </a:p>
        </p:txBody>
      </p:sp>
      <p:sp>
        <p:nvSpPr>
          <p:cNvPr id="107" name="Text 90"/>
          <p:cNvSpPr/>
          <p:nvPr/>
        </p:nvSpPr>
        <p:spPr>
          <a:xfrm>
            <a:off x="26663904" y="19476720"/>
            <a:ext cx="5705856" cy="228600"/>
          </a:xfrm>
          <a:prstGeom prst="rect">
            <a:avLst/>
          </a:prstGeom>
          <a:noFill/>
          <a:ln/>
        </p:spPr>
        <p:txBody>
          <a:bodyPr wrap="square" lIns="0" tIns="0" rIns="0" bIns="0" rtlCol="0" anchor="ctr"/>
          <a:lstStyle/>
          <a:p>
            <a:pPr indent="0" marL="0">
              <a:buNone/>
            </a:pPr>
            <a:r>
              <a:rPr lang="en-US" sz="1000" b="1" dirty="0">
                <a:solidFill>
                  <a:srgbClr val="0B2545"/>
                </a:solidFill>
                <a:latin typeface="Cambria" pitchFamily="34" charset="0"/>
                <a:ea typeface="Cambria" pitchFamily="34" charset="-122"/>
                <a:cs typeface="Cambria" pitchFamily="34" charset="-120"/>
              </a:rPr>
              <a:t>Selected references</a:t>
            </a:r>
            <a:endParaRPr lang="en-US" sz="1000" dirty="0"/>
          </a:p>
        </p:txBody>
      </p:sp>
      <p:sp>
        <p:nvSpPr>
          <p:cNvPr id="108" name="Text 91"/>
          <p:cNvSpPr/>
          <p:nvPr/>
        </p:nvSpPr>
        <p:spPr>
          <a:xfrm>
            <a:off x="26663904" y="19705320"/>
            <a:ext cx="5705856" cy="685800"/>
          </a:xfrm>
          <a:prstGeom prst="rect">
            <a:avLst/>
          </a:prstGeom>
          <a:noFill/>
          <a:ln/>
        </p:spPr>
        <p:txBody>
          <a:bodyPr wrap="square" lIns="0" tIns="0" rIns="0" bIns="0" rtlCol="0" anchor="t"/>
          <a:lstStyle/>
          <a:p>
            <a:pPr indent="0" marL="0">
              <a:lnSpc>
                <a:spcPts val="750"/>
              </a:lnSpc>
              <a:buNone/>
            </a:pPr>
            <a:r>
              <a:rPr lang="en-US" sz="650" dirty="0">
                <a:solidFill>
                  <a:srgbClr val="4A5C6A"/>
                </a:solidFill>
                <a:latin typeface="Arial" pitchFamily="34" charset="0"/>
                <a:ea typeface="Arial" pitchFamily="34" charset="-122"/>
                <a:cs typeface="Arial" pitchFamily="34" charset="-120"/>
              </a:rPr>
              <a:t>van Merriënboer et al. (2025) Perch 2.0, arXiv:2508.04665  ·  Burns et al. (2025) Perch 2.0 transfers ‘whale’ to underwater tasks, arXiv:2512.03219  ·  Google Research, perch-hoplite  ·  Harvey, Allen &amp; Harrell (2024) multispecies-whale, Kaggle  ·  Bonhoeffer et al. (2026) orcAI, Mar. Mamm. Sci. 42(1) e70083, doi:10.1111/mms.70083  ·  Ryan et al. (2016) OCEANS 2016 MTS/IEEE Monterey, doi:10.1109/OCEANS.2016.7761363  ·  McInnes et al. (2023) Bigg’s killer whale catalog, NOAA SWFSC, doi:10.25923/0q3f-1812</a:t>
            </a:r>
            <a:endParaRPr lang="en-US" sz="650" dirty="0"/>
          </a:p>
        </p:txBody>
      </p:sp>
      <p:sp>
        <p:nvSpPr>
          <p:cNvPr id="109" name="Shape 92"/>
          <p:cNvSpPr/>
          <p:nvPr/>
        </p:nvSpPr>
        <p:spPr>
          <a:xfrm>
            <a:off x="31683960" y="20825460"/>
            <a:ext cx="960120" cy="960120"/>
          </a:xfrm>
          <a:prstGeom prst="rect">
            <a:avLst/>
          </a:prstGeom>
          <a:solidFill>
            <a:srgbClr val="FFFFFF"/>
          </a:solidFill>
          <a:ln w="25400">
            <a:solidFill>
              <a:srgbClr val="1C7293"/>
            </a:solidFill>
            <a:prstDash val="dash"/>
          </a:ln>
        </p:spPr>
      </p:sp>
      <p:sp>
        <p:nvSpPr>
          <p:cNvPr id="110" name="Text 93"/>
          <p:cNvSpPr/>
          <p:nvPr/>
        </p:nvSpPr>
        <p:spPr>
          <a:xfrm>
            <a:off x="31683960" y="20825460"/>
            <a:ext cx="960120" cy="96012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111" name="Text 94"/>
          <p:cNvSpPr/>
          <p:nvPr/>
        </p:nvSpPr>
        <p:spPr>
          <a:xfrm>
            <a:off x="28072080" y="20825460"/>
            <a:ext cx="3383280" cy="96012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112" name="Text 95"/>
          <p:cNvSpPr/>
          <p:nvPr/>
        </p:nvSpPr>
        <p:spPr>
          <a:xfrm>
            <a:off x="274320" y="20894040"/>
            <a:ext cx="266547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2026-08-24T22:17:21Z</dcterms:created>
  <dcterms:modified xsi:type="dcterms:W3CDTF">2026-08-24T22:17:21Z</dcterms:modified>
</cp:coreProperties>
</file>