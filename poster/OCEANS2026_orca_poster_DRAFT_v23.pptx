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8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1,336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 — all of it;</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873 of them built the presented model</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colour scale, so brightness and detail are directly comparable. Orca and humpback song both carry tonal, harmonically stacked content in overlapping bands — which is why the classifier confuses them.</a:t>
            </a:r>
            <a:endParaRPr lang="en-US" sz="900" dirty="0"/>
          </a:p>
        </p:txBody>
      </p:sp>
      <p:sp>
        <p:nvSpPr>
          <p:cNvPr id="39" name="Shape 35"/>
          <p:cNvSpPr/>
          <p:nvPr/>
        </p:nvSpPr>
        <p:spPr>
          <a:xfrm>
            <a:off x="8435340" y="5577840"/>
            <a:ext cx="7886700" cy="4846320"/>
          </a:xfrm>
          <a:prstGeom prst="roundRect">
            <a:avLst>
              <a:gd name="adj" fmla="val 1698"/>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184130" y="8732520"/>
            <a:ext cx="4389120" cy="1613916"/>
          </a:xfrm>
          <a:prstGeom prst="rect">
            <a:avLst/>
          </a:prstGeom>
        </p:spPr>
      </p:pic>
      <p:sp>
        <p:nvSpPr>
          <p:cNvPr id="45" name="Shape 40"/>
          <p:cNvSpPr/>
          <p:nvPr/>
        </p:nvSpPr>
        <p:spPr>
          <a:xfrm>
            <a:off x="8435340" y="10698480"/>
            <a:ext cx="7886700" cy="4572000"/>
          </a:xfrm>
          <a:prstGeom prst="roundRect">
            <a:avLst>
              <a:gd name="adj" fmla="val 1800"/>
            </a:avLst>
          </a:prstGeom>
          <a:solidFill>
            <a:srgbClr val="EEF3F7"/>
          </a:solidFill>
          <a:ln w="12700">
            <a:solidFill>
              <a:srgbClr val="D8E2EA"/>
            </a:solidFill>
            <a:prstDash val="solid"/>
          </a:ln>
        </p:spPr>
      </p:sp>
      <p:sp>
        <p:nvSpPr>
          <p:cNvPr id="46" name="Shape 41"/>
          <p:cNvSpPr/>
          <p:nvPr/>
        </p:nvSpPr>
        <p:spPr>
          <a:xfrm>
            <a:off x="8686800" y="1092708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_dpi300.png">    </p:cNvPr>
          <p:cNvPicPr>
            <a:picLocks noChangeAspect="1"/>
          </p:cNvPicPr>
          <p:nvPr/>
        </p:nvPicPr>
        <p:blipFill>
          <a:blip r:embed="rId4"/>
          <a:stretch>
            <a:fillRect/>
          </a:stretch>
        </p:blipFill>
        <p:spPr>
          <a:xfrm>
            <a:off x="10595610" y="11704320"/>
            <a:ext cx="3566160" cy="2971800"/>
          </a:xfrm>
          <a:prstGeom prst="rect">
            <a:avLst/>
          </a:prstGeom>
        </p:spPr>
      </p:pic>
      <p:sp>
        <p:nvSpPr>
          <p:cNvPr id="50" name="Text 44"/>
          <p:cNvSpPr/>
          <p:nvPr/>
        </p:nvSpPr>
        <p:spPr>
          <a:xfrm>
            <a:off x="8709660" y="14721840"/>
            <a:ext cx="7338060" cy="54864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which is the premise this method rests on. Where classes visibly overlap, orca against humpback, is the same confusion the spectrogram row shows and the scores in panel 10 measure. The humpback class here covers vocalization broadly, not only song.</a:t>
            </a:r>
            <a:endParaRPr lang="en-US" sz="800" dirty="0"/>
          </a:p>
        </p:txBody>
      </p:sp>
      <p:sp>
        <p:nvSpPr>
          <p:cNvPr id="51" name="Shape 45"/>
          <p:cNvSpPr/>
          <p:nvPr/>
        </p:nvSpPr>
        <p:spPr>
          <a:xfrm>
            <a:off x="8435340" y="15544800"/>
            <a:ext cx="7886700" cy="5212080"/>
          </a:xfrm>
          <a:prstGeom prst="roundRect">
            <a:avLst>
              <a:gd name="adj" fmla="val 1579"/>
            </a:avLst>
          </a:prstGeom>
          <a:solidFill>
            <a:srgbClr val="EEF3F7"/>
          </a:solidFill>
          <a:ln w="12700">
            <a:solidFill>
              <a:srgbClr val="D8E2EA"/>
            </a:solidFill>
            <a:prstDash val="solid"/>
          </a:ln>
        </p:spPr>
      </p:sp>
      <p:sp>
        <p:nvSpPr>
          <p:cNvPr id="52" name="Shape 46"/>
          <p:cNvSpPr/>
          <p:nvPr/>
        </p:nvSpPr>
        <p:spPr>
          <a:xfrm>
            <a:off x="8686800" y="1577340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577340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573682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50492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v4 (+8) is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105120"/>
            <a:ext cx="5394960" cy="2157984"/>
          </a:xfrm>
          <a:prstGeom prst="rect">
            <a:avLst/>
          </a:prstGeom>
        </p:spPr>
      </p:pic>
      <p:sp>
        <p:nvSpPr>
          <p:cNvPr id="57" name="Text 50"/>
          <p:cNvSpPr/>
          <p:nvPr/>
        </p:nvSpPr>
        <p:spPr>
          <a:xfrm>
            <a:off x="8709660" y="20299680"/>
            <a:ext cx="7338060" cy="4343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Before v0: four of those hours — nearly half the project’s total — went on hand review across six sessions on April 2018 audio: two 50-clip rounds of orca-or-not calls, then three 25-clip waves adding dolphin and humpback, every humpback clip checked by John Ryan. Hence v0’s 584 labels.</a:t>
            </a:r>
            <a:endParaRPr lang="en-US" sz="850" dirty="0"/>
          </a:p>
        </p:txBody>
      </p:sp>
      <p:sp>
        <p:nvSpPr>
          <p:cNvPr id="58" name="Shape 51"/>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9" name="Shape 52"/>
          <p:cNvSpPr/>
          <p:nvPr/>
        </p:nvSpPr>
        <p:spPr>
          <a:xfrm>
            <a:off x="16847820" y="5806440"/>
            <a:ext cx="525780" cy="525780"/>
          </a:xfrm>
          <a:prstGeom prst="ellipse">
            <a:avLst/>
          </a:prstGeom>
          <a:solidFill>
            <a:srgbClr val="1C7293"/>
          </a:solidFill>
          <a:ln w="12700">
            <a:solidFill>
              <a:srgbClr val="1C7293"/>
            </a:solidFill>
            <a:prstDash val="solid"/>
          </a:ln>
        </p:spPr>
      </p:sp>
      <p:sp>
        <p:nvSpPr>
          <p:cNvPr id="60" name="Text 53"/>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1" name="Text 54"/>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2" name="Text 55"/>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 April 2018 is a sustained two-week presence.</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with 13, 14 and 16 May confirmed on later review (+8 labels; 13 May rests on a single clip).</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Eight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3"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4" name="Text 56"/>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Days carry very different weight: 12 May rests on 181 reviewed clips, 13 May on one. 23 and 24 April were detected but never individually listened to, so they are not counted.</a:t>
            </a:r>
            <a:endParaRPr lang="en-US" sz="900" dirty="0"/>
          </a:p>
        </p:txBody>
      </p:sp>
      <p:sp>
        <p:nvSpPr>
          <p:cNvPr id="65" name="Shape 57"/>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6" name="Shape 58"/>
          <p:cNvSpPr/>
          <p:nvPr/>
        </p:nvSpPr>
        <p:spPr>
          <a:xfrm>
            <a:off x="16847820" y="13761720"/>
            <a:ext cx="525780" cy="525780"/>
          </a:xfrm>
          <a:prstGeom prst="ellipse">
            <a:avLst/>
          </a:prstGeom>
          <a:solidFill>
            <a:srgbClr val="1C7293"/>
          </a:solidFill>
          <a:ln w="12700">
            <a:solidFill>
              <a:srgbClr val="1C7293"/>
            </a:solidFill>
            <a:prstDash val="solid"/>
          </a:ln>
        </p:spPr>
      </p:sp>
      <p:sp>
        <p:nvSpPr>
          <p:cNvPr id="67" name="Text 59"/>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8" name="Text 60"/>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9" name="Image 6" descr="tsne_orca_by_day_4days_px30_pres_dpi300.png">    </p:cNvPr>
          <p:cNvPicPr>
            <a:picLocks noChangeAspect="1"/>
          </p:cNvPicPr>
          <p:nvPr/>
        </p:nvPicPr>
        <p:blipFill>
          <a:blip r:embed="rId7"/>
          <a:stretch>
            <a:fillRect/>
          </a:stretch>
        </p:blipFill>
        <p:spPr>
          <a:xfrm>
            <a:off x="17910810" y="14584680"/>
            <a:ext cx="5257800" cy="3483864"/>
          </a:xfrm>
          <a:prstGeom prst="rect">
            <a:avLst/>
          </a:prstGeom>
        </p:spPr>
      </p:pic>
      <p:sp>
        <p:nvSpPr>
          <p:cNvPr id="70" name="Text 61"/>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coloured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1" name="Text 62"/>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2" name="Shape 63"/>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3" name="Shape 64"/>
          <p:cNvSpPr/>
          <p:nvPr/>
        </p:nvSpPr>
        <p:spPr>
          <a:xfrm>
            <a:off x="25008840" y="5806440"/>
            <a:ext cx="525780" cy="525780"/>
          </a:xfrm>
          <a:prstGeom prst="ellipse">
            <a:avLst/>
          </a:prstGeom>
          <a:solidFill>
            <a:srgbClr val="1C7293"/>
          </a:solidFill>
          <a:ln w="12700">
            <a:solidFill>
              <a:srgbClr val="1C7293"/>
            </a:solidFill>
            <a:prstDash val="solid"/>
          </a:ln>
        </p:spPr>
      </p:sp>
      <p:sp>
        <p:nvSpPr>
          <p:cNvPr id="74" name="Text 65"/>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5" name="Text 66"/>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6"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7" name="Text 67"/>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8" name="Shape 68"/>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9" name="Shape 69"/>
          <p:cNvSpPr/>
          <p:nvPr/>
        </p:nvSpPr>
        <p:spPr>
          <a:xfrm>
            <a:off x="25008840" y="10927080"/>
            <a:ext cx="525780" cy="525780"/>
          </a:xfrm>
          <a:prstGeom prst="ellipse">
            <a:avLst/>
          </a:prstGeom>
          <a:solidFill>
            <a:srgbClr val="1C7293"/>
          </a:solidFill>
          <a:ln w="12700">
            <a:solidFill>
              <a:srgbClr val="1C7293"/>
            </a:solidFill>
            <a:prstDash val="solid"/>
          </a:ln>
        </p:spPr>
      </p:sp>
      <p:sp>
        <p:nvSpPr>
          <p:cNvPr id="80" name="Text 70"/>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1" name="Text 71"/>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sp>
        <p:nvSpPr>
          <p:cNvPr id="82" name="Text 72"/>
          <p:cNvSpPr/>
          <p:nvPr/>
        </p:nvSpPr>
        <p:spPr>
          <a:xfrm>
            <a:off x="25031700" y="11681460"/>
            <a:ext cx="7338060" cy="4114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Panels 1–9 present v4. The scores below come from orca_v10 — the same three-season recipe retrained on 1,076 labels (v4: 803), including the orca days and ship-noise pass confirmed since. Each class has its own cutoff.</a:t>
            </a:r>
            <a:endParaRPr lang="en-US" sz="900" dirty="0"/>
          </a:p>
        </p:txBody>
      </p:sp>
      <p:pic>
        <p:nvPicPr>
          <p:cNvPr id="83" name="Image 8" descr="oceans2026_fig9_per_class_f1_v4.png">    </p:cNvPr>
          <p:cNvPicPr>
            <a:picLocks noChangeAspect="1"/>
          </p:cNvPicPr>
          <p:nvPr/>
        </p:nvPicPr>
        <p:blipFill>
          <a:blip r:embed="rId9"/>
          <a:stretch>
            <a:fillRect/>
          </a:stretch>
        </p:blipFill>
        <p:spPr>
          <a:xfrm>
            <a:off x="25031700" y="12184380"/>
            <a:ext cx="7338060" cy="1920240"/>
          </a:xfrm>
          <a:prstGeom prst="rect">
            <a:avLst/>
          </a:prstGeom>
        </p:spPr>
      </p:pic>
      <p:sp>
        <p:nvSpPr>
          <p:cNvPr id="84" name="Text 73"/>
          <p:cNvSpPr/>
          <p:nvPr/>
        </p:nvSpPr>
        <p:spPr>
          <a:xfrm>
            <a:off x="25031700" y="14218920"/>
            <a:ext cx="7338060" cy="128016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Cutoffs are set on months the model did not train on, never on the month being analysed.</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00" dirty="0"/>
          </a:p>
        </p:txBody>
      </p:sp>
      <p:sp>
        <p:nvSpPr>
          <p:cNvPr id="85" name="Shape 74"/>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6" name="Shape 75"/>
          <p:cNvSpPr/>
          <p:nvPr/>
        </p:nvSpPr>
        <p:spPr>
          <a:xfrm>
            <a:off x="25008840" y="16047720"/>
            <a:ext cx="525780" cy="525780"/>
          </a:xfrm>
          <a:prstGeom prst="ellipse">
            <a:avLst/>
          </a:prstGeom>
          <a:solidFill>
            <a:srgbClr val="1C7293"/>
          </a:solidFill>
          <a:ln w="12700">
            <a:solidFill>
              <a:srgbClr val="1C7293"/>
            </a:solidFill>
            <a:prstDash val="solid"/>
          </a:ln>
        </p:spPr>
      </p:sp>
      <p:sp>
        <p:nvSpPr>
          <p:cNvPr id="87" name="Text 76"/>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8" name="Text 77"/>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9" name="Text 78"/>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90" name="Text 79"/>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91" name="Text 80"/>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2" name="Text 81"/>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3" name="Text 82"/>
          <p:cNvSpPr/>
          <p:nvPr/>
        </p:nvSpPr>
        <p:spPr>
          <a:xfrm>
            <a:off x="25031700" y="19499580"/>
            <a:ext cx="7338060" cy="1188720"/>
          </a:xfrm>
          <a:prstGeom prst="rect">
            <a:avLst/>
          </a:prstGeom>
          <a:noFill/>
          <a:ln/>
        </p:spPr>
        <p:txBody>
          <a:bodyPr wrap="square" lIns="0" tIns="0" rIns="0" bIns="0" rtlCol="0" anchor="t"/>
          <a:lstStyle/>
          <a:p>
            <a:pPr indent="0" marL="0">
              <a:lnSpc>
                <a:spcPts val="950"/>
              </a:lnSpc>
              <a:buNone/>
            </a:pPr>
            <a:r>
              <a:rPr lang="en-US" sz="800" dirty="0">
                <a:solidFill>
                  <a:srgbClr val="4A5C6A"/>
                </a:solidFill>
                <a:latin typeface="Arial" pitchFamily="34" charset="0"/>
                <a:ea typeface="Arial" pitchFamily="34" charset="-122"/>
                <a:cs typeface="Arial" pitchFamily="34" charset="-120"/>
              </a:rPr>
              <a:t>van Merriënboer et al. (2025) Perch 2.0: the bittern lesson for bioacoustics, arXiv:2508.04665  ·  Burns et al. (2025) Perch 2.0 transfers ‘whale’ to underwater tasks, arXiv:2512.03219  ·  Google Research, perch-hoplite (GitHub)  ·  Harvey, Allen &amp; Harrell (2024) multispecies-whale, Kaggle  ·  Bonhoeffer et al. (2026) orcAI: a machine learning tool to detect and classify acoustic signals of killer whales, Mar. Mamm. Sci. 42(1) e70083, doi:10.1111/mms.70083  ·  Ryan et al. (2016) New passive acoustic monitoring in Monterey Bay National Marine Sanctuary, OCEANS 2016 MTS/IEEE Monterey, pp. 1–8, doi:10.1109/OCEANS.2016.7761363  ·  McInnes et al. (2023) Identification catalog and field guide for transient (Bigg’s) killer whales of Monterey Bay and California waters, NOAA SWFSC, doi:10.25923/0q3f-1812</a:t>
            </a:r>
            <a:endParaRPr lang="en-US" sz="800" dirty="0"/>
          </a:p>
        </p:txBody>
      </p:sp>
      <p:sp>
        <p:nvSpPr>
          <p:cNvPr id="94" name="Shape 83"/>
          <p:cNvSpPr/>
          <p:nvPr/>
        </p:nvSpPr>
        <p:spPr>
          <a:xfrm>
            <a:off x="30815280" y="20894040"/>
            <a:ext cx="914400" cy="914400"/>
          </a:xfrm>
          <a:prstGeom prst="rect">
            <a:avLst/>
          </a:prstGeom>
          <a:solidFill>
            <a:srgbClr val="FFFFFF"/>
          </a:solidFill>
          <a:ln w="25400">
            <a:solidFill>
              <a:srgbClr val="1C7293"/>
            </a:solidFill>
            <a:prstDash val="dash"/>
          </a:ln>
        </p:spPr>
      </p:sp>
      <p:sp>
        <p:nvSpPr>
          <p:cNvPr id="95" name="Text 84"/>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6" name="Text 85"/>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7" name="Text 86"/>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2026-08-22T17:49:52Z</dcterms:created>
  <dcterms:modified xsi:type="dcterms:W3CDTF">2026-08-22T17:49:52Z</dcterms:modified>
</cp:coreProperties>
</file>