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32918400" cy="21945600"/>
  <p:notesSz cx="21945600" cy="32918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slideLayout" Target="../slideLayouts/slideLayout1.xml"/><Relationship Id="rId11"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74320" y="274320"/>
            <a:ext cx="25603200" cy="2560320"/>
          </a:xfrm>
          <a:prstGeom prst="rect">
            <a:avLst/>
          </a:prstGeom>
          <a:solidFill>
            <a:srgbClr val="0B2545"/>
          </a:solidFill>
          <a:ln w="12700">
            <a:solidFill>
              <a:srgbClr val="0B2545"/>
            </a:solidFill>
            <a:prstDash val="solid"/>
          </a:ln>
        </p:spPr>
      </p:sp>
      <p:sp>
        <p:nvSpPr>
          <p:cNvPr id="3" name="Text 1"/>
          <p:cNvSpPr/>
          <p:nvPr/>
        </p:nvSpPr>
        <p:spPr>
          <a:xfrm>
            <a:off x="640080" y="388620"/>
            <a:ext cx="24871680" cy="1417320"/>
          </a:xfrm>
          <a:prstGeom prst="rect">
            <a:avLst/>
          </a:prstGeom>
          <a:noFill/>
          <a:ln/>
        </p:spPr>
        <p:txBody>
          <a:bodyPr wrap="square" lIns="0" tIns="0" rIns="0" bIns="0" rtlCol="0" anchor="ctr"/>
          <a:lstStyle/>
          <a:p>
            <a:pPr indent="0" marL="0">
              <a:lnSpc>
                <a:spcPts val="3500"/>
              </a:lnSpc>
              <a:buNone/>
            </a:pPr>
            <a:r>
              <a:rPr lang="en-US" sz="3100" b="1" dirty="0">
                <a:solidFill>
                  <a:srgbClr val="FFFFFF"/>
                </a:solidFill>
                <a:latin typeface="Cambria" pitchFamily="34" charset="0"/>
                <a:ea typeface="Cambria" pitchFamily="34" charset="-122"/>
                <a:cs typeface="Cambria" pitchFamily="34" charset="-120"/>
              </a:rPr>
              <a:t>Application of Foundation Model and Agile Modeling to Passive Acoustic Detection of Orcas in Monterey Bay National Marine Sanctuary</a:t>
            </a:r>
            <a:endParaRPr lang="en-US" sz="3100" dirty="0"/>
          </a:p>
        </p:txBody>
      </p:sp>
      <p:sp>
        <p:nvSpPr>
          <p:cNvPr id="4" name="Text 2"/>
          <p:cNvSpPr/>
          <p:nvPr/>
        </p:nvSpPr>
        <p:spPr>
          <a:xfrm>
            <a:off x="640080" y="1851660"/>
            <a:ext cx="24871680" cy="41148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Duane R. Edgington</a:t>
            </a:r>
            <a:pPr indent="0" marL="0">
              <a:buNone/>
            </a:pPr>
            <a:r>
              <a:rPr lang="en-US" sz="1500" dirty="0">
                <a:solidFill>
                  <a:srgbClr val="FFFFFF"/>
                </a:solidFill>
                <a:latin typeface="Arial" pitchFamily="34" charset="0"/>
                <a:ea typeface="Arial" pitchFamily="34" charset="-122"/>
                <a:cs typeface="Arial" pitchFamily="34" charset="-120"/>
              </a:rPr>
              <a:t>  and  </a:t>
            </a:r>
            <a:pPr indent="0" marL="0">
              <a:buNone/>
            </a:pPr>
            <a:r>
              <a:rPr lang="en-US" sz="1500" b="1" dirty="0">
                <a:solidFill>
                  <a:srgbClr val="FFFFFF"/>
                </a:solidFill>
                <a:latin typeface="Arial" pitchFamily="34" charset="0"/>
                <a:ea typeface="Arial" pitchFamily="34" charset="-122"/>
                <a:cs typeface="Arial" pitchFamily="34" charset="-120"/>
              </a:rPr>
              <a:t>John Ryan</a:t>
            </a:r>
            <a:pPr indent="0" marL="0">
              <a:buNone/>
            </a:pPr>
            <a:r>
              <a:rPr lang="en-US" sz="1500" dirty="0">
                <a:solidFill>
                  <a:srgbClr val="FFFFFF"/>
                </a:solidFill>
                <a:latin typeface="Arial" pitchFamily="34" charset="0"/>
                <a:ea typeface="Arial" pitchFamily="34" charset="-122"/>
                <a:cs typeface="Arial" pitchFamily="34" charset="-120"/>
              </a:rPr>
              <a:t>   ·   Monterey Bay Aquarium Research Institute (MBARI), Moss Landing, California, USA</a:t>
            </a:r>
            <a:endParaRPr lang="en-US" sz="1500" dirty="0"/>
          </a:p>
        </p:txBody>
      </p:sp>
      <p:sp>
        <p:nvSpPr>
          <p:cNvPr id="5" name="Text 3"/>
          <p:cNvSpPr/>
          <p:nvPr/>
        </p:nvSpPr>
        <p:spPr>
          <a:xfrm>
            <a:off x="640080" y="2286000"/>
            <a:ext cx="24871680" cy="365760"/>
          </a:xfrm>
          <a:prstGeom prst="rect">
            <a:avLst/>
          </a:prstGeom>
          <a:noFill/>
          <a:ln/>
        </p:spPr>
        <p:txBody>
          <a:bodyPr wrap="square" lIns="0" tIns="0" rIns="0" bIns="0" rtlCol="0" anchor="ctr"/>
          <a:lstStyle/>
          <a:p>
            <a:pPr indent="0" marL="0">
              <a:buNone/>
            </a:pPr>
            <a:r>
              <a:rPr lang="en-US" sz="1200" dirty="0">
                <a:solidFill>
                  <a:srgbClr val="34C6A8"/>
                </a:solidFill>
                <a:latin typeface="Arial" pitchFamily="34" charset="0"/>
                <a:ea typeface="Arial" pitchFamily="34" charset="-122"/>
                <a:cs typeface="Arial" pitchFamily="34" charset="-120"/>
              </a:rPr>
              <a:t>IEEE OCEANS 2026 Monterey  ·  General Poster Track  ·  September 21–24, 2026</a:t>
            </a:r>
            <a:endParaRPr lang="en-US" sz="1200" dirty="0"/>
          </a:p>
        </p:txBody>
      </p:sp>
      <p:sp>
        <p:nvSpPr>
          <p:cNvPr id="6" name="Shape 4"/>
          <p:cNvSpPr/>
          <p:nvPr/>
        </p:nvSpPr>
        <p:spPr>
          <a:xfrm>
            <a:off x="26151840" y="274320"/>
            <a:ext cx="6492240" cy="2560320"/>
          </a:xfrm>
          <a:prstGeom prst="rect">
            <a:avLst/>
          </a:prstGeom>
          <a:solidFill>
            <a:srgbClr val="FFFFFF"/>
          </a:solidFill>
          <a:ln w="25400">
            <a:solidFill>
              <a:srgbClr val="1C7293"/>
            </a:solidFill>
            <a:prstDash val="dash"/>
          </a:ln>
        </p:spPr>
      </p:sp>
      <p:sp>
        <p:nvSpPr>
          <p:cNvPr id="7" name="Text 5"/>
          <p:cNvSpPr/>
          <p:nvPr/>
        </p:nvSpPr>
        <p:spPr>
          <a:xfrm>
            <a:off x="26334720" y="411480"/>
            <a:ext cx="6126480" cy="2286000"/>
          </a:xfrm>
          <a:prstGeom prst="rect">
            <a:avLst/>
          </a:prstGeom>
          <a:noFill/>
          <a:ln/>
        </p:spPr>
        <p:txBody>
          <a:bodyPr wrap="square" lIns="0" tIns="0" rIns="0" bIns="0" rtlCol="0" anchor="ctr"/>
          <a:lstStyle/>
          <a:p>
            <a:pPr algn="ctr" indent="0" marL="0">
              <a:lnSpc>
                <a:spcPts val="1200"/>
              </a:lnSpc>
              <a:buNone/>
            </a:pPr>
            <a:r>
              <a:rPr lang="en-US" sz="1200" b="1" dirty="0">
                <a:solidFill>
                  <a:srgbClr val="1C7293"/>
                </a:solidFill>
                <a:latin typeface="Arial" pitchFamily="34" charset="0"/>
                <a:ea typeface="Arial" pitchFamily="34" charset="-122"/>
                <a:cs typeface="Arial" pitchFamily="34" charset="-120"/>
              </a:rPr>
              <a:t>RESERVED — TEMPLATE BLOCK
</a:t>
            </a:r>
            <a:pPr algn="ctr" indent="0" marL="0">
              <a:lnSpc>
                <a:spcPts val="1200"/>
              </a:lnSpc>
              <a:buNone/>
            </a:pPr>
            <a:r>
              <a:rPr lang="en-US" sz="1000" i="1" dirty="0">
                <a:solidFill>
                  <a:srgbClr val="4A5C6A"/>
                </a:solidFill>
                <a:latin typeface="Arial" pitchFamily="34" charset="0"/>
                <a:ea typeface="Arial" pitchFamily="34" charset="-122"/>
                <a:cs typeface="Arial" pitchFamily="34" charset="-120"/>
              </a:rPr>
              <a:t>Keep the conference logos and the poster-type marker (“Regular Paper”) exactly as supplied in POSTER_TEMPLATE_72x48.pptx. Add MBARI logo here.</a:t>
            </a:r>
            <a:endParaRPr lang="en-US" sz="1200" dirty="0"/>
          </a:p>
        </p:txBody>
      </p:sp>
      <p:sp>
        <p:nvSpPr>
          <p:cNvPr id="8" name="Shape 6"/>
          <p:cNvSpPr/>
          <p:nvPr/>
        </p:nvSpPr>
        <p:spPr>
          <a:xfrm>
            <a:off x="274320" y="3108960"/>
            <a:ext cx="7886700" cy="2103120"/>
          </a:xfrm>
          <a:prstGeom prst="roundRect">
            <a:avLst>
              <a:gd name="adj" fmla="val 3261"/>
            </a:avLst>
          </a:prstGeom>
          <a:solidFill>
            <a:srgbClr val="13315C"/>
          </a:solidFill>
          <a:ln w="12700">
            <a:solidFill>
              <a:srgbClr val="13315C"/>
            </a:solidFill>
            <a:prstDash val="solid"/>
          </a:ln>
        </p:spPr>
      </p:sp>
      <p:sp>
        <p:nvSpPr>
          <p:cNvPr id="9" name="Text 7"/>
          <p:cNvSpPr/>
          <p:nvPr/>
        </p:nvSpPr>
        <p:spPr>
          <a:xfrm>
            <a:off x="502920" y="3268980"/>
            <a:ext cx="7429500" cy="914400"/>
          </a:xfrm>
          <a:prstGeom prst="rect">
            <a:avLst/>
          </a:prstGeom>
          <a:noFill/>
          <a:ln/>
        </p:spPr>
        <p:txBody>
          <a:bodyPr wrap="square" lIns="0" tIns="0" rIns="0" bIns="0" rtlCol="0" anchor="ctr"/>
          <a:lstStyle/>
          <a:p>
            <a:pPr algn="l" indent="0" marL="0">
              <a:buNone/>
            </a:pPr>
            <a:r>
              <a:rPr lang="en-US" sz="3000" b="1" dirty="0">
                <a:solidFill>
                  <a:srgbClr val="34C6A8"/>
                </a:solidFill>
                <a:latin typeface="Cambria" pitchFamily="34" charset="0"/>
                <a:ea typeface="Cambria" pitchFamily="34" charset="-122"/>
                <a:cs typeface="Cambria" pitchFamily="34" charset="-120"/>
              </a:rPr>
              <a:t>8 days</a:t>
            </a:r>
            <a:endParaRPr lang="en-US" sz="3000" dirty="0"/>
          </a:p>
        </p:txBody>
      </p:sp>
      <p:sp>
        <p:nvSpPr>
          <p:cNvPr id="10" name="Text 8"/>
          <p:cNvSpPr/>
          <p:nvPr/>
        </p:nvSpPr>
        <p:spPr>
          <a:xfrm>
            <a:off x="502920" y="4183380"/>
            <a:ext cx="7429500" cy="868680"/>
          </a:xfrm>
          <a:prstGeom prst="rect">
            <a:avLst/>
          </a:prstGeom>
          <a:noFill/>
          <a:ln/>
        </p:spPr>
        <p:txBody>
          <a:bodyPr wrap="square" lIns="0" tIns="0" rIns="0" bIns="0" rtlCol="0" anchor="t"/>
          <a:lstStyle/>
          <a:p>
            <a:pPr algn="l" indent="0" marL="0">
              <a:lnSpc>
                <a:spcPts val="1300"/>
              </a:lnSpc>
              <a:buNone/>
            </a:pPr>
            <a:r>
              <a:rPr lang="en-US" sz="1100" dirty="0">
                <a:solidFill>
                  <a:srgbClr val="FFFFFF"/>
                </a:solidFill>
                <a:latin typeface="Arial" pitchFamily="34" charset="0"/>
                <a:ea typeface="Arial" pitchFamily="34" charset="-122"/>
                <a:cs typeface="Arial" pitchFamily="34" charset="-120"/>
              </a:rPr>
              <a:t>of confirmed killer-whale presence</a:t>
            </a:r>
            <a:endParaRPr lang="en-US" sz="1100" dirty="0"/>
          </a:p>
          <a:p>
            <a:pPr algn="l" indent="0" marL="0">
              <a:lnSpc>
                <a:spcPts val="1300"/>
              </a:lnSpc>
              <a:buNone/>
            </a:pPr>
            <a:r>
              <a:rPr lang="en-US" sz="1100" dirty="0">
                <a:solidFill>
                  <a:srgbClr val="FFFFFF"/>
                </a:solidFill>
                <a:latin typeface="Arial" pitchFamily="34" charset="0"/>
                <a:ea typeface="Arial" pitchFamily="34" charset="-122"/>
                <a:cs typeface="Arial" pitchFamily="34" charset="-120"/>
              </a:rPr>
              <a:t>across April–May 2018</a:t>
            </a:r>
            <a:endParaRPr lang="en-US" sz="1100" dirty="0"/>
          </a:p>
        </p:txBody>
      </p:sp>
      <p:sp>
        <p:nvSpPr>
          <p:cNvPr id="11" name="Shape 9"/>
          <p:cNvSpPr/>
          <p:nvPr/>
        </p:nvSpPr>
        <p:spPr>
          <a:xfrm>
            <a:off x="8435340" y="3108960"/>
            <a:ext cx="7886700" cy="2103120"/>
          </a:xfrm>
          <a:prstGeom prst="roundRect">
            <a:avLst>
              <a:gd name="adj" fmla="val 3261"/>
            </a:avLst>
          </a:prstGeom>
          <a:solidFill>
            <a:srgbClr val="13315C"/>
          </a:solidFill>
          <a:ln w="12700">
            <a:solidFill>
              <a:srgbClr val="13315C"/>
            </a:solidFill>
            <a:prstDash val="solid"/>
          </a:ln>
        </p:spPr>
      </p:sp>
      <p:sp>
        <p:nvSpPr>
          <p:cNvPr id="12" name="Text 10"/>
          <p:cNvSpPr/>
          <p:nvPr/>
        </p:nvSpPr>
        <p:spPr>
          <a:xfrm>
            <a:off x="8663940" y="3268980"/>
            <a:ext cx="7429500" cy="914400"/>
          </a:xfrm>
          <a:prstGeom prst="rect">
            <a:avLst/>
          </a:prstGeom>
          <a:noFill/>
          <a:ln/>
        </p:spPr>
        <p:txBody>
          <a:bodyPr wrap="square" lIns="0" tIns="0" rIns="0" bIns="0" rtlCol="0" anchor="ctr"/>
          <a:lstStyle/>
          <a:p>
            <a:pPr algn="l" indent="0" marL="0">
              <a:buNone/>
            </a:pPr>
            <a:r>
              <a:rPr lang="en-US" sz="3000" b="1" dirty="0">
                <a:solidFill>
                  <a:srgbClr val="34C6A8"/>
                </a:solidFill>
                <a:latin typeface="Cambria" pitchFamily="34" charset="0"/>
                <a:ea typeface="Cambria" pitchFamily="34" charset="-122"/>
                <a:cs typeface="Cambria" pitchFamily="34" charset="-120"/>
              </a:rPr>
              <a:t>95% fewer</a:t>
            </a:r>
            <a:endParaRPr lang="en-US" sz="3000" dirty="0"/>
          </a:p>
        </p:txBody>
      </p:sp>
      <p:sp>
        <p:nvSpPr>
          <p:cNvPr id="13" name="Text 11"/>
          <p:cNvSpPr/>
          <p:nvPr/>
        </p:nvSpPr>
        <p:spPr>
          <a:xfrm>
            <a:off x="8663940" y="4183380"/>
            <a:ext cx="7429500" cy="868680"/>
          </a:xfrm>
          <a:prstGeom prst="rect">
            <a:avLst/>
          </a:prstGeom>
          <a:noFill/>
          <a:ln/>
        </p:spPr>
        <p:txBody>
          <a:bodyPr wrap="square" lIns="0" tIns="0" rIns="0" bIns="0" rtlCol="0" anchor="t"/>
          <a:lstStyle/>
          <a:p>
            <a:pPr algn="l" indent="0" marL="0">
              <a:lnSpc>
                <a:spcPts val="1300"/>
              </a:lnSpc>
              <a:buNone/>
            </a:pPr>
            <a:r>
              <a:rPr lang="en-US" sz="1100" dirty="0">
                <a:solidFill>
                  <a:srgbClr val="FFFFFF"/>
                </a:solidFill>
                <a:latin typeface="Arial" pitchFamily="34" charset="0"/>
                <a:ea typeface="Arial" pitchFamily="34" charset="-122"/>
                <a:cs typeface="Arial" pitchFamily="34" charset="-120"/>
              </a:rPr>
              <a:t>false alarms in a held-out month,</a:t>
            </a:r>
            <a:endParaRPr lang="en-US" sz="1100" dirty="0"/>
          </a:p>
          <a:p>
            <a:pPr algn="l" indent="0" marL="0">
              <a:lnSpc>
                <a:spcPts val="1300"/>
              </a:lnSpc>
              <a:buNone/>
            </a:pPr>
            <a:r>
              <a:rPr lang="en-US" sz="1100" dirty="0">
                <a:solidFill>
                  <a:srgbClr val="FFFFFF"/>
                </a:solidFill>
                <a:latin typeface="Arial" pitchFamily="34" charset="0"/>
                <a:ea typeface="Arial" pitchFamily="34" charset="-122"/>
                <a:cs typeface="Arial" pitchFamily="34" charset="-120"/>
              </a:rPr>
              <a:t>from 17 corrective labels (6,489 → 304)</a:t>
            </a:r>
            <a:endParaRPr lang="en-US" sz="1100" dirty="0"/>
          </a:p>
        </p:txBody>
      </p:sp>
      <p:sp>
        <p:nvSpPr>
          <p:cNvPr id="14" name="Shape 12"/>
          <p:cNvSpPr/>
          <p:nvPr/>
        </p:nvSpPr>
        <p:spPr>
          <a:xfrm>
            <a:off x="16596360" y="3108960"/>
            <a:ext cx="7886700" cy="2103120"/>
          </a:xfrm>
          <a:prstGeom prst="roundRect">
            <a:avLst>
              <a:gd name="adj" fmla="val 3261"/>
            </a:avLst>
          </a:prstGeom>
          <a:solidFill>
            <a:srgbClr val="13315C"/>
          </a:solidFill>
          <a:ln w="12700">
            <a:solidFill>
              <a:srgbClr val="13315C"/>
            </a:solidFill>
            <a:prstDash val="solid"/>
          </a:ln>
        </p:spPr>
      </p:sp>
      <p:sp>
        <p:nvSpPr>
          <p:cNvPr id="15" name="Text 13"/>
          <p:cNvSpPr/>
          <p:nvPr/>
        </p:nvSpPr>
        <p:spPr>
          <a:xfrm>
            <a:off x="16824960" y="3268980"/>
            <a:ext cx="7429500" cy="914400"/>
          </a:xfrm>
          <a:prstGeom prst="rect">
            <a:avLst/>
          </a:prstGeom>
          <a:noFill/>
          <a:ln/>
        </p:spPr>
        <p:txBody>
          <a:bodyPr wrap="square" lIns="0" tIns="0" rIns="0" bIns="0" rtlCol="0" anchor="ctr"/>
          <a:lstStyle/>
          <a:p>
            <a:pPr algn="l" indent="0" marL="0">
              <a:buNone/>
            </a:pPr>
            <a:r>
              <a:rPr lang="en-US" sz="3000" b="1" dirty="0">
                <a:solidFill>
                  <a:srgbClr val="34C6A8"/>
                </a:solidFill>
                <a:latin typeface="Cambria" pitchFamily="34" charset="0"/>
                <a:ea typeface="Cambria" pitchFamily="34" charset="-122"/>
                <a:cs typeface="Cambria" pitchFamily="34" charset="-120"/>
              </a:rPr>
              <a:t>~1,450 labels</a:t>
            </a:r>
            <a:endParaRPr lang="en-US" sz="3000" dirty="0"/>
          </a:p>
        </p:txBody>
      </p:sp>
      <p:sp>
        <p:nvSpPr>
          <p:cNvPr id="16" name="Text 14"/>
          <p:cNvSpPr/>
          <p:nvPr/>
        </p:nvSpPr>
        <p:spPr>
          <a:xfrm>
            <a:off x="16824960" y="4183380"/>
            <a:ext cx="7429500" cy="868680"/>
          </a:xfrm>
          <a:prstGeom prst="rect">
            <a:avLst/>
          </a:prstGeom>
          <a:noFill/>
          <a:ln/>
        </p:spPr>
        <p:txBody>
          <a:bodyPr wrap="square" lIns="0" tIns="0" rIns="0" bIns="0" rtlCol="0" anchor="t"/>
          <a:lstStyle/>
          <a:p>
            <a:pPr algn="l" indent="0" marL="0">
              <a:lnSpc>
                <a:spcPts val="1300"/>
              </a:lnSpc>
              <a:buNone/>
            </a:pPr>
            <a:r>
              <a:rPr lang="en-US" sz="1100" dirty="0">
                <a:solidFill>
                  <a:srgbClr val="FFFFFF"/>
                </a:solidFill>
                <a:latin typeface="Arial" pitchFamily="34" charset="0"/>
                <a:ea typeface="Arial" pitchFamily="34" charset="-122"/>
                <a:cs typeface="Arial" pitchFamily="34" charset="-120"/>
              </a:rPr>
              <a:t>in ~8–10 h of one expert's time;</a:t>
            </a:r>
            <a:endParaRPr lang="en-US" sz="1100" dirty="0"/>
          </a:p>
          <a:p>
            <a:pPr algn="l" indent="0" marL="0">
              <a:lnSpc>
                <a:spcPts val="1300"/>
              </a:lnSpc>
              <a:buNone/>
            </a:pPr>
            <a:r>
              <a:rPr lang="en-US" sz="1100" dirty="0">
                <a:solidFill>
                  <a:srgbClr val="FFFFFF"/>
                </a:solidFill>
                <a:latin typeface="Arial" pitchFamily="34" charset="0"/>
                <a:ea typeface="Arial" pitchFamily="34" charset="-122"/>
                <a:cs typeface="Arial" pitchFamily="34" charset="-120"/>
              </a:rPr>
              <a:t>the classifier retrains in ~30 s</a:t>
            </a:r>
            <a:endParaRPr lang="en-US" sz="1100" dirty="0"/>
          </a:p>
        </p:txBody>
      </p:sp>
      <p:sp>
        <p:nvSpPr>
          <p:cNvPr id="17" name="Shape 15"/>
          <p:cNvSpPr/>
          <p:nvPr/>
        </p:nvSpPr>
        <p:spPr>
          <a:xfrm>
            <a:off x="24757380" y="3108960"/>
            <a:ext cx="7886700" cy="2103120"/>
          </a:xfrm>
          <a:prstGeom prst="roundRect">
            <a:avLst>
              <a:gd name="adj" fmla="val 3261"/>
            </a:avLst>
          </a:prstGeom>
          <a:solidFill>
            <a:srgbClr val="13315C"/>
          </a:solidFill>
          <a:ln w="12700">
            <a:solidFill>
              <a:srgbClr val="13315C"/>
            </a:solidFill>
            <a:prstDash val="solid"/>
          </a:ln>
        </p:spPr>
      </p:sp>
      <p:sp>
        <p:nvSpPr>
          <p:cNvPr id="18" name="Text 16"/>
          <p:cNvSpPr/>
          <p:nvPr/>
        </p:nvSpPr>
        <p:spPr>
          <a:xfrm>
            <a:off x="24985980" y="3268980"/>
            <a:ext cx="7429500" cy="914400"/>
          </a:xfrm>
          <a:prstGeom prst="rect">
            <a:avLst/>
          </a:prstGeom>
          <a:noFill/>
          <a:ln/>
        </p:spPr>
        <p:txBody>
          <a:bodyPr wrap="square" lIns="0" tIns="0" rIns="0" bIns="0" rtlCol="0" anchor="ctr"/>
          <a:lstStyle/>
          <a:p>
            <a:pPr algn="l" indent="0" marL="0">
              <a:buNone/>
            </a:pPr>
            <a:r>
              <a:rPr lang="en-US" sz="3000" b="1" dirty="0">
                <a:solidFill>
                  <a:srgbClr val="34C6A8"/>
                </a:solidFill>
                <a:latin typeface="Cambria" pitchFamily="34" charset="0"/>
                <a:ea typeface="Cambria" pitchFamily="34" charset="-122"/>
                <a:cs typeface="Cambria" pitchFamily="34" charset="-120"/>
              </a:rPr>
              <a:t>0.95</a:t>
            </a:r>
            <a:endParaRPr lang="en-US" sz="3000" dirty="0"/>
          </a:p>
        </p:txBody>
      </p:sp>
      <p:sp>
        <p:nvSpPr>
          <p:cNvPr id="19" name="Text 17"/>
          <p:cNvSpPr/>
          <p:nvPr/>
        </p:nvSpPr>
        <p:spPr>
          <a:xfrm>
            <a:off x="24985980" y="4183380"/>
            <a:ext cx="7429500" cy="868680"/>
          </a:xfrm>
          <a:prstGeom prst="rect">
            <a:avLst/>
          </a:prstGeom>
          <a:noFill/>
          <a:ln/>
        </p:spPr>
        <p:txBody>
          <a:bodyPr wrap="square" lIns="0" tIns="0" rIns="0" bIns="0" rtlCol="0" anchor="t"/>
          <a:lstStyle/>
          <a:p>
            <a:pPr algn="l" indent="0" marL="0">
              <a:lnSpc>
                <a:spcPts val="1300"/>
              </a:lnSpc>
              <a:buNone/>
            </a:pPr>
            <a:r>
              <a:rPr lang="en-US" sz="1100" dirty="0">
                <a:solidFill>
                  <a:srgbClr val="FFFFFF"/>
                </a:solidFill>
                <a:latin typeface="Arial" pitchFamily="34" charset="0"/>
                <a:ea typeface="Arial" pitchFamily="34" charset="-122"/>
                <a:cs typeface="Arial" pitchFamily="34" charset="-120"/>
              </a:rPr>
              <a:t>orca detection score (F1: 0 = useless,</a:t>
            </a:r>
            <a:endParaRPr lang="en-US" sz="1100" dirty="0"/>
          </a:p>
          <a:p>
            <a:pPr algn="l" indent="0" marL="0">
              <a:lnSpc>
                <a:spcPts val="1300"/>
              </a:lnSpc>
              <a:buNone/>
            </a:pPr>
            <a:r>
              <a:rPr lang="en-US" sz="1100" dirty="0">
                <a:solidFill>
                  <a:srgbClr val="FFFFFF"/>
                </a:solidFill>
                <a:latin typeface="Arial" pitchFamily="34" charset="0"/>
                <a:ea typeface="Arial" pitchFamily="34" charset="-122"/>
                <a:cs typeface="Arial" pitchFamily="34" charset="-120"/>
              </a:rPr>
              <a:t>1 = perfect) at our chosen cutoff</a:t>
            </a:r>
            <a:endParaRPr lang="en-US" sz="1100" dirty="0"/>
          </a:p>
        </p:txBody>
      </p:sp>
      <p:sp>
        <p:nvSpPr>
          <p:cNvPr id="20" name="Shape 18"/>
          <p:cNvSpPr/>
          <p:nvPr/>
        </p:nvSpPr>
        <p:spPr>
          <a:xfrm>
            <a:off x="274320" y="5577840"/>
            <a:ext cx="7886700" cy="3383280"/>
          </a:xfrm>
          <a:prstGeom prst="roundRect">
            <a:avLst>
              <a:gd name="adj" fmla="val 2432"/>
            </a:avLst>
          </a:prstGeom>
          <a:solidFill>
            <a:srgbClr val="EEF3F7"/>
          </a:solidFill>
          <a:ln w="12700">
            <a:solidFill>
              <a:srgbClr val="D8E2EA"/>
            </a:solidFill>
            <a:prstDash val="solid"/>
          </a:ln>
        </p:spPr>
      </p:sp>
      <p:sp>
        <p:nvSpPr>
          <p:cNvPr id="21" name="Shape 19"/>
          <p:cNvSpPr/>
          <p:nvPr/>
        </p:nvSpPr>
        <p:spPr>
          <a:xfrm>
            <a:off x="525780" y="5806440"/>
            <a:ext cx="525780" cy="525780"/>
          </a:xfrm>
          <a:prstGeom prst="ellipse">
            <a:avLst/>
          </a:prstGeom>
          <a:solidFill>
            <a:srgbClr val="1C7293"/>
          </a:solidFill>
          <a:ln w="12700">
            <a:solidFill>
              <a:srgbClr val="1C7293"/>
            </a:solidFill>
            <a:prstDash val="solid"/>
          </a:ln>
        </p:spPr>
      </p:sp>
      <p:sp>
        <p:nvSpPr>
          <p:cNvPr id="22" name="Text 20"/>
          <p:cNvSpPr/>
          <p:nvPr/>
        </p:nvSpPr>
        <p:spPr>
          <a:xfrm>
            <a:off x="525780" y="5806440"/>
            <a:ext cx="525780" cy="5257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23" name="Text 21"/>
          <p:cNvSpPr/>
          <p:nvPr/>
        </p:nvSpPr>
        <p:spPr>
          <a:xfrm>
            <a:off x="1165860" y="5769864"/>
            <a:ext cx="6743700" cy="594360"/>
          </a:xfrm>
          <a:prstGeom prst="rect">
            <a:avLst/>
          </a:prstGeom>
          <a:noFill/>
          <a:ln/>
        </p:spPr>
        <p:txBody>
          <a:bodyPr wrap="square" lIns="0" tIns="0" rIns="0" bIns="0" rtlCol="0" anchor="ctr"/>
          <a:lstStyle/>
          <a:p>
            <a:pPr algn="l" indent="0" marL="0">
              <a:buNone/>
            </a:pPr>
            <a:r>
              <a:rPr lang="en-US" sz="1700" b="1" dirty="0">
                <a:solidFill>
                  <a:srgbClr val="0B2545"/>
                </a:solidFill>
                <a:latin typeface="Cambria" pitchFamily="34" charset="0"/>
                <a:ea typeface="Cambria" pitchFamily="34" charset="-122"/>
                <a:cs typeface="Cambria" pitchFamily="34" charset="-120"/>
              </a:rPr>
              <a:t>The gap</a:t>
            </a:r>
            <a:endParaRPr lang="en-US" sz="1700" dirty="0"/>
          </a:p>
        </p:txBody>
      </p:sp>
      <p:sp>
        <p:nvSpPr>
          <p:cNvPr id="24" name="Text 22"/>
          <p:cNvSpPr/>
          <p:nvPr/>
        </p:nvSpPr>
        <p:spPr>
          <a:xfrm>
            <a:off x="548640" y="6537960"/>
            <a:ext cx="7338060" cy="2286000"/>
          </a:xfrm>
          <a:prstGeom prst="rect">
            <a:avLst/>
          </a:prstGeom>
          <a:noFill/>
          <a:ln/>
        </p:spPr>
        <p:txBody>
          <a:bodyPr wrap="square" lIns="0" tIns="0" rIns="0" bIns="0" rtlCol="0" anchor="t"/>
          <a:lstStyle/>
          <a:p>
            <a:pPr marL="139700" indent="-139700">
              <a:lnSpc>
                <a:spcPts val="1534"/>
              </a:lnSpc>
              <a:spcAft>
                <a:spcPts val="450"/>
              </a:spcAft>
              <a:buSzPct val="100000"/>
              <a:buChar char="▪"/>
            </a:pPr>
            <a:r>
              <a:rPr lang="en-US" sz="1300" dirty="0">
                <a:solidFill>
                  <a:srgbClr val="132330"/>
                </a:solidFill>
                <a:latin typeface="Arial" pitchFamily="34" charset="0"/>
                <a:ea typeface="Arial" pitchFamily="34" charset="-122"/>
                <a:cs typeface="Arial" pitchFamily="34" charset="-120"/>
              </a:rPr>
              <a:t>Monterey Bay National Marine Sanctuary hosts three killer whale ecotypes: transient (Bigg’s), endangered Southern Resident, and Offshore.</a:t>
            </a:r>
            <a:endParaRPr lang="en-US" sz="1300" dirty="0"/>
          </a:p>
          <a:p>
            <a:pPr marL="139700" indent="-139700">
              <a:lnSpc>
                <a:spcPts val="1534"/>
              </a:lnSpc>
              <a:spcAft>
                <a:spcPts val="450"/>
              </a:spcAft>
              <a:buSzPct val="100000"/>
              <a:buChar char="▪"/>
            </a:pPr>
            <a:r>
              <a:rPr lang="en-US" sz="1300" dirty="0">
                <a:solidFill>
                  <a:srgbClr val="132330"/>
                </a:solidFill>
                <a:latin typeface="Arial" pitchFamily="34" charset="0"/>
                <a:ea typeface="Arial" pitchFamily="34" charset="-122"/>
                <a:cs typeface="Arial" pitchFamily="34" charset="-120"/>
              </a:rPr>
              <a:t>None are yet routinely detected and classified from passive acoustic monitoring (PAM) data.</a:t>
            </a:r>
            <a:endParaRPr lang="en-US" sz="1300" dirty="0"/>
          </a:p>
          <a:p>
            <a:pPr marL="139700" indent="-139700">
              <a:lnSpc>
                <a:spcPts val="1534"/>
              </a:lnSpc>
              <a:spcAft>
                <a:spcPts val="450"/>
              </a:spcAft>
              <a:buSzPct val="100000"/>
              <a:buChar char="▪"/>
            </a:pPr>
            <a:r>
              <a:rPr lang="en-US" sz="1300" dirty="0">
                <a:solidFill>
                  <a:srgbClr val="132330"/>
                </a:solidFill>
                <a:latin typeface="Arial" pitchFamily="34" charset="0"/>
                <a:ea typeface="Arial" pitchFamily="34" charset="-122"/>
                <a:cs typeface="Arial" pitchFamily="34" charset="-120"/>
              </a:rPr>
              <a:t>Detections are rare and manual annotation of thousands of hours is impractical, so labeled MARS training data for these ecotypes are scarce.</a:t>
            </a:r>
            <a:endParaRPr lang="en-US" sz="1300" dirty="0"/>
          </a:p>
          <a:p>
            <a:pPr marL="139700" indent="-139700">
              <a:lnSpc>
                <a:spcPts val="1534"/>
              </a:lnSpc>
              <a:spcAft>
                <a:spcPts val="450"/>
              </a:spcAft>
              <a:buSzPct val="100000"/>
              <a:buChar char="▪"/>
            </a:pPr>
            <a:r>
              <a:rPr lang="en-US" sz="1300" dirty="0">
                <a:solidFill>
                  <a:srgbClr val="132330"/>
                </a:solidFill>
                <a:latin typeface="Arial" pitchFamily="34" charset="0"/>
                <a:ea typeface="Arial" pitchFamily="34" charset="-122"/>
                <a:cs typeface="Arial" pitchFamily="34" charset="-120"/>
              </a:rPr>
              <a:t>Goal: turn a continuous PAM archive into an ecologically useful record of orca presence — with its limits measured, not hidden.</a:t>
            </a:r>
            <a:endParaRPr lang="en-US" sz="1300" dirty="0"/>
          </a:p>
        </p:txBody>
      </p:sp>
      <p:sp>
        <p:nvSpPr>
          <p:cNvPr id="25" name="Shape 23"/>
          <p:cNvSpPr/>
          <p:nvPr/>
        </p:nvSpPr>
        <p:spPr>
          <a:xfrm>
            <a:off x="274320" y="9235440"/>
            <a:ext cx="7886700" cy="6309360"/>
          </a:xfrm>
          <a:prstGeom prst="roundRect">
            <a:avLst>
              <a:gd name="adj" fmla="val 1304"/>
            </a:avLst>
          </a:prstGeom>
          <a:solidFill>
            <a:srgbClr val="EEF3F7"/>
          </a:solidFill>
          <a:ln w="12700">
            <a:solidFill>
              <a:srgbClr val="D8E2EA"/>
            </a:solidFill>
            <a:prstDash val="solid"/>
          </a:ln>
        </p:spPr>
      </p:sp>
      <p:sp>
        <p:nvSpPr>
          <p:cNvPr id="26" name="Shape 24"/>
          <p:cNvSpPr/>
          <p:nvPr/>
        </p:nvSpPr>
        <p:spPr>
          <a:xfrm>
            <a:off x="525780" y="9464040"/>
            <a:ext cx="525780" cy="525780"/>
          </a:xfrm>
          <a:prstGeom prst="ellipse">
            <a:avLst/>
          </a:prstGeom>
          <a:solidFill>
            <a:srgbClr val="1C7293"/>
          </a:solidFill>
          <a:ln w="12700">
            <a:solidFill>
              <a:srgbClr val="1C7293"/>
            </a:solidFill>
            <a:prstDash val="solid"/>
          </a:ln>
        </p:spPr>
      </p:sp>
      <p:sp>
        <p:nvSpPr>
          <p:cNvPr id="27" name="Text 25"/>
          <p:cNvSpPr/>
          <p:nvPr/>
        </p:nvSpPr>
        <p:spPr>
          <a:xfrm>
            <a:off x="525780" y="9464040"/>
            <a:ext cx="525780" cy="5257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28" name="Text 26"/>
          <p:cNvSpPr/>
          <p:nvPr/>
        </p:nvSpPr>
        <p:spPr>
          <a:xfrm>
            <a:off x="1165860" y="9427464"/>
            <a:ext cx="6743700" cy="594360"/>
          </a:xfrm>
          <a:prstGeom prst="rect">
            <a:avLst/>
          </a:prstGeom>
          <a:noFill/>
          <a:ln/>
        </p:spPr>
        <p:txBody>
          <a:bodyPr wrap="square" lIns="0" tIns="0" rIns="0" bIns="0" rtlCol="0" anchor="ctr"/>
          <a:lstStyle/>
          <a:p>
            <a:pPr algn="l" indent="0" marL="0">
              <a:buNone/>
            </a:pPr>
            <a:r>
              <a:rPr lang="en-US" sz="1700" b="1" dirty="0">
                <a:solidFill>
                  <a:srgbClr val="0B2545"/>
                </a:solidFill>
                <a:latin typeface="Cambria" pitchFamily="34" charset="0"/>
                <a:ea typeface="Cambria" pitchFamily="34" charset="-122"/>
                <a:cs typeface="Cambria" pitchFamily="34" charset="-120"/>
              </a:rPr>
              <a:t>A continuous listening post</a:t>
            </a:r>
            <a:endParaRPr lang="en-US" sz="1700" dirty="0"/>
          </a:p>
        </p:txBody>
      </p:sp>
      <p:sp>
        <p:nvSpPr>
          <p:cNvPr id="29" name="Text 27"/>
          <p:cNvSpPr/>
          <p:nvPr/>
        </p:nvSpPr>
        <p:spPr>
          <a:xfrm>
            <a:off x="548640" y="10195560"/>
            <a:ext cx="7338060" cy="1965960"/>
          </a:xfrm>
          <a:prstGeom prst="rect">
            <a:avLst/>
          </a:prstGeom>
          <a:noFill/>
          <a:ln/>
        </p:spPr>
        <p:txBody>
          <a:bodyPr wrap="square" lIns="0" tIns="0" rIns="0" bIns="0" rtlCol="0" anchor="t"/>
          <a:lstStyle/>
          <a:p>
            <a:pPr marL="139700" indent="-139700">
              <a:lnSpc>
                <a:spcPts val="1475"/>
              </a:lnSpc>
              <a:spcAft>
                <a:spcPts val="450"/>
              </a:spcAft>
              <a:buSzPct val="100000"/>
              <a:buChar char="▪"/>
            </a:pPr>
            <a:r>
              <a:rPr lang="en-US" sz="1250" dirty="0">
                <a:solidFill>
                  <a:srgbClr val="132330"/>
                </a:solidFill>
                <a:latin typeface="Arial" pitchFamily="34" charset="0"/>
                <a:ea typeface="Arial" pitchFamily="34" charset="-122"/>
                <a:cs typeface="Arial" pitchFamily="34" charset="-120"/>
              </a:rPr>
              <a:t>MARS cabled observatory, Smooth Ridge (36°42.75′ N, 122°11.21′ W), ~30 km offshore at ~900 m depth.</a:t>
            </a:r>
            <a:endParaRPr lang="en-US" sz="1250" dirty="0"/>
          </a:p>
          <a:p>
            <a:pPr marL="139700" indent="-139700">
              <a:lnSpc>
                <a:spcPts val="1475"/>
              </a:lnSpc>
              <a:spcAft>
                <a:spcPts val="450"/>
              </a:spcAft>
              <a:buSzPct val="100000"/>
              <a:buChar char="▪"/>
            </a:pPr>
            <a:r>
              <a:rPr lang="en-US" sz="1250" dirty="0">
                <a:solidFill>
                  <a:srgbClr val="132330"/>
                </a:solidFill>
                <a:latin typeface="Arial" pitchFamily="34" charset="0"/>
                <a:ea typeface="Arial" pitchFamily="34" charset="-122"/>
                <a:cs typeface="Arial" pitchFamily="34" charset="-120"/>
              </a:rPr>
              <a:t>Ocean Sonics icListen HF omnidirectional hydrophone, 10 Hz – 100 kHz, relayed to shore in real time, 24/7.</a:t>
            </a:r>
            <a:endParaRPr lang="en-US" sz="1250" dirty="0"/>
          </a:p>
          <a:p>
            <a:pPr marL="139700" indent="-139700">
              <a:lnSpc>
                <a:spcPts val="1475"/>
              </a:lnSpc>
              <a:spcAft>
                <a:spcPts val="450"/>
              </a:spcAft>
              <a:buSzPct val="100000"/>
              <a:buChar char="▪"/>
            </a:pPr>
            <a:r>
              <a:rPr lang="en-US" sz="1250" dirty="0">
                <a:solidFill>
                  <a:srgbClr val="132330"/>
                </a:solidFill>
                <a:latin typeface="Arial" pitchFamily="34" charset="0"/>
                <a:ea typeface="Arial" pitchFamily="34" charset="-122"/>
                <a:cs typeface="Arial" pitchFamily="34" charset="-120"/>
              </a:rPr>
              <a:t>Archived and public as the Pacific Ocean Sound recordings; analysis windows here span 2018–2026.</a:t>
            </a:r>
            <a:endParaRPr lang="en-US" sz="1250" dirty="0"/>
          </a:p>
        </p:txBody>
      </p:sp>
      <p:pic>
        <p:nvPicPr>
          <p:cNvPr id="30" name="Image 0" descr="oceans2026_fig1_mars_observatory.jpg">    </p:cNvPr>
          <p:cNvPicPr>
            <a:picLocks noChangeAspect="1"/>
          </p:cNvPicPr>
          <p:nvPr/>
        </p:nvPicPr>
        <p:blipFill>
          <a:blip r:embed="rId1"/>
          <a:stretch>
            <a:fillRect/>
          </a:stretch>
        </p:blipFill>
        <p:spPr>
          <a:xfrm>
            <a:off x="2068830" y="12252960"/>
            <a:ext cx="4297680" cy="2825496"/>
          </a:xfrm>
          <a:prstGeom prst="rect">
            <a:avLst/>
          </a:prstGeom>
        </p:spPr>
      </p:pic>
      <p:sp>
        <p:nvSpPr>
          <p:cNvPr id="31" name="Text 28"/>
          <p:cNvSpPr/>
          <p:nvPr/>
        </p:nvSpPr>
        <p:spPr>
          <a:xfrm>
            <a:off x="548640" y="15133320"/>
            <a:ext cx="7338060" cy="365760"/>
          </a:xfrm>
          <a:prstGeom prst="rect">
            <a:avLst/>
          </a:prstGeom>
          <a:noFill/>
          <a:ln/>
        </p:spPr>
        <p:txBody>
          <a:bodyPr wrap="square" lIns="0" tIns="0" rIns="0" bIns="0" rtlCol="0" anchor="t"/>
          <a:lstStyle/>
          <a:p>
            <a:pPr indent="0" marL="0">
              <a:lnSpc>
                <a:spcPts val="1050"/>
              </a:lnSpc>
              <a:buNone/>
            </a:pPr>
            <a:r>
              <a:rPr lang="en-US" sz="900" i="1" dirty="0">
                <a:solidFill>
                  <a:srgbClr val="4A5C6A"/>
                </a:solidFill>
                <a:latin typeface="Arial" pitchFamily="34" charset="0"/>
                <a:ea typeface="Arial" pitchFamily="34" charset="-122"/>
                <a:cs typeface="Arial" pitchFamily="34" charset="-120"/>
              </a:rPr>
              <a:t>The MARS cabled observatory; the hydrophone sits at the science node. Image: MBARI.</a:t>
            </a:r>
            <a:endParaRPr lang="en-US" sz="900" dirty="0"/>
          </a:p>
        </p:txBody>
      </p:sp>
      <p:sp>
        <p:nvSpPr>
          <p:cNvPr id="32" name="Shape 29"/>
          <p:cNvSpPr/>
          <p:nvPr/>
        </p:nvSpPr>
        <p:spPr>
          <a:xfrm>
            <a:off x="274320" y="15819120"/>
            <a:ext cx="7886700" cy="4937760"/>
          </a:xfrm>
          <a:prstGeom prst="roundRect">
            <a:avLst>
              <a:gd name="adj" fmla="val 1667"/>
            </a:avLst>
          </a:prstGeom>
          <a:solidFill>
            <a:srgbClr val="EEF3F7"/>
          </a:solidFill>
          <a:ln w="12700">
            <a:solidFill>
              <a:srgbClr val="D8E2EA"/>
            </a:solidFill>
            <a:prstDash val="solid"/>
          </a:ln>
        </p:spPr>
      </p:sp>
      <p:sp>
        <p:nvSpPr>
          <p:cNvPr id="33" name="Shape 30"/>
          <p:cNvSpPr/>
          <p:nvPr/>
        </p:nvSpPr>
        <p:spPr>
          <a:xfrm>
            <a:off x="525780" y="16047720"/>
            <a:ext cx="525780" cy="525780"/>
          </a:xfrm>
          <a:prstGeom prst="ellipse">
            <a:avLst/>
          </a:prstGeom>
          <a:solidFill>
            <a:srgbClr val="1C7293"/>
          </a:solidFill>
          <a:ln w="12700">
            <a:solidFill>
              <a:srgbClr val="1C7293"/>
            </a:solidFill>
            <a:prstDash val="solid"/>
          </a:ln>
        </p:spPr>
      </p:sp>
      <p:sp>
        <p:nvSpPr>
          <p:cNvPr id="34" name="Text 31"/>
          <p:cNvSpPr/>
          <p:nvPr/>
        </p:nvSpPr>
        <p:spPr>
          <a:xfrm>
            <a:off x="525780" y="16047720"/>
            <a:ext cx="525780" cy="5257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35" name="Text 32"/>
          <p:cNvSpPr/>
          <p:nvPr/>
        </p:nvSpPr>
        <p:spPr>
          <a:xfrm>
            <a:off x="1165860" y="16011144"/>
            <a:ext cx="6743700" cy="594360"/>
          </a:xfrm>
          <a:prstGeom prst="rect">
            <a:avLst/>
          </a:prstGeom>
          <a:noFill/>
          <a:ln/>
        </p:spPr>
        <p:txBody>
          <a:bodyPr wrap="square" lIns="0" tIns="0" rIns="0" bIns="0" rtlCol="0" anchor="ctr"/>
          <a:lstStyle/>
          <a:p>
            <a:pPr algn="l" indent="0" marL="0">
              <a:buNone/>
            </a:pPr>
            <a:r>
              <a:rPr lang="en-US" sz="1700" b="1" dirty="0">
                <a:solidFill>
                  <a:srgbClr val="0B2545"/>
                </a:solidFill>
                <a:latin typeface="Cambria" pitchFamily="34" charset="0"/>
                <a:ea typeface="Cambria" pitchFamily="34" charset="-122"/>
                <a:cs typeface="Cambria" pitchFamily="34" charset="-120"/>
              </a:rPr>
              <a:t>Off-the-shelf CNNs confuse the bay</a:t>
            </a:r>
            <a:endParaRPr lang="en-US" sz="1700" dirty="0"/>
          </a:p>
        </p:txBody>
      </p:sp>
      <p:sp>
        <p:nvSpPr>
          <p:cNvPr id="36" name="Text 33"/>
          <p:cNvSpPr/>
          <p:nvPr/>
        </p:nvSpPr>
        <p:spPr>
          <a:xfrm>
            <a:off x="548640" y="16779240"/>
            <a:ext cx="7338060" cy="1280160"/>
          </a:xfrm>
          <a:prstGeom prst="rect">
            <a:avLst/>
          </a:prstGeom>
          <a:noFill/>
          <a:ln/>
        </p:spPr>
        <p:txBody>
          <a:bodyPr wrap="square" lIns="0" tIns="0" rIns="0" bIns="0" rtlCol="0" anchor="t"/>
          <a:lstStyle/>
          <a:p>
            <a:pPr marL="139700" indent="-139700">
              <a:lnSpc>
                <a:spcPts val="1416"/>
              </a:lnSpc>
              <a:spcAft>
                <a:spcPts val="450"/>
              </a:spcAft>
              <a:buSzPct val="100000"/>
              <a:buChar char="▪"/>
            </a:pPr>
            <a:r>
              <a:rPr lang="en-US" sz="1200" dirty="0">
                <a:solidFill>
                  <a:srgbClr val="132330"/>
                </a:solidFill>
                <a:latin typeface="Arial" pitchFamily="34" charset="0"/>
                <a:ea typeface="Arial" pitchFamily="34" charset="-122"/>
                <a:cs typeface="Arial" pitchFamily="34" charset="-120"/>
              </a:rPr>
              <a:t>The Google multispecies whale CNN (seven whale classes) and OrcAI (Icelandic fish-eating orcas) both produced high-confidence orca detections on MARS recordings.</a:t>
            </a:r>
            <a:endParaRPr lang="en-US" sz="1200" dirty="0"/>
          </a:p>
          <a:p>
            <a:pPr marL="139700" indent="-139700">
              <a:lnSpc>
                <a:spcPts val="1416"/>
              </a:lnSpc>
              <a:spcAft>
                <a:spcPts val="450"/>
              </a:spcAft>
              <a:buSzPct val="100000"/>
              <a:buChar char="▪"/>
            </a:pPr>
            <a:r>
              <a:rPr lang="en-US" sz="1200" dirty="0">
                <a:solidFill>
                  <a:srgbClr val="132330"/>
                </a:solidFill>
                <a:latin typeface="Arial" pitchFamily="34" charset="0"/>
                <a:ea typeface="Arial" pitchFamily="34" charset="-122"/>
                <a:cs typeface="Arial" pitchFamily="34" charset="-120"/>
              </a:rPr>
              <a:t>Both also confused orca calls with Pacific white-sided dolphin (Lagenorhynchus obliquidens) and other signals — confusion, not sensitivity, was the limiting factor.</a:t>
            </a:r>
            <a:endParaRPr lang="en-US" sz="1200" dirty="0"/>
          </a:p>
          <a:p>
            <a:pPr marL="139700" indent="-139700">
              <a:lnSpc>
                <a:spcPts val="1416"/>
              </a:lnSpc>
              <a:spcAft>
                <a:spcPts val="450"/>
              </a:spcAft>
              <a:buSzPct val="100000"/>
              <a:buChar char="▪"/>
            </a:pPr>
            <a:r>
              <a:rPr lang="en-US" sz="1200" dirty="0">
                <a:solidFill>
                  <a:srgbClr val="132330"/>
                </a:solidFill>
                <a:latin typeface="Arial" pitchFamily="34" charset="0"/>
                <a:ea typeface="Arial" pitchFamily="34" charset="-122"/>
                <a:cs typeface="Arial" pitchFamily="34" charset="-120"/>
              </a:rPr>
              <a:t>Their scores were still useful as a bootstrap, ranking candidate clips for the first round of expert labeling.</a:t>
            </a:r>
            <a:endParaRPr lang="en-US" sz="1200" dirty="0"/>
          </a:p>
        </p:txBody>
      </p:sp>
      <p:pic>
        <p:nvPicPr>
          <p:cNvPr id="37" name="Image 1" descr="poster_fig3_class_spectrograms.png">    </p:cNvPr>
          <p:cNvPicPr>
            <a:picLocks noChangeAspect="1"/>
          </p:cNvPicPr>
          <p:nvPr/>
        </p:nvPicPr>
        <p:blipFill>
          <a:blip r:embed="rId2"/>
          <a:stretch>
            <a:fillRect/>
          </a:stretch>
        </p:blipFill>
        <p:spPr>
          <a:xfrm>
            <a:off x="548640" y="18059400"/>
            <a:ext cx="7338060" cy="1874520"/>
          </a:xfrm>
          <a:prstGeom prst="rect">
            <a:avLst/>
          </a:prstGeom>
        </p:spPr>
      </p:pic>
      <p:sp>
        <p:nvSpPr>
          <p:cNvPr id="38" name="Text 34"/>
          <p:cNvSpPr/>
          <p:nvPr/>
        </p:nvSpPr>
        <p:spPr>
          <a:xfrm>
            <a:off x="548640" y="20002500"/>
            <a:ext cx="7338060" cy="640080"/>
          </a:xfrm>
          <a:prstGeom prst="rect">
            <a:avLst/>
          </a:prstGeom>
          <a:noFill/>
          <a:ln/>
        </p:spPr>
        <p:txBody>
          <a:bodyPr wrap="square" lIns="0" tIns="0" rIns="0" bIns="0" rtlCol="0" anchor="t"/>
          <a:lstStyle/>
          <a:p>
            <a:pPr indent="0" marL="0">
              <a:lnSpc>
                <a:spcPts val="1050"/>
              </a:lnSpc>
              <a:buNone/>
            </a:pPr>
            <a:r>
              <a:rPr lang="en-US" sz="900" i="1" dirty="0">
                <a:solidFill>
                  <a:srgbClr val="4A5C6A"/>
                </a:solidFill>
                <a:latin typeface="Arial" pitchFamily="34" charset="0"/>
                <a:ea typeface="Arial" pitchFamily="34" charset="-122"/>
                <a:cs typeface="Arial" pitchFamily="34" charset="-120"/>
              </a:rPr>
              <a:t>Mel-scale log-power spectrograms, one confirmed exemplar per class (5 s windows, v4 labels). All four share identical FFT parameters (2048-point FFT, 128 mel bands, 10 Hz–16 kHz) and one colour scale, so brightness and detail are directly comparable. Orca and humpback song both carry tonal, harmonically stacked content in overlapping bands — which is why the classifier confuses them.</a:t>
            </a:r>
            <a:endParaRPr lang="en-US" sz="900" dirty="0"/>
          </a:p>
        </p:txBody>
      </p:sp>
      <p:sp>
        <p:nvSpPr>
          <p:cNvPr id="39" name="Shape 35"/>
          <p:cNvSpPr/>
          <p:nvPr/>
        </p:nvSpPr>
        <p:spPr>
          <a:xfrm>
            <a:off x="8435340" y="5577840"/>
            <a:ext cx="7886700" cy="5029200"/>
          </a:xfrm>
          <a:prstGeom prst="roundRect">
            <a:avLst>
              <a:gd name="adj" fmla="val 1636"/>
            </a:avLst>
          </a:prstGeom>
          <a:solidFill>
            <a:srgbClr val="EEF3F7"/>
          </a:solidFill>
          <a:ln w="12700">
            <a:solidFill>
              <a:srgbClr val="D8E2EA"/>
            </a:solidFill>
            <a:prstDash val="solid"/>
          </a:ln>
        </p:spPr>
      </p:sp>
      <p:sp>
        <p:nvSpPr>
          <p:cNvPr id="40" name="Shape 36"/>
          <p:cNvSpPr/>
          <p:nvPr/>
        </p:nvSpPr>
        <p:spPr>
          <a:xfrm>
            <a:off x="8686800" y="5806440"/>
            <a:ext cx="525780" cy="525780"/>
          </a:xfrm>
          <a:prstGeom prst="ellipse">
            <a:avLst/>
          </a:prstGeom>
          <a:solidFill>
            <a:srgbClr val="1C7293"/>
          </a:solidFill>
          <a:ln w="12700">
            <a:solidFill>
              <a:srgbClr val="1C7293"/>
            </a:solidFill>
            <a:prstDash val="solid"/>
          </a:ln>
        </p:spPr>
      </p:sp>
      <p:sp>
        <p:nvSpPr>
          <p:cNvPr id="41" name="Text 37"/>
          <p:cNvSpPr/>
          <p:nvPr/>
        </p:nvSpPr>
        <p:spPr>
          <a:xfrm>
            <a:off x="8686800" y="5806440"/>
            <a:ext cx="525780" cy="5257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42" name="Text 38"/>
          <p:cNvSpPr/>
          <p:nvPr/>
        </p:nvSpPr>
        <p:spPr>
          <a:xfrm>
            <a:off x="9326880" y="5769864"/>
            <a:ext cx="6743700" cy="594360"/>
          </a:xfrm>
          <a:prstGeom prst="rect">
            <a:avLst/>
          </a:prstGeom>
          <a:noFill/>
          <a:ln/>
        </p:spPr>
        <p:txBody>
          <a:bodyPr wrap="square" lIns="0" tIns="0" rIns="0" bIns="0" rtlCol="0" anchor="ctr"/>
          <a:lstStyle/>
          <a:p>
            <a:pPr algn="l" indent="0" marL="0">
              <a:buNone/>
            </a:pPr>
            <a:r>
              <a:rPr lang="en-US" sz="1700" b="1" dirty="0">
                <a:solidFill>
                  <a:srgbClr val="0B2545"/>
                </a:solidFill>
                <a:latin typeface="Cambria" pitchFamily="34" charset="0"/>
                <a:ea typeface="Cambria" pitchFamily="34" charset="-122"/>
                <a:cs typeface="Cambria" pitchFamily="34" charset="-120"/>
              </a:rPr>
              <a:t>Teaching a big model a new sound</a:t>
            </a:r>
            <a:endParaRPr lang="en-US" sz="1700" dirty="0"/>
          </a:p>
        </p:txBody>
      </p:sp>
      <p:sp>
        <p:nvSpPr>
          <p:cNvPr id="43" name="Text 39"/>
          <p:cNvSpPr/>
          <p:nvPr/>
        </p:nvSpPr>
        <p:spPr>
          <a:xfrm>
            <a:off x="8709660" y="6537960"/>
            <a:ext cx="7338060" cy="2148840"/>
          </a:xfrm>
          <a:prstGeom prst="rect">
            <a:avLst/>
          </a:prstGeom>
          <a:noFill/>
          <a:ln/>
        </p:spPr>
        <p:txBody>
          <a:bodyPr wrap="square" lIns="0" tIns="0" rIns="0" bIns="0" rtlCol="0" anchor="t"/>
          <a:lstStyle/>
          <a:p>
            <a:pPr marL="139700" indent="-139700">
              <a:lnSpc>
                <a:spcPts val="1357"/>
              </a:lnSpc>
              <a:spcAft>
                <a:spcPts val="450"/>
              </a:spcAft>
              <a:buSzPct val="100000"/>
              <a:buChar char="▪"/>
            </a:pPr>
            <a:r>
              <a:rPr lang="en-US" sz="1150" dirty="0">
                <a:solidFill>
                  <a:srgbClr val="132330"/>
                </a:solidFill>
                <a:latin typeface="Arial" pitchFamily="34" charset="0"/>
                <a:ea typeface="Arial" pitchFamily="34" charset="-122"/>
                <a:cs typeface="Arial" pitchFamily="34" charset="-120"/>
              </a:rPr>
              <a:t>Perch 2.0 is a pre-trained bioacoustics model. It turns each 5-second window into an embedding — a 1,536-number fingerprint of the sound. Similar sounds get similar fingerprints, so one labeled example retrieves others like it from the Hoplite database.</a:t>
            </a:r>
            <a:endParaRPr lang="en-US" sz="1150" dirty="0"/>
          </a:p>
          <a:p>
            <a:pPr marL="139700" indent="-139700">
              <a:lnSpc>
                <a:spcPts val="1357"/>
              </a:lnSpc>
              <a:spcAft>
                <a:spcPts val="450"/>
              </a:spcAft>
              <a:buSzPct val="100000"/>
              <a:buChar char="▪"/>
            </a:pPr>
            <a:r>
              <a:rPr lang="en-US" sz="1150" dirty="0">
                <a:solidFill>
                  <a:srgbClr val="132330"/>
                </a:solidFill>
                <a:latin typeface="Arial" pitchFamily="34" charset="0"/>
                <a:ea typeface="Arial" pitchFamily="34" charset="-122"/>
                <a:cs typeface="Arial" pitchFamily="34" charset="-120"/>
              </a:rPr>
              <a:t>The loop: search → label a handful of clips → refit a simple classifier on those fixed fingerprints (~30 s) → look at its mistakes → search again. The big model is never retrained.</a:t>
            </a:r>
            <a:endParaRPr lang="en-US" sz="1150" dirty="0"/>
          </a:p>
          <a:p>
            <a:pPr marL="139700" indent="-139700">
              <a:lnSpc>
                <a:spcPts val="1357"/>
              </a:lnSpc>
              <a:spcAft>
                <a:spcPts val="450"/>
              </a:spcAft>
              <a:buSzPct val="100000"/>
              <a:buChar char="▪"/>
            </a:pPr>
            <a:r>
              <a:rPr lang="en-US" sz="1150" dirty="0">
                <a:solidFill>
                  <a:srgbClr val="132330"/>
                </a:solidFill>
                <a:latin typeface="Arial" pitchFamily="34" charset="0"/>
                <a:ea typeface="Arial" pitchFamily="34" charset="-122"/>
                <a:cs typeface="Arial" pitchFamily="34" charset="-120"/>
              </a:rPr>
              <a:t>Enabling fix: per-window peak normalization to 0.25 before embedding — without it, quiet distant calls were unrecoverable.</a:t>
            </a:r>
            <a:endParaRPr lang="en-US" sz="1150" dirty="0"/>
          </a:p>
          <a:p>
            <a:pPr marL="139700" indent="-139700">
              <a:lnSpc>
                <a:spcPts val="1357"/>
              </a:lnSpc>
              <a:spcAft>
                <a:spcPts val="450"/>
              </a:spcAft>
              <a:buSzPct val="100000"/>
              <a:buChar char="▪"/>
            </a:pPr>
            <a:r>
              <a:rPr lang="en-US" sz="1150" dirty="0">
                <a:solidFill>
                  <a:srgbClr val="132330"/>
                </a:solidFill>
                <a:latin typeface="Arial" pitchFamily="34" charset="0"/>
                <a:ea typeface="Arial" pitchFamily="34" charset="-122"/>
                <a:cs typeface="Arial" pitchFamily="34" charset="-120"/>
              </a:rPr>
              <a:t>The classifier scores every window; higher means more orca-like. We keep scores above +1.16 rather than the software’s 0.0 default, with the cutoff chosen on months the model never trained on.</a:t>
            </a:r>
            <a:endParaRPr lang="en-US" sz="1150" dirty="0"/>
          </a:p>
        </p:txBody>
      </p:sp>
      <p:pic>
        <p:nvPicPr>
          <p:cNvPr id="44" name="Image 2" descr="oceans2026_fig2_agile_modeling_loop.png">    </p:cNvPr>
          <p:cNvPicPr>
            <a:picLocks noChangeAspect="1"/>
          </p:cNvPicPr>
          <p:nvPr/>
        </p:nvPicPr>
        <p:blipFill>
          <a:blip r:embed="rId3"/>
          <a:stretch>
            <a:fillRect/>
          </a:stretch>
        </p:blipFill>
        <p:spPr>
          <a:xfrm>
            <a:off x="10046970" y="8778240"/>
            <a:ext cx="4663440" cy="1714500"/>
          </a:xfrm>
          <a:prstGeom prst="rect">
            <a:avLst/>
          </a:prstGeom>
        </p:spPr>
      </p:pic>
      <p:sp>
        <p:nvSpPr>
          <p:cNvPr id="45" name="Shape 40"/>
          <p:cNvSpPr/>
          <p:nvPr/>
        </p:nvSpPr>
        <p:spPr>
          <a:xfrm>
            <a:off x="8435340" y="10881360"/>
            <a:ext cx="7886700" cy="4754880"/>
          </a:xfrm>
          <a:prstGeom prst="roundRect">
            <a:avLst>
              <a:gd name="adj" fmla="val 1731"/>
            </a:avLst>
          </a:prstGeom>
          <a:solidFill>
            <a:srgbClr val="EEF3F7"/>
          </a:solidFill>
          <a:ln w="12700">
            <a:solidFill>
              <a:srgbClr val="D8E2EA"/>
            </a:solidFill>
            <a:prstDash val="solid"/>
          </a:ln>
        </p:spPr>
      </p:sp>
      <p:sp>
        <p:nvSpPr>
          <p:cNvPr id="46" name="Shape 41"/>
          <p:cNvSpPr/>
          <p:nvPr/>
        </p:nvSpPr>
        <p:spPr>
          <a:xfrm>
            <a:off x="8686800" y="11109960"/>
            <a:ext cx="525780" cy="525780"/>
          </a:xfrm>
          <a:prstGeom prst="ellipse">
            <a:avLst/>
          </a:prstGeom>
          <a:solidFill>
            <a:srgbClr val="1C7293"/>
          </a:solidFill>
          <a:ln w="12700">
            <a:solidFill>
              <a:srgbClr val="1C7293"/>
            </a:solidFill>
            <a:prstDash val="solid"/>
          </a:ln>
        </p:spPr>
      </p:sp>
      <p:sp>
        <p:nvSpPr>
          <p:cNvPr id="47" name="Text 42"/>
          <p:cNvSpPr/>
          <p:nvPr/>
        </p:nvSpPr>
        <p:spPr>
          <a:xfrm>
            <a:off x="8686800" y="11109960"/>
            <a:ext cx="525780" cy="5257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48" name="Text 43"/>
          <p:cNvSpPr/>
          <p:nvPr/>
        </p:nvSpPr>
        <p:spPr>
          <a:xfrm>
            <a:off x="9326880" y="11073384"/>
            <a:ext cx="6743700" cy="594360"/>
          </a:xfrm>
          <a:prstGeom prst="rect">
            <a:avLst/>
          </a:prstGeom>
          <a:noFill/>
          <a:ln/>
        </p:spPr>
        <p:txBody>
          <a:bodyPr wrap="square" lIns="0" tIns="0" rIns="0" bIns="0" rtlCol="0" anchor="ctr"/>
          <a:lstStyle/>
          <a:p>
            <a:pPr algn="l" indent="0" marL="0">
              <a:buNone/>
            </a:pPr>
            <a:r>
              <a:rPr lang="en-US" sz="1700" b="1" dirty="0">
                <a:solidFill>
                  <a:srgbClr val="0B2545"/>
                </a:solidFill>
                <a:latin typeface="Cambria" pitchFamily="34" charset="0"/>
                <a:ea typeface="Cambria" pitchFamily="34" charset="-122"/>
                <a:cs typeface="Cambria" pitchFamily="34" charset="-120"/>
              </a:rPr>
              <a:t>The classes separate</a:t>
            </a:r>
            <a:endParaRPr lang="en-US" sz="1700" dirty="0"/>
          </a:p>
        </p:txBody>
      </p:sp>
      <p:pic>
        <p:nvPicPr>
          <p:cNvPr id="49" name="Image 3" descr="tsne_apr2018_oct2020_apr2026_norm.png">    </p:cNvPr>
          <p:cNvPicPr>
            <a:picLocks noChangeAspect="1"/>
          </p:cNvPicPr>
          <p:nvPr/>
        </p:nvPicPr>
        <p:blipFill>
          <a:blip r:embed="rId4"/>
          <a:stretch>
            <a:fillRect/>
          </a:stretch>
        </p:blipFill>
        <p:spPr>
          <a:xfrm>
            <a:off x="10504170" y="11887200"/>
            <a:ext cx="3749040" cy="3122676"/>
          </a:xfrm>
          <a:prstGeom prst="rect">
            <a:avLst/>
          </a:prstGeom>
        </p:spPr>
      </p:pic>
      <p:sp>
        <p:nvSpPr>
          <p:cNvPr id="50" name="Text 44"/>
          <p:cNvSpPr/>
          <p:nvPr/>
        </p:nvSpPr>
        <p:spPr>
          <a:xfrm>
            <a:off x="8709660" y="15064740"/>
            <a:ext cx="7338060" cy="548640"/>
          </a:xfrm>
          <a:prstGeom prst="rect">
            <a:avLst/>
          </a:prstGeom>
          <a:noFill/>
          <a:ln/>
        </p:spPr>
        <p:txBody>
          <a:bodyPr wrap="square" lIns="0" tIns="0" rIns="0" bIns="0" rtlCol="0" anchor="t"/>
          <a:lstStyle/>
          <a:p>
            <a:pPr indent="0" marL="0">
              <a:lnSpc>
                <a:spcPts val="1000"/>
              </a:lnSpc>
              <a:buNone/>
            </a:pPr>
            <a:r>
              <a:rPr lang="en-US" sz="850" i="1" dirty="0">
                <a:solidFill>
                  <a:srgbClr val="4A5C6A"/>
                </a:solidFill>
                <a:latin typeface="Arial" pitchFamily="34" charset="0"/>
                <a:ea typeface="Arial" pitchFamily="34" charset="-122"/>
                <a:cs typeface="Arial" pitchFamily="34" charset="-120"/>
              </a:rPr>
              <a:t>Each dot is one 5-second window, placed so that sounds the model hears as similar sit close together (t-SNE). 823 labeled windows, 6 classes, 3 seasons (April 2018, October 2020, April 2026), as labeled at the July 2026 snapshot. The orca cluster holds across all three years — the embeddings are separable across recording conditions and time, which is the premise this method rests on. Where classes visibly overlap, orca against humpback, is the same confusion the spectrograms show and the detection scores measure. The humpback class here covers vocalization broadly, not only song.</a:t>
            </a:r>
            <a:endParaRPr lang="en-US" sz="850" dirty="0"/>
          </a:p>
        </p:txBody>
      </p:sp>
      <p:sp>
        <p:nvSpPr>
          <p:cNvPr id="51" name="Shape 45"/>
          <p:cNvSpPr/>
          <p:nvPr/>
        </p:nvSpPr>
        <p:spPr>
          <a:xfrm>
            <a:off x="8435340" y="15910560"/>
            <a:ext cx="7886700" cy="4846320"/>
          </a:xfrm>
          <a:prstGeom prst="roundRect">
            <a:avLst>
              <a:gd name="adj" fmla="val 1698"/>
            </a:avLst>
          </a:prstGeom>
          <a:solidFill>
            <a:srgbClr val="EEF3F7"/>
          </a:solidFill>
          <a:ln w="12700">
            <a:solidFill>
              <a:srgbClr val="D8E2EA"/>
            </a:solidFill>
            <a:prstDash val="solid"/>
          </a:ln>
        </p:spPr>
      </p:sp>
      <p:sp>
        <p:nvSpPr>
          <p:cNvPr id="52" name="Shape 46"/>
          <p:cNvSpPr/>
          <p:nvPr/>
        </p:nvSpPr>
        <p:spPr>
          <a:xfrm>
            <a:off x="8686800" y="16139160"/>
            <a:ext cx="525780" cy="525780"/>
          </a:xfrm>
          <a:prstGeom prst="ellipse">
            <a:avLst/>
          </a:prstGeom>
          <a:solidFill>
            <a:srgbClr val="1C7293"/>
          </a:solidFill>
          <a:ln w="12700">
            <a:solidFill>
              <a:srgbClr val="1C7293"/>
            </a:solidFill>
            <a:prstDash val="solid"/>
          </a:ln>
        </p:spPr>
      </p:sp>
      <p:sp>
        <p:nvSpPr>
          <p:cNvPr id="53" name="Text 47"/>
          <p:cNvSpPr/>
          <p:nvPr/>
        </p:nvSpPr>
        <p:spPr>
          <a:xfrm>
            <a:off x="8686800" y="16139160"/>
            <a:ext cx="525780" cy="5257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6</a:t>
            </a:r>
            <a:endParaRPr lang="en-US" sz="1600" dirty="0"/>
          </a:p>
        </p:txBody>
      </p:sp>
      <p:sp>
        <p:nvSpPr>
          <p:cNvPr id="54" name="Text 48"/>
          <p:cNvSpPr/>
          <p:nvPr/>
        </p:nvSpPr>
        <p:spPr>
          <a:xfrm>
            <a:off x="9326880" y="16102584"/>
            <a:ext cx="6743700" cy="594360"/>
          </a:xfrm>
          <a:prstGeom prst="rect">
            <a:avLst/>
          </a:prstGeom>
          <a:noFill/>
          <a:ln/>
        </p:spPr>
        <p:txBody>
          <a:bodyPr wrap="square" lIns="0" tIns="0" rIns="0" bIns="0" rtlCol="0" anchor="ctr"/>
          <a:lstStyle/>
          <a:p>
            <a:pPr algn="l" indent="0" marL="0">
              <a:buNone/>
            </a:pPr>
            <a:r>
              <a:rPr lang="en-US" sz="1700" b="1" dirty="0">
                <a:solidFill>
                  <a:srgbClr val="0B2545"/>
                </a:solidFill>
                <a:latin typeface="Cambria" pitchFamily="34" charset="0"/>
                <a:ea typeface="Cambria" pitchFamily="34" charset="-122"/>
                <a:cs typeface="Cambria" pitchFamily="34" charset="-120"/>
              </a:rPr>
              <a:t>v0 → v4: five labeling waves</a:t>
            </a:r>
            <a:endParaRPr lang="en-US" sz="1700" dirty="0"/>
          </a:p>
        </p:txBody>
      </p:sp>
      <p:sp>
        <p:nvSpPr>
          <p:cNvPr id="55" name="Text 49"/>
          <p:cNvSpPr/>
          <p:nvPr/>
        </p:nvSpPr>
        <p:spPr>
          <a:xfrm>
            <a:off x="8709660" y="16870680"/>
            <a:ext cx="7338060" cy="1508760"/>
          </a:xfrm>
          <a:prstGeom prst="rect">
            <a:avLst/>
          </a:prstGeom>
          <a:noFill/>
          <a:ln/>
        </p:spPr>
        <p:txBody>
          <a:bodyPr wrap="square" lIns="0" tIns="0" rIns="0" bIns="0" rtlCol="0" anchor="t"/>
          <a:lstStyle/>
          <a:p>
            <a:pPr marL="139700" indent="-139700">
              <a:lnSpc>
                <a:spcPts val="1298"/>
              </a:lnSpc>
              <a:spcAft>
                <a:spcPts val="450"/>
              </a:spcAft>
              <a:buSzPct val="100000"/>
              <a:buChar char="▪"/>
            </a:pPr>
            <a:r>
              <a:rPr lang="en-US" sz="1100" dirty="0">
                <a:solidFill>
                  <a:srgbClr val="132330"/>
                </a:solidFill>
                <a:latin typeface="Arial" pitchFamily="34" charset="0"/>
                <a:ea typeface="Arial" pitchFamily="34" charset="-122"/>
                <a:cs typeface="Arial" pitchFamily="34" charset="-120"/>
              </a:rPr>
              <a:t>v0 (584 labels, 5 classes) recovers the known 13 April 2018 event; v1 (+214) adds October 2020; v2 (+50) rebalances dolphin and other.</a:t>
            </a:r>
            <a:endParaRPr lang="en-US" sz="1100" dirty="0"/>
          </a:p>
          <a:p>
            <a:pPr marL="139700" indent="-139700">
              <a:lnSpc>
                <a:spcPts val="1298"/>
              </a:lnSpc>
              <a:spcAft>
                <a:spcPts val="450"/>
              </a:spcAft>
              <a:buSzPct val="100000"/>
              <a:buChar char="▪"/>
            </a:pPr>
            <a:r>
              <a:rPr lang="en-US" sz="1100" dirty="0">
                <a:solidFill>
                  <a:srgbClr val="132330"/>
                </a:solidFill>
                <a:latin typeface="Arial" pitchFamily="34" charset="0"/>
                <a:ea typeface="Arial" pitchFamily="34" charset="-122"/>
                <a:cs typeface="Arial" pitchFamily="34" charset="-120"/>
              </a:rPr>
              <a:t>v3 adds just 17 hard negatives — the detector’s own false alarms, labeled as counter-examples — and April-2026 false alarms fall 6,489 → 304. v4 (+8) is the model used throughout this poster.</a:t>
            </a:r>
            <a:endParaRPr lang="en-US" sz="1100" dirty="0"/>
          </a:p>
          <a:p>
            <a:pPr marL="139700" indent="-139700">
              <a:lnSpc>
                <a:spcPts val="1298"/>
              </a:lnSpc>
              <a:spcAft>
                <a:spcPts val="450"/>
              </a:spcAft>
              <a:buSzPct val="100000"/>
              <a:buChar char="▪"/>
            </a:pPr>
            <a:r>
              <a:rPr lang="en-US" sz="1100" dirty="0">
                <a:solidFill>
                  <a:srgbClr val="132330"/>
                </a:solidFill>
                <a:latin typeface="Arial" pitchFamily="34" charset="0"/>
                <a:ea typeface="Arial" pitchFamily="34" charset="-122"/>
                <a:cs typeface="Arial" pitchFamily="34" charset="-120"/>
              </a:rPr>
              <a:t>Two further experiments degraded performance and are not presented here; detail in the project repository.</a:t>
            </a:r>
            <a:endParaRPr lang="en-US" sz="1100" dirty="0"/>
          </a:p>
        </p:txBody>
      </p:sp>
      <p:pic>
        <p:nvPicPr>
          <p:cNvPr id="56" name="Image 4" descr="oceans2026_fig3_classifier_trajectory.png">    </p:cNvPr>
          <p:cNvPicPr>
            <a:picLocks noChangeAspect="1"/>
          </p:cNvPicPr>
          <p:nvPr/>
        </p:nvPicPr>
        <p:blipFill>
          <a:blip r:embed="rId5"/>
          <a:stretch>
            <a:fillRect/>
          </a:stretch>
        </p:blipFill>
        <p:spPr>
          <a:xfrm>
            <a:off x="9681210" y="18516600"/>
            <a:ext cx="5394960" cy="2157984"/>
          </a:xfrm>
          <a:prstGeom prst="rect">
            <a:avLst/>
          </a:prstGeom>
        </p:spPr>
      </p:pic>
      <p:sp>
        <p:nvSpPr>
          <p:cNvPr id="57" name="Shape 50"/>
          <p:cNvSpPr/>
          <p:nvPr/>
        </p:nvSpPr>
        <p:spPr>
          <a:xfrm>
            <a:off x="16596360" y="5577840"/>
            <a:ext cx="7886700" cy="7680960"/>
          </a:xfrm>
          <a:prstGeom prst="roundRect">
            <a:avLst>
              <a:gd name="adj" fmla="val 1071"/>
            </a:avLst>
          </a:prstGeom>
          <a:solidFill>
            <a:srgbClr val="EEF3F7"/>
          </a:solidFill>
          <a:ln w="12700">
            <a:solidFill>
              <a:srgbClr val="D8E2EA"/>
            </a:solidFill>
            <a:prstDash val="solid"/>
          </a:ln>
        </p:spPr>
      </p:sp>
      <p:sp>
        <p:nvSpPr>
          <p:cNvPr id="58" name="Shape 51"/>
          <p:cNvSpPr/>
          <p:nvPr/>
        </p:nvSpPr>
        <p:spPr>
          <a:xfrm>
            <a:off x="16847820" y="5806440"/>
            <a:ext cx="525780" cy="525780"/>
          </a:xfrm>
          <a:prstGeom prst="ellipse">
            <a:avLst/>
          </a:prstGeom>
          <a:solidFill>
            <a:srgbClr val="1C7293"/>
          </a:solidFill>
          <a:ln w="12700">
            <a:solidFill>
              <a:srgbClr val="1C7293"/>
            </a:solidFill>
            <a:prstDash val="solid"/>
          </a:ln>
        </p:spPr>
      </p:sp>
      <p:sp>
        <p:nvSpPr>
          <p:cNvPr id="59" name="Text 52"/>
          <p:cNvSpPr/>
          <p:nvPr/>
        </p:nvSpPr>
        <p:spPr>
          <a:xfrm>
            <a:off x="16847820" y="5806440"/>
            <a:ext cx="525780" cy="5257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7</a:t>
            </a:r>
            <a:endParaRPr lang="en-US" sz="1600" dirty="0"/>
          </a:p>
        </p:txBody>
      </p:sp>
      <p:sp>
        <p:nvSpPr>
          <p:cNvPr id="60" name="Text 53"/>
          <p:cNvSpPr/>
          <p:nvPr/>
        </p:nvSpPr>
        <p:spPr>
          <a:xfrm>
            <a:off x="17487900" y="5769864"/>
            <a:ext cx="6743700" cy="594360"/>
          </a:xfrm>
          <a:prstGeom prst="rect">
            <a:avLst/>
          </a:prstGeom>
          <a:noFill/>
          <a:ln/>
        </p:spPr>
        <p:txBody>
          <a:bodyPr wrap="square" lIns="0" tIns="0" rIns="0" bIns="0" rtlCol="0" anchor="ctr"/>
          <a:lstStyle/>
          <a:p>
            <a:pPr algn="l" indent="0" marL="0">
              <a:buNone/>
            </a:pPr>
            <a:r>
              <a:rPr lang="en-US" sz="1700" b="1" dirty="0">
                <a:solidFill>
                  <a:srgbClr val="0B2545"/>
                </a:solidFill>
                <a:latin typeface="Cambria" pitchFamily="34" charset="0"/>
                <a:ea typeface="Cambria" pitchFamily="34" charset="-122"/>
                <a:cs typeface="Cambria" pitchFamily="34" charset="-120"/>
              </a:rPr>
              <a:t>Spring 2018 was not one encounter</a:t>
            </a:r>
            <a:endParaRPr lang="en-US" sz="1700" dirty="0"/>
          </a:p>
        </p:txBody>
      </p:sp>
      <p:sp>
        <p:nvSpPr>
          <p:cNvPr id="61" name="Text 54"/>
          <p:cNvSpPr/>
          <p:nvPr/>
        </p:nvSpPr>
        <p:spPr>
          <a:xfrm>
            <a:off x="16870680" y="6537960"/>
            <a:ext cx="7338060" cy="3749040"/>
          </a:xfrm>
          <a:prstGeom prst="rect">
            <a:avLst/>
          </a:prstGeom>
          <a:noFill/>
          <a:ln/>
        </p:spPr>
        <p:txBody>
          <a:bodyPr wrap="square" lIns="0" tIns="0" rIns="0" bIns="0" rtlCol="0" anchor="t"/>
          <a:lstStyle/>
          <a:p>
            <a:pPr marL="139700" indent="-139700">
              <a:lnSpc>
                <a:spcPts val="1475"/>
              </a:lnSpc>
              <a:spcAft>
                <a:spcPts val="450"/>
              </a:spcAft>
              <a:buSzPct val="100000"/>
              <a:buChar char="▪"/>
            </a:pPr>
            <a:r>
              <a:rPr lang="en-US" sz="1250" dirty="0">
                <a:solidFill>
                  <a:srgbClr val="132330"/>
                </a:solidFill>
                <a:latin typeface="Arial" pitchFamily="34" charset="0"/>
                <a:ea typeface="Arial" pitchFamily="34" charset="-122"/>
                <a:cs typeface="Arial" pitchFamily="34" charset="-120"/>
              </a:rPr>
              <a:t>Previously known: a single Bigg’s orca event on 13 April 2018.</a:t>
            </a:r>
            <a:endParaRPr lang="en-US" sz="1250" dirty="0"/>
          </a:p>
          <a:p>
            <a:pPr marL="139700" indent="-139700">
              <a:lnSpc>
                <a:spcPts val="1475"/>
              </a:lnSpc>
              <a:spcAft>
                <a:spcPts val="450"/>
              </a:spcAft>
              <a:buSzPct val="100000"/>
              <a:buChar char="▪"/>
            </a:pPr>
            <a:r>
              <a:rPr lang="en-US" sz="1250" dirty="0">
                <a:solidFill>
                  <a:srgbClr val="132330"/>
                </a:solidFill>
                <a:latin typeface="Arial" pitchFamily="34" charset="0"/>
                <a:ea typeface="Arial" pitchFamily="34" charset="-122"/>
                <a:cs typeface="Arial" pitchFamily="34" charset="-120"/>
              </a:rPr>
              <a:t>Above our score cutoff, v4 also flagged 18 April (173 detections), 21 April (25) and 25 April (60). Listening to 25, 25 and 50 of those clips confirmed all 100 as orca, with no false alarms — April 2018 is a sustained two-week presence.</a:t>
            </a:r>
            <a:endParaRPr lang="en-US" sz="1250" dirty="0"/>
          </a:p>
          <a:p>
            <a:pPr marL="139700" indent="-139700">
              <a:lnSpc>
                <a:spcPts val="1475"/>
              </a:lnSpc>
              <a:spcAft>
                <a:spcPts val="450"/>
              </a:spcAft>
              <a:buSzPct val="100000"/>
              <a:buChar char="▪"/>
            </a:pPr>
            <a:r>
              <a:rPr lang="en-US" sz="1250" dirty="0">
                <a:solidFill>
                  <a:srgbClr val="132330"/>
                </a:solidFill>
                <a:latin typeface="Arial" pitchFamily="34" charset="0"/>
                <a:ea typeface="Arial" pitchFamily="34" charset="-122"/>
                <a:cs typeface="Arial" pitchFamily="34" charset="-120"/>
              </a:rPr>
              <a:t>May 2018: 12 May confirmed 181/181, with 13, 14 and 16 May confirmed on later review (+8 labels; 13 May rests on a single clip).</a:t>
            </a:r>
            <a:endParaRPr lang="en-US" sz="1250" dirty="0"/>
          </a:p>
          <a:p>
            <a:pPr marL="139700" indent="-139700">
              <a:lnSpc>
                <a:spcPts val="1475"/>
              </a:lnSpc>
              <a:spcAft>
                <a:spcPts val="450"/>
              </a:spcAft>
              <a:buSzPct val="100000"/>
              <a:buChar char="▪"/>
            </a:pPr>
            <a:r>
              <a:rPr lang="en-US" sz="1250" dirty="0">
                <a:solidFill>
                  <a:srgbClr val="132330"/>
                </a:solidFill>
                <a:latin typeface="Arial" pitchFamily="34" charset="0"/>
                <a:ea typeface="Arial" pitchFamily="34" charset="-122"/>
                <a:cs typeface="Arial" pitchFamily="34" charset="-120"/>
              </a:rPr>
              <a:t>Eight confirmed orca days across the two months — sustained Bigg’s presence, not one encounter.</a:t>
            </a:r>
            <a:endParaRPr lang="en-US" sz="1250" dirty="0"/>
          </a:p>
          <a:p>
            <a:pPr marL="139700" indent="-139700">
              <a:lnSpc>
                <a:spcPts val="1475"/>
              </a:lnSpc>
              <a:spcAft>
                <a:spcPts val="450"/>
              </a:spcAft>
              <a:buSzPct val="100000"/>
              <a:buChar char="▪"/>
            </a:pPr>
            <a:r>
              <a:rPr lang="en-US" sz="1250" dirty="0">
                <a:solidFill>
                  <a:srgbClr val="132330"/>
                </a:solidFill>
                <a:latin typeface="Arial" pitchFamily="34" charset="0"/>
                <a:ea typeface="Arial" pitchFamily="34" charset="-122"/>
                <a:cs typeface="Arial" pitchFamily="34" charset="-120"/>
              </a:rPr>
              <a:t>Two independent methods agree: regional news and whale-watch reports described record orca sightings that spring, and identified two pods — one Alaskan, one Californian (the CA140 matriline).</a:t>
            </a:r>
            <a:endParaRPr lang="en-US" sz="1250" dirty="0"/>
          </a:p>
        </p:txBody>
      </p:sp>
      <p:pic>
        <p:nvPicPr>
          <p:cNvPr id="62" name="Image 5" descr="oceans2026_fig4_calendar_apr_may_2018.png">    </p:cNvPr>
          <p:cNvPicPr>
            <a:picLocks noChangeAspect="1"/>
          </p:cNvPicPr>
          <p:nvPr/>
        </p:nvPicPr>
        <p:blipFill>
          <a:blip r:embed="rId6"/>
          <a:stretch>
            <a:fillRect/>
          </a:stretch>
        </p:blipFill>
        <p:spPr>
          <a:xfrm>
            <a:off x="16870680" y="9509760"/>
            <a:ext cx="7338060" cy="3017520"/>
          </a:xfrm>
          <a:prstGeom prst="rect">
            <a:avLst/>
          </a:prstGeom>
        </p:spPr>
      </p:pic>
      <p:sp>
        <p:nvSpPr>
          <p:cNvPr id="63" name="Text 55"/>
          <p:cNvSpPr/>
          <p:nvPr/>
        </p:nvSpPr>
        <p:spPr>
          <a:xfrm>
            <a:off x="16870680" y="12595860"/>
            <a:ext cx="7338060" cy="548640"/>
          </a:xfrm>
          <a:prstGeom prst="rect">
            <a:avLst/>
          </a:prstGeom>
          <a:noFill/>
          <a:ln/>
        </p:spPr>
        <p:txBody>
          <a:bodyPr wrap="square" lIns="0" tIns="0" rIns="0" bIns="0" rtlCol="0" anchor="t"/>
          <a:lstStyle/>
          <a:p>
            <a:pPr indent="0" marL="0">
              <a:lnSpc>
                <a:spcPts val="1050"/>
              </a:lnSpc>
              <a:buNone/>
            </a:pPr>
            <a:r>
              <a:rPr lang="en-US" sz="900" i="1" dirty="0">
                <a:solidFill>
                  <a:srgbClr val="4A5C6A"/>
                </a:solidFill>
                <a:latin typeface="Arial" pitchFamily="34" charset="0"/>
                <a:ea typeface="Arial" pitchFamily="34" charset="-122"/>
                <a:cs typeface="Arial" pitchFamily="34" charset="-120"/>
              </a:rPr>
              <a:t>Days carry very different weight: 12 May rests on 181 reviewed clips, 13 May on one. 23 and 24 April were detected but never individually listened to, so they are not counted.</a:t>
            </a:r>
            <a:endParaRPr lang="en-US" sz="900" dirty="0"/>
          </a:p>
        </p:txBody>
      </p:sp>
      <p:sp>
        <p:nvSpPr>
          <p:cNvPr id="64" name="Shape 56"/>
          <p:cNvSpPr/>
          <p:nvPr/>
        </p:nvSpPr>
        <p:spPr>
          <a:xfrm>
            <a:off x="16596360" y="13533120"/>
            <a:ext cx="7886700" cy="7223760"/>
          </a:xfrm>
          <a:prstGeom prst="roundRect">
            <a:avLst>
              <a:gd name="adj" fmla="val 1139"/>
            </a:avLst>
          </a:prstGeom>
          <a:solidFill>
            <a:srgbClr val="EEF3F7"/>
          </a:solidFill>
          <a:ln w="12700">
            <a:solidFill>
              <a:srgbClr val="D8E2EA"/>
            </a:solidFill>
            <a:prstDash val="solid"/>
          </a:ln>
        </p:spPr>
      </p:sp>
      <p:sp>
        <p:nvSpPr>
          <p:cNvPr id="65" name="Shape 57"/>
          <p:cNvSpPr/>
          <p:nvPr/>
        </p:nvSpPr>
        <p:spPr>
          <a:xfrm>
            <a:off x="16847820" y="13761720"/>
            <a:ext cx="525780" cy="525780"/>
          </a:xfrm>
          <a:prstGeom prst="ellipse">
            <a:avLst/>
          </a:prstGeom>
          <a:solidFill>
            <a:srgbClr val="1C7293"/>
          </a:solidFill>
          <a:ln w="12700">
            <a:solidFill>
              <a:srgbClr val="1C7293"/>
            </a:solidFill>
            <a:prstDash val="solid"/>
          </a:ln>
        </p:spPr>
      </p:sp>
      <p:sp>
        <p:nvSpPr>
          <p:cNvPr id="66" name="Text 58"/>
          <p:cNvSpPr/>
          <p:nvPr/>
        </p:nvSpPr>
        <p:spPr>
          <a:xfrm>
            <a:off x="16847820" y="13761720"/>
            <a:ext cx="525780" cy="5257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8</a:t>
            </a:r>
            <a:endParaRPr lang="en-US" sz="1600" dirty="0"/>
          </a:p>
        </p:txBody>
      </p:sp>
      <p:sp>
        <p:nvSpPr>
          <p:cNvPr id="67" name="Text 59"/>
          <p:cNvSpPr/>
          <p:nvPr/>
        </p:nvSpPr>
        <p:spPr>
          <a:xfrm>
            <a:off x="17487900" y="13725144"/>
            <a:ext cx="6743700" cy="594360"/>
          </a:xfrm>
          <a:prstGeom prst="rect">
            <a:avLst/>
          </a:prstGeom>
          <a:noFill/>
          <a:ln/>
        </p:spPr>
        <p:txBody>
          <a:bodyPr wrap="square" lIns="0" tIns="0" rIns="0" bIns="0" rtlCol="0" anchor="ctr"/>
          <a:lstStyle/>
          <a:p>
            <a:pPr algn="l" indent="0" marL="0">
              <a:buNone/>
            </a:pPr>
            <a:r>
              <a:rPr lang="en-US" sz="1700" b="1" dirty="0">
                <a:solidFill>
                  <a:srgbClr val="0B2545"/>
                </a:solidFill>
                <a:latin typeface="Cambria" pitchFamily="34" charset="0"/>
                <a:ea typeface="Cambria" pitchFamily="34" charset="-122"/>
                <a:cs typeface="Cambria" pitchFamily="34" charset="-120"/>
              </a:rPr>
              <a:t>Structure between encounters</a:t>
            </a:r>
            <a:endParaRPr lang="en-US" sz="1700" dirty="0"/>
          </a:p>
        </p:txBody>
      </p:sp>
      <p:pic>
        <p:nvPicPr>
          <p:cNvPr id="68" name="Image 6" descr="tsne_orca_by_day_4days_px30_pres.png">    </p:cNvPr>
          <p:cNvPicPr>
            <a:picLocks noChangeAspect="1"/>
          </p:cNvPicPr>
          <p:nvPr/>
        </p:nvPicPr>
        <p:blipFill>
          <a:blip r:embed="rId7"/>
          <a:stretch>
            <a:fillRect/>
          </a:stretch>
        </p:blipFill>
        <p:spPr>
          <a:xfrm>
            <a:off x="17910810" y="14584680"/>
            <a:ext cx="5257800" cy="3483864"/>
          </a:xfrm>
          <a:prstGeom prst="rect">
            <a:avLst/>
          </a:prstGeom>
        </p:spPr>
      </p:pic>
      <p:sp>
        <p:nvSpPr>
          <p:cNvPr id="69" name="Text 60"/>
          <p:cNvSpPr/>
          <p:nvPr/>
        </p:nvSpPr>
        <p:spPr>
          <a:xfrm>
            <a:off x="16870680" y="18150840"/>
            <a:ext cx="7338060" cy="594360"/>
          </a:xfrm>
          <a:prstGeom prst="rect">
            <a:avLst/>
          </a:prstGeom>
          <a:noFill/>
          <a:ln/>
        </p:spPr>
        <p:txBody>
          <a:bodyPr wrap="square" lIns="0" tIns="0" rIns="0" bIns="0" rtlCol="0" anchor="t"/>
          <a:lstStyle/>
          <a:p>
            <a:pPr indent="0" marL="0">
              <a:lnSpc>
                <a:spcPts val="1050"/>
              </a:lnSpc>
              <a:buNone/>
            </a:pPr>
            <a:r>
              <a:rPr lang="en-US" sz="900" i="1" dirty="0">
                <a:solidFill>
                  <a:srgbClr val="4A5C6A"/>
                </a:solidFill>
                <a:latin typeface="Arial" pitchFamily="34" charset="0"/>
                <a:ea typeface="Arial" pitchFamily="34" charset="-122"/>
                <a:cs typeface="Arial" pitchFamily="34" charset="-120"/>
              </a:rPr>
              <a:t>Zooming inside the orca cluster: 473 confirmed orca windows, coloured by day. The 25 April evening encounter (purple) sits apart from the 13 April morning event (blue), and 12 May holds its own region a month later. The classes separate in the map at left — and within orca, encounters do too. Exploratory; perplexity 30.</a:t>
            </a:r>
            <a:endParaRPr lang="en-US" sz="900" dirty="0"/>
          </a:p>
        </p:txBody>
      </p:sp>
      <p:sp>
        <p:nvSpPr>
          <p:cNvPr id="70" name="Text 61"/>
          <p:cNvSpPr/>
          <p:nvPr/>
        </p:nvSpPr>
        <p:spPr>
          <a:xfrm>
            <a:off x="16870680" y="18836640"/>
            <a:ext cx="7338060" cy="1828800"/>
          </a:xfrm>
          <a:prstGeom prst="rect">
            <a:avLst/>
          </a:prstGeom>
          <a:noFill/>
          <a:ln/>
        </p:spPr>
        <p:txBody>
          <a:bodyPr wrap="square" lIns="0" tIns="0" rIns="0" bIns="0" rtlCol="0" anchor="t"/>
          <a:lstStyle/>
          <a:p>
            <a:pPr marL="139700" indent="-139700">
              <a:lnSpc>
                <a:spcPts val="1416"/>
              </a:lnSpc>
              <a:spcAft>
                <a:spcPts val="450"/>
              </a:spcAft>
              <a:buSzPct val="100000"/>
              <a:buChar char="▪"/>
            </a:pPr>
            <a:r>
              <a:rPr lang="en-US" sz="1200" dirty="0">
                <a:solidFill>
                  <a:srgbClr val="132330"/>
                </a:solidFill>
                <a:latin typeface="Arial" pitchFamily="34" charset="0"/>
                <a:ea typeface="Arial" pitchFamily="34" charset="-122"/>
                <a:cs typeface="Arial" pitchFamily="34" charset="-120"/>
              </a:rPr>
              <a:t>The split holds however the map is drawn (three t-SNE settings) and is not an artifact of one recording or one passing vessel.</a:t>
            </a:r>
            <a:endParaRPr lang="en-US" sz="1200" dirty="0"/>
          </a:p>
          <a:p>
            <a:pPr marL="139700" indent="-139700">
              <a:lnSpc>
                <a:spcPts val="1416"/>
              </a:lnSpc>
              <a:spcAft>
                <a:spcPts val="450"/>
              </a:spcAft>
              <a:buSzPct val="100000"/>
              <a:buChar char="▪"/>
            </a:pPr>
            <a:r>
              <a:rPr lang="en-US" sz="1200" dirty="0">
                <a:solidFill>
                  <a:srgbClr val="132330"/>
                </a:solidFill>
                <a:latin typeface="Arial" pitchFamily="34" charset="0"/>
                <a:ea typeface="Arial" pitchFamily="34" charset="-122"/>
                <a:cs typeface="Arial" pitchFamily="34" charset="-120"/>
              </a:rPr>
              <a:t>Two pods were documented in the bay that spring; the two clusters are consistent with, not proof of, that pairing.</a:t>
            </a:r>
            <a:endParaRPr lang="en-US" sz="1200" dirty="0"/>
          </a:p>
          <a:p>
            <a:pPr marL="139700" indent="-139700">
              <a:lnSpc>
                <a:spcPts val="1416"/>
              </a:lnSpc>
              <a:spcAft>
                <a:spcPts val="450"/>
              </a:spcAft>
              <a:buSzPct val="100000"/>
              <a:buChar char="▪"/>
            </a:pPr>
            <a:r>
              <a:rPr lang="en-US" sz="1200" dirty="0">
                <a:solidFill>
                  <a:srgbClr val="132330"/>
                </a:solidFill>
                <a:latin typeface="Arial" pitchFamily="34" charset="0"/>
                <a:ea typeface="Arial" pitchFamily="34" charset="-122"/>
                <a:cs typeface="Arial" pitchFamily="34" charset="-120"/>
              </a:rPr>
              <a:t>The fingerprints behave like an instrument — they raise testable questions about who was calling.</a:t>
            </a:r>
            <a:endParaRPr lang="en-US" sz="1200" dirty="0"/>
          </a:p>
        </p:txBody>
      </p:sp>
      <p:sp>
        <p:nvSpPr>
          <p:cNvPr id="71" name="Shape 62"/>
          <p:cNvSpPr/>
          <p:nvPr/>
        </p:nvSpPr>
        <p:spPr>
          <a:xfrm>
            <a:off x="24757380" y="5577840"/>
            <a:ext cx="7886700" cy="4846320"/>
          </a:xfrm>
          <a:prstGeom prst="roundRect">
            <a:avLst>
              <a:gd name="adj" fmla="val 1698"/>
            </a:avLst>
          </a:prstGeom>
          <a:solidFill>
            <a:srgbClr val="EEF3F7"/>
          </a:solidFill>
          <a:ln w="12700">
            <a:solidFill>
              <a:srgbClr val="D8E2EA"/>
            </a:solidFill>
            <a:prstDash val="solid"/>
          </a:ln>
        </p:spPr>
      </p:sp>
      <p:sp>
        <p:nvSpPr>
          <p:cNvPr id="72" name="Shape 63"/>
          <p:cNvSpPr/>
          <p:nvPr/>
        </p:nvSpPr>
        <p:spPr>
          <a:xfrm>
            <a:off x="25008840" y="5806440"/>
            <a:ext cx="525780" cy="525780"/>
          </a:xfrm>
          <a:prstGeom prst="ellipse">
            <a:avLst/>
          </a:prstGeom>
          <a:solidFill>
            <a:srgbClr val="1C7293"/>
          </a:solidFill>
          <a:ln w="12700">
            <a:solidFill>
              <a:srgbClr val="1C7293"/>
            </a:solidFill>
            <a:prstDash val="solid"/>
          </a:ln>
        </p:spPr>
      </p:sp>
      <p:sp>
        <p:nvSpPr>
          <p:cNvPr id="73" name="Text 64"/>
          <p:cNvSpPr/>
          <p:nvPr/>
        </p:nvSpPr>
        <p:spPr>
          <a:xfrm>
            <a:off x="25008840" y="5806440"/>
            <a:ext cx="525780" cy="5257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9</a:t>
            </a:r>
            <a:endParaRPr lang="en-US" sz="1600" dirty="0"/>
          </a:p>
        </p:txBody>
      </p:sp>
      <p:sp>
        <p:nvSpPr>
          <p:cNvPr id="74" name="Text 65"/>
          <p:cNvSpPr/>
          <p:nvPr/>
        </p:nvSpPr>
        <p:spPr>
          <a:xfrm>
            <a:off x="25648920" y="5769864"/>
            <a:ext cx="6743700" cy="594360"/>
          </a:xfrm>
          <a:prstGeom prst="rect">
            <a:avLst/>
          </a:prstGeom>
          <a:noFill/>
          <a:ln/>
        </p:spPr>
        <p:txBody>
          <a:bodyPr wrap="square" lIns="0" tIns="0" rIns="0" bIns="0" rtlCol="0" anchor="ctr"/>
          <a:lstStyle/>
          <a:p>
            <a:pPr algn="l" indent="0" marL="0">
              <a:buNone/>
            </a:pPr>
            <a:r>
              <a:rPr lang="en-US" sz="1700" b="1" dirty="0">
                <a:solidFill>
                  <a:srgbClr val="0B2545"/>
                </a:solidFill>
                <a:latin typeface="Cambria" pitchFamily="34" charset="0"/>
                <a:ea typeface="Cambria" pitchFamily="34" charset="-122"/>
                <a:cs typeface="Cambria" pitchFamily="34" charset="-120"/>
              </a:rPr>
              <a:t>Seen but not heard</a:t>
            </a:r>
            <a:endParaRPr lang="en-US" sz="1700" dirty="0"/>
          </a:p>
        </p:txBody>
      </p:sp>
      <p:pic>
        <p:nvPicPr>
          <p:cNvPr id="75" name="Image 7" descr="oceans2026_fig8_threshold_sweep_v4.png">    </p:cNvPr>
          <p:cNvPicPr>
            <a:picLocks noChangeAspect="1"/>
          </p:cNvPicPr>
          <p:nvPr/>
        </p:nvPicPr>
        <p:blipFill>
          <a:blip r:embed="rId8"/>
          <a:stretch>
            <a:fillRect/>
          </a:stretch>
        </p:blipFill>
        <p:spPr>
          <a:xfrm>
            <a:off x="25031700" y="6629400"/>
            <a:ext cx="7338060" cy="2103120"/>
          </a:xfrm>
          <a:prstGeom prst="rect">
            <a:avLst/>
          </a:prstGeom>
        </p:spPr>
      </p:pic>
      <p:sp>
        <p:nvSpPr>
          <p:cNvPr id="76" name="Text 66"/>
          <p:cNvSpPr/>
          <p:nvPr/>
        </p:nvSpPr>
        <p:spPr>
          <a:xfrm>
            <a:off x="25031700" y="8869680"/>
            <a:ext cx="7338060" cy="1463040"/>
          </a:xfrm>
          <a:prstGeom prst="rect">
            <a:avLst/>
          </a:prstGeom>
          <a:noFill/>
          <a:ln/>
        </p:spPr>
        <p:txBody>
          <a:bodyPr wrap="square" lIns="0" tIns="0" rIns="0" bIns="0" rtlCol="0" anchor="t"/>
          <a:lstStyle/>
          <a:p>
            <a:pPr marL="139700" indent="-139700">
              <a:lnSpc>
                <a:spcPts val="1239"/>
              </a:lnSpc>
              <a:spcAft>
                <a:spcPts val="450"/>
              </a:spcAft>
              <a:buSzPct val="100000"/>
              <a:buChar char="▪"/>
            </a:pPr>
            <a:r>
              <a:rPr lang="en-US" sz="1050" dirty="0">
                <a:solidFill>
                  <a:srgbClr val="132330"/>
                </a:solidFill>
                <a:latin typeface="Arial" pitchFamily="34" charset="0"/>
                <a:ea typeface="Arial" pitchFamily="34" charset="-122"/>
                <a:cs typeface="Arial" pitchFamily="34" charset="-120"/>
              </a:rPr>
              <a:t>Two months where orcas were seen from boats but never heard: October 2020 and April 2026.</a:t>
            </a:r>
            <a:endParaRPr lang="en-US" sz="1050" dirty="0"/>
          </a:p>
          <a:p>
            <a:pPr marL="139700" indent="-139700">
              <a:lnSpc>
                <a:spcPts val="1239"/>
              </a:lnSpc>
              <a:spcAft>
                <a:spcPts val="450"/>
              </a:spcAft>
              <a:buSzPct val="100000"/>
              <a:buChar char="▪"/>
            </a:pPr>
            <a:r>
              <a:rPr lang="en-US" sz="1050" dirty="0">
                <a:solidFill>
                  <a:srgbClr val="132330"/>
                </a:solidFill>
                <a:latin typeface="Arial" pitchFamily="34" charset="0"/>
                <a:ea typeface="Arial" pitchFamily="34" charset="-122"/>
                <a:cs typeface="Arial" pitchFamily="34" charset="-120"/>
              </a:rPr>
              <a:t>Every October 2020 detection above our cutoff was listened to, and every one was humpback — false alarms, not missed orca.</a:t>
            </a:r>
            <a:endParaRPr lang="en-US" sz="1050" dirty="0"/>
          </a:p>
          <a:p>
            <a:pPr marL="139700" indent="-139700">
              <a:lnSpc>
                <a:spcPts val="1239"/>
              </a:lnSpc>
              <a:spcAft>
                <a:spcPts val="450"/>
              </a:spcAft>
              <a:buSzPct val="100000"/>
              <a:buChar char="▪"/>
            </a:pPr>
            <a:r>
              <a:rPr lang="en-US" sz="1050" dirty="0">
                <a:solidFill>
                  <a:srgbClr val="132330"/>
                </a:solidFill>
                <a:latin typeface="Arial" pitchFamily="34" charset="0"/>
                <a:ea typeface="Arial" pitchFamily="34" charset="-122"/>
                <a:cs typeface="Arial" pitchFamily="34" charset="-120"/>
              </a:rPr>
              <a:t>Bigg’s orcas are often silent while hunting, so seen-but-not-heard is a real outcome, not a broken detector. Both months now serve as a standing test that the detector stays quiet when it should.</a:t>
            </a:r>
            <a:endParaRPr lang="en-US" sz="1050" dirty="0"/>
          </a:p>
        </p:txBody>
      </p:sp>
      <p:sp>
        <p:nvSpPr>
          <p:cNvPr id="77" name="Shape 67"/>
          <p:cNvSpPr/>
          <p:nvPr/>
        </p:nvSpPr>
        <p:spPr>
          <a:xfrm>
            <a:off x="24757380" y="10698480"/>
            <a:ext cx="7886700" cy="4846320"/>
          </a:xfrm>
          <a:prstGeom prst="roundRect">
            <a:avLst>
              <a:gd name="adj" fmla="val 1698"/>
            </a:avLst>
          </a:prstGeom>
          <a:solidFill>
            <a:srgbClr val="EEF3F7"/>
          </a:solidFill>
          <a:ln w="12700">
            <a:solidFill>
              <a:srgbClr val="D8E2EA"/>
            </a:solidFill>
            <a:prstDash val="solid"/>
          </a:ln>
        </p:spPr>
      </p:sp>
      <p:sp>
        <p:nvSpPr>
          <p:cNvPr id="78" name="Shape 68"/>
          <p:cNvSpPr/>
          <p:nvPr/>
        </p:nvSpPr>
        <p:spPr>
          <a:xfrm>
            <a:off x="25008840" y="10927080"/>
            <a:ext cx="525780" cy="525780"/>
          </a:xfrm>
          <a:prstGeom prst="ellipse">
            <a:avLst/>
          </a:prstGeom>
          <a:solidFill>
            <a:srgbClr val="1C7293"/>
          </a:solidFill>
          <a:ln w="12700">
            <a:solidFill>
              <a:srgbClr val="1C7293"/>
            </a:solidFill>
            <a:prstDash val="solid"/>
          </a:ln>
        </p:spPr>
      </p:sp>
      <p:sp>
        <p:nvSpPr>
          <p:cNvPr id="79" name="Text 69"/>
          <p:cNvSpPr/>
          <p:nvPr/>
        </p:nvSpPr>
        <p:spPr>
          <a:xfrm>
            <a:off x="25008840" y="10927080"/>
            <a:ext cx="525780" cy="5257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10</a:t>
            </a:r>
            <a:endParaRPr lang="en-US" sz="1600" dirty="0"/>
          </a:p>
        </p:txBody>
      </p:sp>
      <p:sp>
        <p:nvSpPr>
          <p:cNvPr id="80" name="Text 70"/>
          <p:cNvSpPr/>
          <p:nvPr/>
        </p:nvSpPr>
        <p:spPr>
          <a:xfrm>
            <a:off x="25648920" y="10890504"/>
            <a:ext cx="6743700" cy="594360"/>
          </a:xfrm>
          <a:prstGeom prst="rect">
            <a:avLst/>
          </a:prstGeom>
          <a:noFill/>
          <a:ln/>
        </p:spPr>
        <p:txBody>
          <a:bodyPr wrap="square" lIns="0" tIns="0" rIns="0" bIns="0" rtlCol="0" anchor="ctr"/>
          <a:lstStyle/>
          <a:p>
            <a:pPr algn="l" indent="0" marL="0">
              <a:buNone/>
            </a:pPr>
            <a:r>
              <a:rPr lang="en-US" sz="1700" b="1" dirty="0">
                <a:solidFill>
                  <a:srgbClr val="0B2545"/>
                </a:solidFill>
                <a:latin typeface="Cambria" pitchFamily="34" charset="0"/>
                <a:ea typeface="Cambria" pitchFamily="34" charset="-122"/>
                <a:cs typeface="Cambria" pitchFamily="34" charset="-120"/>
              </a:rPr>
              <a:t>Measured limits</a:t>
            </a:r>
            <a:endParaRPr lang="en-US" sz="1700" dirty="0"/>
          </a:p>
        </p:txBody>
      </p:sp>
      <p:sp>
        <p:nvSpPr>
          <p:cNvPr id="81" name="Text 71"/>
          <p:cNvSpPr/>
          <p:nvPr/>
        </p:nvSpPr>
        <p:spPr>
          <a:xfrm>
            <a:off x="25031700" y="11681460"/>
            <a:ext cx="7338060" cy="411480"/>
          </a:xfrm>
          <a:prstGeom prst="rect">
            <a:avLst/>
          </a:prstGeom>
          <a:noFill/>
          <a:ln/>
        </p:spPr>
        <p:txBody>
          <a:bodyPr wrap="square" lIns="0" tIns="0" rIns="0" bIns="0" rtlCol="0" anchor="t"/>
          <a:lstStyle/>
          <a:p>
            <a:pPr indent="0" marL="0">
              <a:lnSpc>
                <a:spcPts val="1050"/>
              </a:lnSpc>
              <a:buNone/>
            </a:pPr>
            <a:r>
              <a:rPr lang="en-US" sz="900" i="1" dirty="0">
                <a:solidFill>
                  <a:srgbClr val="4A5C6A"/>
                </a:solidFill>
                <a:latin typeface="Arial" pitchFamily="34" charset="0"/>
                <a:ea typeface="Arial" pitchFamily="34" charset="-122"/>
                <a:cs typeface="Arial" pitchFamily="34" charset="-120"/>
              </a:rPr>
              <a:t>Panels 1–9 present v4. The scores below come from orca_v10 — the same three-season recipe retrained on 1,076 labels (v4: 803), including the orca days and ship-noise pass confirmed since. Each class has its own cutoff.</a:t>
            </a:r>
            <a:endParaRPr lang="en-US" sz="900" dirty="0"/>
          </a:p>
        </p:txBody>
      </p:sp>
      <p:pic>
        <p:nvPicPr>
          <p:cNvPr id="82" name="Image 8" descr="oceans2026_fig9_per_class_f1_v4.png">    </p:cNvPr>
          <p:cNvPicPr>
            <a:picLocks noChangeAspect="1"/>
          </p:cNvPicPr>
          <p:nvPr/>
        </p:nvPicPr>
        <p:blipFill>
          <a:blip r:embed="rId9"/>
          <a:stretch>
            <a:fillRect/>
          </a:stretch>
        </p:blipFill>
        <p:spPr>
          <a:xfrm>
            <a:off x="25031700" y="12184380"/>
            <a:ext cx="7338060" cy="1920240"/>
          </a:xfrm>
          <a:prstGeom prst="rect">
            <a:avLst/>
          </a:prstGeom>
        </p:spPr>
      </p:pic>
      <p:sp>
        <p:nvSpPr>
          <p:cNvPr id="83" name="Text 72"/>
          <p:cNvSpPr/>
          <p:nvPr/>
        </p:nvSpPr>
        <p:spPr>
          <a:xfrm>
            <a:off x="25031700" y="14218920"/>
            <a:ext cx="7338060" cy="1280160"/>
          </a:xfrm>
          <a:prstGeom prst="rect">
            <a:avLst/>
          </a:prstGeom>
          <a:noFill/>
          <a:ln/>
        </p:spPr>
        <p:txBody>
          <a:bodyPr wrap="square" lIns="0" tIns="0" rIns="0" bIns="0" rtlCol="0" anchor="t"/>
          <a:lstStyle/>
          <a:p>
            <a:pPr marL="139700" indent="-139700">
              <a:lnSpc>
                <a:spcPts val="1180"/>
              </a:lnSpc>
              <a:spcAft>
                <a:spcPts val="450"/>
              </a:spcAft>
              <a:buSzPct val="100000"/>
              <a:buChar char="▪"/>
            </a:pPr>
            <a:r>
              <a:rPr lang="en-US" sz="1000" dirty="0">
                <a:solidFill>
                  <a:srgbClr val="132330"/>
                </a:solidFill>
                <a:latin typeface="Arial" pitchFamily="34" charset="0"/>
                <a:ea typeface="Arial" pitchFamily="34" charset="-122"/>
                <a:cs typeface="Arial" pitchFamily="34" charset="-120"/>
              </a:rPr>
              <a:t>Each class needs its own cutoff — the best values run from +0.79 to +2.31, so one global setting cannot serve them all.</a:t>
            </a:r>
            <a:endParaRPr lang="en-US" sz="1000" dirty="0"/>
          </a:p>
          <a:p>
            <a:pPr marL="139700" indent="-139700">
              <a:lnSpc>
                <a:spcPts val="1180"/>
              </a:lnSpc>
              <a:spcAft>
                <a:spcPts val="450"/>
              </a:spcAft>
              <a:buSzPct val="100000"/>
              <a:buChar char="▪"/>
            </a:pPr>
            <a:r>
              <a:rPr lang="en-US" sz="1000" dirty="0">
                <a:solidFill>
                  <a:srgbClr val="132330"/>
                </a:solidFill>
                <a:latin typeface="Arial" pitchFamily="34" charset="0"/>
                <a:ea typeface="Arial" pitchFamily="34" charset="-122"/>
                <a:cs typeface="Arial" pitchFamily="34" charset="-120"/>
              </a:rPr>
              <a:t>Cutoffs are set on months the model did not train on, never on the month being analysed.</a:t>
            </a:r>
            <a:endParaRPr lang="en-US" sz="1000" dirty="0"/>
          </a:p>
          <a:p>
            <a:pPr marL="139700" indent="-139700">
              <a:lnSpc>
                <a:spcPts val="1180"/>
              </a:lnSpc>
              <a:spcAft>
                <a:spcPts val="450"/>
              </a:spcAft>
              <a:buSzPct val="100000"/>
              <a:buChar char="▪"/>
            </a:pPr>
            <a:r>
              <a:rPr lang="en-US" sz="1000" dirty="0">
                <a:solidFill>
                  <a:srgbClr val="132330"/>
                </a:solidFill>
                <a:latin typeface="Arial" pitchFamily="34" charset="0"/>
                <a:ea typeface="Arial" pitchFamily="34" charset="-122"/>
                <a:cs typeface="Arial" pitchFamily="34" charset="-120"/>
              </a:rPr>
              <a:t>Whale-watch vessels arrive once orcas are sighted, so ship noise tracks orca presence — it can never be evidence of absence.</a:t>
            </a:r>
            <a:endParaRPr lang="en-US" sz="1000" dirty="0"/>
          </a:p>
        </p:txBody>
      </p:sp>
      <p:sp>
        <p:nvSpPr>
          <p:cNvPr id="84" name="Shape 73"/>
          <p:cNvSpPr/>
          <p:nvPr/>
        </p:nvSpPr>
        <p:spPr>
          <a:xfrm>
            <a:off x="24757380" y="15819120"/>
            <a:ext cx="7886700" cy="4937760"/>
          </a:xfrm>
          <a:prstGeom prst="roundRect">
            <a:avLst>
              <a:gd name="adj" fmla="val 1667"/>
            </a:avLst>
          </a:prstGeom>
          <a:solidFill>
            <a:srgbClr val="EEF3F7"/>
          </a:solidFill>
          <a:ln w="12700">
            <a:solidFill>
              <a:srgbClr val="D8E2EA"/>
            </a:solidFill>
            <a:prstDash val="solid"/>
          </a:ln>
        </p:spPr>
      </p:sp>
      <p:sp>
        <p:nvSpPr>
          <p:cNvPr id="85" name="Shape 74"/>
          <p:cNvSpPr/>
          <p:nvPr/>
        </p:nvSpPr>
        <p:spPr>
          <a:xfrm>
            <a:off x="25008840" y="16047720"/>
            <a:ext cx="525780" cy="525780"/>
          </a:xfrm>
          <a:prstGeom prst="ellipse">
            <a:avLst/>
          </a:prstGeom>
          <a:solidFill>
            <a:srgbClr val="1C7293"/>
          </a:solidFill>
          <a:ln w="12700">
            <a:solidFill>
              <a:srgbClr val="1C7293"/>
            </a:solidFill>
            <a:prstDash val="solid"/>
          </a:ln>
        </p:spPr>
      </p:sp>
      <p:sp>
        <p:nvSpPr>
          <p:cNvPr id="86" name="Text 75"/>
          <p:cNvSpPr/>
          <p:nvPr/>
        </p:nvSpPr>
        <p:spPr>
          <a:xfrm>
            <a:off x="25008840" y="16047720"/>
            <a:ext cx="525780" cy="5257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11</a:t>
            </a:r>
            <a:endParaRPr lang="en-US" sz="1600" dirty="0"/>
          </a:p>
        </p:txBody>
      </p:sp>
      <p:sp>
        <p:nvSpPr>
          <p:cNvPr id="87" name="Text 76"/>
          <p:cNvSpPr/>
          <p:nvPr/>
        </p:nvSpPr>
        <p:spPr>
          <a:xfrm>
            <a:off x="25648920" y="16011144"/>
            <a:ext cx="6743700" cy="594360"/>
          </a:xfrm>
          <a:prstGeom prst="rect">
            <a:avLst/>
          </a:prstGeom>
          <a:noFill/>
          <a:ln/>
        </p:spPr>
        <p:txBody>
          <a:bodyPr wrap="square" lIns="0" tIns="0" rIns="0" bIns="0" rtlCol="0" anchor="ctr"/>
          <a:lstStyle/>
          <a:p>
            <a:pPr algn="l" indent="0" marL="0">
              <a:buNone/>
            </a:pPr>
            <a:r>
              <a:rPr lang="en-US" sz="1700" b="1" dirty="0">
                <a:solidFill>
                  <a:srgbClr val="0B2545"/>
                </a:solidFill>
                <a:latin typeface="Cambria" pitchFamily="34" charset="0"/>
                <a:ea typeface="Cambria" pitchFamily="34" charset="-122"/>
                <a:cs typeface="Cambria" pitchFamily="34" charset="-120"/>
              </a:rPr>
              <a:t>Next</a:t>
            </a:r>
            <a:endParaRPr lang="en-US" sz="1700" dirty="0"/>
          </a:p>
        </p:txBody>
      </p:sp>
      <p:sp>
        <p:nvSpPr>
          <p:cNvPr id="88" name="Text 77"/>
          <p:cNvSpPr/>
          <p:nvPr/>
        </p:nvSpPr>
        <p:spPr>
          <a:xfrm>
            <a:off x="25031700" y="16779240"/>
            <a:ext cx="7338060" cy="1645920"/>
          </a:xfrm>
          <a:prstGeom prst="rect">
            <a:avLst/>
          </a:prstGeom>
          <a:noFill/>
          <a:ln/>
        </p:spPr>
        <p:txBody>
          <a:bodyPr wrap="square" lIns="0" tIns="0" rIns="0" bIns="0" rtlCol="0" anchor="t"/>
          <a:lstStyle/>
          <a:p>
            <a:pPr marL="139700" indent="-139700">
              <a:lnSpc>
                <a:spcPts val="1298"/>
              </a:lnSpc>
              <a:spcAft>
                <a:spcPts val="450"/>
              </a:spcAft>
              <a:buSzPct val="100000"/>
              <a:buChar char="▪"/>
            </a:pPr>
            <a:r>
              <a:rPr lang="en-US" sz="1100" dirty="0">
                <a:solidFill>
                  <a:srgbClr val="132330"/>
                </a:solidFill>
                <a:latin typeface="Arial" pitchFamily="34" charset="0"/>
                <a:ea typeface="Arial" pitchFamily="34" charset="-122"/>
                <a:cs typeface="Arial" pitchFamily="34" charset="-120"/>
              </a:rPr>
              <a:t>Done: a three-season retrain (April 2018 + October 2020 + April 2026) folding in this spring’s confirmed orca days and a targeted ship-noise labeling pass — see panel 10. Adding May 2018 back in is the next step, once we understand why it previously inflated ship-noise false alarms.</a:t>
            </a:r>
            <a:endParaRPr lang="en-US" sz="1100" dirty="0"/>
          </a:p>
          <a:p>
            <a:pPr marL="139700" indent="-139700">
              <a:lnSpc>
                <a:spcPts val="1298"/>
              </a:lnSpc>
              <a:spcAft>
                <a:spcPts val="450"/>
              </a:spcAft>
              <a:buSzPct val="100000"/>
              <a:buChar char="▪"/>
            </a:pPr>
            <a:r>
              <a:rPr lang="en-US" sz="1100" dirty="0">
                <a:solidFill>
                  <a:srgbClr val="132330"/>
                </a:solidFill>
                <a:latin typeface="Arial" pitchFamily="34" charset="0"/>
                <a:ea typeface="Arial" pitchFamily="34" charset="-122"/>
                <a:cs typeface="Arial" pitchFamily="34" charset="-120"/>
              </a:rPr>
              <a:t>Humpback vocalization is one broad class covering song and a wide range of other calls. Separating them is the likeliest route to lifting the weakest scores here.</a:t>
            </a:r>
            <a:endParaRPr lang="en-US" sz="1100" dirty="0"/>
          </a:p>
          <a:p>
            <a:pPr marL="139700" indent="-139700">
              <a:lnSpc>
                <a:spcPts val="1298"/>
              </a:lnSpc>
              <a:spcAft>
                <a:spcPts val="450"/>
              </a:spcAft>
              <a:buSzPct val="100000"/>
              <a:buChar char="▪"/>
            </a:pPr>
            <a:r>
              <a:rPr lang="en-US" sz="1100" dirty="0">
                <a:solidFill>
                  <a:srgbClr val="132330"/>
                </a:solidFill>
                <a:latin typeface="Arial" pitchFamily="34" charset="0"/>
                <a:ea typeface="Arial" pitchFamily="34" charset="-122"/>
                <a:cs typeface="Arial" pitchFamily="34" charset="-120"/>
              </a:rPr>
              <a:t>Then: a separate score cutoff per class, and extension to Southern Resident and Offshore ecotypes.</a:t>
            </a:r>
            <a:endParaRPr lang="en-US" sz="1100" dirty="0"/>
          </a:p>
        </p:txBody>
      </p:sp>
      <p:sp>
        <p:nvSpPr>
          <p:cNvPr id="89" name="Text 78"/>
          <p:cNvSpPr/>
          <p:nvPr/>
        </p:nvSpPr>
        <p:spPr>
          <a:xfrm>
            <a:off x="25031700" y="18288000"/>
            <a:ext cx="7338060" cy="228600"/>
          </a:xfrm>
          <a:prstGeom prst="rect">
            <a:avLst/>
          </a:prstGeom>
          <a:noFill/>
          <a:ln/>
        </p:spPr>
        <p:txBody>
          <a:bodyPr wrap="square" lIns="0" tIns="0" rIns="0" bIns="0" rtlCol="0" anchor="ctr"/>
          <a:lstStyle/>
          <a:p>
            <a:pPr indent="0" marL="0">
              <a:buNone/>
            </a:pPr>
            <a:r>
              <a:rPr lang="en-US" sz="1100" b="1" dirty="0">
                <a:solidFill>
                  <a:srgbClr val="0B2545"/>
                </a:solidFill>
                <a:latin typeface="Cambria" pitchFamily="34" charset="0"/>
                <a:ea typeface="Cambria" pitchFamily="34" charset="-122"/>
                <a:cs typeface="Cambria" pitchFamily="34" charset="-120"/>
              </a:rPr>
              <a:t>Acknowledgements</a:t>
            </a:r>
            <a:endParaRPr lang="en-US" sz="1100" dirty="0"/>
          </a:p>
        </p:txBody>
      </p:sp>
      <p:sp>
        <p:nvSpPr>
          <p:cNvPr id="90" name="Text 79"/>
          <p:cNvSpPr/>
          <p:nvPr/>
        </p:nvSpPr>
        <p:spPr>
          <a:xfrm>
            <a:off x="25031700" y="18539460"/>
            <a:ext cx="7338060" cy="640080"/>
          </a:xfrm>
          <a:prstGeom prst="rect">
            <a:avLst/>
          </a:prstGeom>
          <a:noFill/>
          <a:ln/>
        </p:spPr>
        <p:txBody>
          <a:bodyPr wrap="square" lIns="0" tIns="0" rIns="0" bIns="0" rtlCol="0" anchor="t"/>
          <a:lstStyle/>
          <a:p>
            <a:pPr indent="0" marL="0">
              <a:lnSpc>
                <a:spcPts val="1050"/>
              </a:lnSpc>
              <a:buNone/>
            </a:pPr>
            <a:r>
              <a:rPr lang="en-US" sz="900" dirty="0">
                <a:solidFill>
                  <a:srgbClr val="4A5C6A"/>
                </a:solidFill>
                <a:latin typeface="Arial" pitchFamily="34" charset="0"/>
                <a:ea typeface="Arial" pitchFamily="34" charset="-122"/>
                <a:cs typeface="Arial" pitchFamily="34" charset="-120"/>
              </a:rPr>
              <a:t>MARS is operated by MBARI with support from the David and Lucile Packard Foundation. Visual sighting context from the California Killer Whale Project and Monterey Bay vessel reports.</a:t>
            </a:r>
            <a:endParaRPr lang="en-US" sz="900" dirty="0"/>
          </a:p>
        </p:txBody>
      </p:sp>
      <p:sp>
        <p:nvSpPr>
          <p:cNvPr id="91" name="Text 80"/>
          <p:cNvSpPr/>
          <p:nvPr/>
        </p:nvSpPr>
        <p:spPr>
          <a:xfrm>
            <a:off x="25031700" y="19248120"/>
            <a:ext cx="7338060" cy="228600"/>
          </a:xfrm>
          <a:prstGeom prst="rect">
            <a:avLst/>
          </a:prstGeom>
          <a:noFill/>
          <a:ln/>
        </p:spPr>
        <p:txBody>
          <a:bodyPr wrap="square" lIns="0" tIns="0" rIns="0" bIns="0" rtlCol="0" anchor="ctr"/>
          <a:lstStyle/>
          <a:p>
            <a:pPr indent="0" marL="0">
              <a:buNone/>
            </a:pPr>
            <a:r>
              <a:rPr lang="en-US" sz="1100" b="1" dirty="0">
                <a:solidFill>
                  <a:srgbClr val="0B2545"/>
                </a:solidFill>
                <a:latin typeface="Cambria" pitchFamily="34" charset="0"/>
                <a:ea typeface="Cambria" pitchFamily="34" charset="-122"/>
                <a:cs typeface="Cambria" pitchFamily="34" charset="-120"/>
              </a:rPr>
              <a:t>Selected references</a:t>
            </a:r>
            <a:endParaRPr lang="en-US" sz="1100" dirty="0"/>
          </a:p>
        </p:txBody>
      </p:sp>
      <p:sp>
        <p:nvSpPr>
          <p:cNvPr id="92" name="Text 81"/>
          <p:cNvSpPr/>
          <p:nvPr/>
        </p:nvSpPr>
        <p:spPr>
          <a:xfrm>
            <a:off x="25031700" y="19499580"/>
            <a:ext cx="7338060" cy="1188720"/>
          </a:xfrm>
          <a:prstGeom prst="rect">
            <a:avLst/>
          </a:prstGeom>
          <a:noFill/>
          <a:ln/>
        </p:spPr>
        <p:txBody>
          <a:bodyPr wrap="square" lIns="0" tIns="0" rIns="0" bIns="0" rtlCol="0" anchor="t"/>
          <a:lstStyle/>
          <a:p>
            <a:pPr indent="0" marL="0">
              <a:lnSpc>
                <a:spcPts val="1000"/>
              </a:lnSpc>
              <a:buNone/>
            </a:pPr>
            <a:r>
              <a:rPr lang="en-US" sz="850" dirty="0">
                <a:solidFill>
                  <a:srgbClr val="4A5C6A"/>
                </a:solidFill>
                <a:latin typeface="Arial" pitchFamily="34" charset="0"/>
                <a:ea typeface="Arial" pitchFamily="34" charset="-122"/>
                <a:cs typeface="Arial" pitchFamily="34" charset="-120"/>
              </a:rPr>
              <a:t>van Merriënboer et al. (2025) Perch 2.0, arXiv:2508.04665  ·  Burns et al. Perch 2.0 transfers ‘whale’ to underwater tasks, arXiv:2512.03219  ·  Google Research, perch-hoplite  ·  Harvey, Allen &amp; Harrell (2024) multispecies-whale, Kaggle  ·  Bonhoeffer et al. (2025) orcAI, Mar. Mamm. Sci. 42(1)  ·  Ryan et al. (2016) OCEANS Monterey  ·  McInnes et al. (2023) Bigg’s killer whale catalog, NOAA SWFSC</a:t>
            </a:r>
            <a:endParaRPr lang="en-US" sz="850" dirty="0"/>
          </a:p>
        </p:txBody>
      </p:sp>
      <p:sp>
        <p:nvSpPr>
          <p:cNvPr id="93" name="Shape 82"/>
          <p:cNvSpPr/>
          <p:nvPr/>
        </p:nvSpPr>
        <p:spPr>
          <a:xfrm>
            <a:off x="30815280" y="20894040"/>
            <a:ext cx="914400" cy="914400"/>
          </a:xfrm>
          <a:prstGeom prst="rect">
            <a:avLst/>
          </a:prstGeom>
          <a:solidFill>
            <a:srgbClr val="FFFFFF"/>
          </a:solidFill>
          <a:ln w="25400">
            <a:solidFill>
              <a:srgbClr val="1C7293"/>
            </a:solidFill>
            <a:prstDash val="dash"/>
          </a:ln>
        </p:spPr>
      </p:sp>
      <p:sp>
        <p:nvSpPr>
          <p:cNvPr id="94" name="Text 83"/>
          <p:cNvSpPr/>
          <p:nvPr/>
        </p:nvSpPr>
        <p:spPr>
          <a:xfrm>
            <a:off x="30815280" y="20894040"/>
            <a:ext cx="914400" cy="914400"/>
          </a:xfrm>
          <a:prstGeom prst="rect">
            <a:avLst/>
          </a:prstGeom>
          <a:noFill/>
          <a:ln/>
        </p:spPr>
        <p:txBody>
          <a:bodyPr wrap="square" lIns="0" tIns="0" rIns="0" bIns="0" rtlCol="0" anchor="ctr"/>
          <a:lstStyle/>
          <a:p>
            <a:pPr algn="ctr" indent="0" marL="0">
              <a:buNone/>
            </a:pPr>
            <a:r>
              <a:rPr lang="en-US" sz="1100" b="1" dirty="0">
                <a:solidFill>
                  <a:srgbClr val="1C7293"/>
                </a:solidFill>
                <a:latin typeface="Arial" pitchFamily="34" charset="0"/>
                <a:ea typeface="Arial" pitchFamily="34" charset="-122"/>
                <a:cs typeface="Arial" pitchFamily="34" charset="-120"/>
              </a:rPr>
              <a:t>QR</a:t>
            </a:r>
            <a:endParaRPr lang="en-US" sz="1100" dirty="0"/>
          </a:p>
        </p:txBody>
      </p:sp>
      <p:sp>
        <p:nvSpPr>
          <p:cNvPr id="95" name="Text 84"/>
          <p:cNvSpPr/>
          <p:nvPr/>
        </p:nvSpPr>
        <p:spPr>
          <a:xfrm>
            <a:off x="27249120" y="20894040"/>
            <a:ext cx="3474720" cy="914400"/>
          </a:xfrm>
          <a:prstGeom prst="rect">
            <a:avLst/>
          </a:prstGeom>
          <a:noFill/>
          <a:ln/>
        </p:spPr>
        <p:txBody>
          <a:bodyPr wrap="square" lIns="0" tIns="0" rIns="0" bIns="0" rtlCol="0" anchor="ctr"/>
          <a:lstStyle/>
          <a:p>
            <a:pPr algn="r" indent="0" marL="0">
              <a:lnSpc>
                <a:spcPts val="1050"/>
              </a:lnSpc>
              <a:buNone/>
            </a:pPr>
            <a:r>
              <a:rPr lang="en-US" sz="900" b="1" i="1" dirty="0">
                <a:solidFill>
                  <a:srgbClr val="4A5C6A"/>
                </a:solidFill>
                <a:latin typeface="Arial" pitchFamily="34" charset="0"/>
                <a:ea typeface="Arial" pitchFamily="34" charset="-122"/>
                <a:cs typeface="Arial" pitchFamily="34" charset="-120"/>
              </a:rPr>
              <a:t>QR → code, figures and data
</a:t>
            </a:r>
            <a:pPr algn="r" indent="0" marL="0">
              <a:lnSpc>
                <a:spcPts val="1050"/>
              </a:lnSpc>
              <a:buNone/>
            </a:pPr>
            <a:r>
              <a:rPr lang="en-US" sz="900" i="1" dirty="0">
                <a:solidFill>
                  <a:srgbClr val="4A5C6A"/>
                </a:solidFill>
                <a:latin typeface="Arial" pitchFamily="34" charset="0"/>
                <a:ea typeface="Arial" pitchFamily="34" charset="-122"/>
                <a:cs typeface="Arial" pitchFamily="34" charset="-120"/>
              </a:rPr>
              <a:t>github.com/duane-edgington/perch-hoplite</a:t>
            </a:r>
            <a:endParaRPr lang="en-US" sz="900" dirty="0"/>
          </a:p>
        </p:txBody>
      </p:sp>
      <p:sp>
        <p:nvSpPr>
          <p:cNvPr id="96" name="Text 85"/>
          <p:cNvSpPr/>
          <p:nvPr/>
        </p:nvSpPr>
        <p:spPr>
          <a:xfrm>
            <a:off x="274320" y="20894040"/>
            <a:ext cx="26426160" cy="914400"/>
          </a:xfrm>
          <a:prstGeom prst="rect">
            <a:avLst/>
          </a:prstGeom>
          <a:noFill/>
          <a:ln/>
        </p:spPr>
        <p:txBody>
          <a:bodyPr wrap="square" lIns="0" tIns="0" rIns="0" bIns="0" rtlCol="0" anchor="t"/>
          <a:lstStyle/>
          <a:p>
            <a:pPr indent="0" marL="0">
              <a:lnSpc>
                <a:spcPts val="1200"/>
              </a:lnSpc>
              <a:buNone/>
            </a:pPr>
            <a:r>
              <a:rPr lang="en-US" sz="950" dirty="0">
                <a:solidFill>
                  <a:srgbClr val="4A5C6A"/>
                </a:solidFill>
                <a:latin typeface="Arial" pitchFamily="34" charset="0"/>
                <a:ea typeface="Arial" pitchFamily="34" charset="-122"/>
                <a:cs typeface="Arial" pitchFamily="34" charset="-120"/>
              </a:rPr>
              <a:t>Duane R. Edgington  duane@mbari.org  ·  John Ryan  ryjo@mbari.org  ·  Monterey Bay Aquarium Research Institute, Moss Landing, California</a:t>
            </a:r>
            <a:endParaRPr lang="en-US" sz="950" dirty="0"/>
          </a:p>
          <a:p>
            <a:pPr indent="0" marL="0">
              <a:lnSpc>
                <a:spcPts val="1200"/>
              </a:lnSpc>
              <a:buNone/>
            </a:pPr>
            <a:r>
              <a:rPr lang="en-US" sz="950" dirty="0">
                <a:solidFill>
                  <a:srgbClr val="4A5C6A"/>
                </a:solidFill>
                <a:latin typeface="Arial" pitchFamily="34" charset="0"/>
                <a:ea typeface="Arial" pitchFamily="34" charset="-122"/>
                <a:cs typeface="Arial" pitchFamily="34" charset="-120"/>
              </a:rPr>
              <a:t>Project: mbari.org/project/soundscape-listening-room   |   Audio: Pacific Ocean Sound recordings (AWS Open Data Registry), MARS cabled observatory, MBNMS.</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2026-08-22T05:01:57Z</dcterms:created>
  <dcterms:modified xsi:type="dcterms:W3CDTF">2026-08-22T05:01:57Z</dcterms:modified>
</cp:coreProperties>
</file>