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2918400" cy="21945600"/>
  <p:notesSz cx="21945600" cy="3291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slideLayout" Target="../slideLayouts/slideLayout1.xml"/><Relationship Id="rId1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74320" y="274320"/>
            <a:ext cx="25603200" cy="2560320"/>
          </a:xfrm>
          <a:prstGeom prst="rect">
            <a:avLst/>
          </a:prstGeom>
          <a:solidFill>
            <a:srgbClr val="0B2545"/>
          </a:solidFill>
          <a:ln w="12700">
            <a:solidFill>
              <a:srgbClr val="0B2545"/>
            </a:solidFill>
            <a:prstDash val="solid"/>
          </a:ln>
        </p:spPr>
      </p:sp>
      <p:sp>
        <p:nvSpPr>
          <p:cNvPr id="3" name="Text 1"/>
          <p:cNvSpPr/>
          <p:nvPr/>
        </p:nvSpPr>
        <p:spPr>
          <a:xfrm>
            <a:off x="640080" y="388620"/>
            <a:ext cx="24871680" cy="1417320"/>
          </a:xfrm>
          <a:prstGeom prst="rect">
            <a:avLst/>
          </a:prstGeom>
          <a:noFill/>
          <a:ln/>
        </p:spPr>
        <p:txBody>
          <a:bodyPr wrap="square" lIns="0" tIns="0" rIns="0" bIns="0" rtlCol="0" anchor="ctr"/>
          <a:lstStyle/>
          <a:p>
            <a:pPr indent="0" marL="0">
              <a:lnSpc>
                <a:spcPts val="3500"/>
              </a:lnSpc>
              <a:buNone/>
            </a:pPr>
            <a:r>
              <a:rPr lang="en-US" sz="3100" b="1" dirty="0">
                <a:solidFill>
                  <a:srgbClr val="FFFFFF"/>
                </a:solidFill>
                <a:latin typeface="Cambria" pitchFamily="34" charset="0"/>
                <a:ea typeface="Cambria" pitchFamily="34" charset="-122"/>
                <a:cs typeface="Cambria" pitchFamily="34" charset="-120"/>
              </a:rPr>
              <a:t>Application of Foundation Model and Agile Modeling to Passive Acoustic Detection of Orcas in Monterey Bay National Marine Sanctuary</a:t>
            </a:r>
            <a:endParaRPr lang="en-US" sz="3100" dirty="0"/>
          </a:p>
        </p:txBody>
      </p:sp>
      <p:sp>
        <p:nvSpPr>
          <p:cNvPr id="4" name="Text 2"/>
          <p:cNvSpPr/>
          <p:nvPr/>
        </p:nvSpPr>
        <p:spPr>
          <a:xfrm>
            <a:off x="640080" y="1851660"/>
            <a:ext cx="24871680" cy="41148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Duane R. Edgington</a:t>
            </a:r>
            <a:pPr indent="0" marL="0">
              <a:buNone/>
            </a:pPr>
            <a:r>
              <a:rPr lang="en-US" sz="1500" dirty="0">
                <a:solidFill>
                  <a:srgbClr val="FFFFFF"/>
                </a:solidFill>
                <a:latin typeface="Arial" pitchFamily="34" charset="0"/>
                <a:ea typeface="Arial" pitchFamily="34" charset="-122"/>
                <a:cs typeface="Arial" pitchFamily="34" charset="-120"/>
              </a:rPr>
              <a:t>  and  </a:t>
            </a:r>
            <a:pPr indent="0" marL="0">
              <a:buNone/>
            </a:pPr>
            <a:r>
              <a:rPr lang="en-US" sz="1500" b="1" dirty="0">
                <a:solidFill>
                  <a:srgbClr val="FFFFFF"/>
                </a:solidFill>
                <a:latin typeface="Arial" pitchFamily="34" charset="0"/>
                <a:ea typeface="Arial" pitchFamily="34" charset="-122"/>
                <a:cs typeface="Arial" pitchFamily="34" charset="-120"/>
              </a:rPr>
              <a:t>John Ryan</a:t>
            </a:r>
            <a:pPr indent="0" marL="0">
              <a:buNone/>
            </a:pPr>
            <a:r>
              <a:rPr lang="en-US" sz="1500" dirty="0">
                <a:solidFill>
                  <a:srgbClr val="FFFFFF"/>
                </a:solidFill>
                <a:latin typeface="Arial" pitchFamily="34" charset="0"/>
                <a:ea typeface="Arial" pitchFamily="34" charset="-122"/>
                <a:cs typeface="Arial" pitchFamily="34" charset="-120"/>
              </a:rPr>
              <a:t>   ·   Monterey Bay Aquarium Research Institute (MBARI), Moss Landing, California, USA</a:t>
            </a:r>
            <a:endParaRPr lang="en-US" sz="1500" dirty="0"/>
          </a:p>
        </p:txBody>
      </p:sp>
      <p:sp>
        <p:nvSpPr>
          <p:cNvPr id="5" name="Text 3"/>
          <p:cNvSpPr/>
          <p:nvPr/>
        </p:nvSpPr>
        <p:spPr>
          <a:xfrm>
            <a:off x="640080" y="2286000"/>
            <a:ext cx="24871680" cy="365760"/>
          </a:xfrm>
          <a:prstGeom prst="rect">
            <a:avLst/>
          </a:prstGeom>
          <a:noFill/>
          <a:ln/>
        </p:spPr>
        <p:txBody>
          <a:bodyPr wrap="square" lIns="0" tIns="0" rIns="0" bIns="0" rtlCol="0" anchor="ctr"/>
          <a:lstStyle/>
          <a:p>
            <a:pPr indent="0" marL="0">
              <a:buNone/>
            </a:pPr>
            <a:r>
              <a:rPr lang="en-US" sz="1200" dirty="0">
                <a:solidFill>
                  <a:srgbClr val="34C6A8"/>
                </a:solidFill>
                <a:latin typeface="Arial" pitchFamily="34" charset="0"/>
                <a:ea typeface="Arial" pitchFamily="34" charset="-122"/>
                <a:cs typeface="Arial" pitchFamily="34" charset="-120"/>
              </a:rPr>
              <a:t>IEEE OCEANS 2026 Monterey  ·  General Poster Track  ·  September 21–24, 2026</a:t>
            </a:r>
            <a:endParaRPr lang="en-US" sz="1200" dirty="0"/>
          </a:p>
        </p:txBody>
      </p:sp>
      <p:pic>
        <p:nvPicPr>
          <p:cNvPr id="6" name="Image 0" descr="general_poster.png">    </p:cNvPr>
          <p:cNvPicPr>
            <a:picLocks noChangeAspect="1"/>
          </p:cNvPicPr>
          <p:nvPr/>
        </p:nvPicPr>
        <p:blipFill>
          <a:blip r:embed="rId1"/>
          <a:stretch>
            <a:fillRect/>
          </a:stretch>
        </p:blipFill>
        <p:spPr>
          <a:xfrm>
            <a:off x="31414212" y="1028700"/>
            <a:ext cx="1229868" cy="960120"/>
          </a:xfrm>
          <a:prstGeom prst="rect">
            <a:avLst/>
          </a:prstGeom>
        </p:spPr>
      </p:pic>
      <p:pic>
        <p:nvPicPr>
          <p:cNvPr id="7" name="Image 1" descr="Logo_O26M_hi.png">    </p:cNvPr>
          <p:cNvPicPr>
            <a:picLocks noChangeAspect="1"/>
          </p:cNvPicPr>
          <p:nvPr/>
        </p:nvPicPr>
        <p:blipFill>
          <a:blip r:embed="rId2"/>
          <a:stretch>
            <a:fillRect/>
          </a:stretch>
        </p:blipFill>
        <p:spPr>
          <a:xfrm>
            <a:off x="29905452" y="937260"/>
            <a:ext cx="1143000" cy="1143000"/>
          </a:xfrm>
          <a:prstGeom prst="rect">
            <a:avLst/>
          </a:prstGeom>
        </p:spPr>
      </p:pic>
      <p:pic>
        <p:nvPicPr>
          <p:cNvPr id="8" name="Image 2" descr="Logo_OES_hi.png">    </p:cNvPr>
          <p:cNvPicPr>
            <a:picLocks noChangeAspect="1"/>
          </p:cNvPicPr>
          <p:nvPr/>
        </p:nvPicPr>
        <p:blipFill>
          <a:blip r:embed="rId3"/>
          <a:stretch>
            <a:fillRect/>
          </a:stretch>
        </p:blipFill>
        <p:spPr>
          <a:xfrm>
            <a:off x="27669744" y="1074420"/>
            <a:ext cx="1869948" cy="868680"/>
          </a:xfrm>
          <a:prstGeom prst="rect">
            <a:avLst/>
          </a:prstGeom>
        </p:spPr>
      </p:pic>
      <p:sp>
        <p:nvSpPr>
          <p:cNvPr id="9" name="Shape 4"/>
          <p:cNvSpPr/>
          <p:nvPr/>
        </p:nvSpPr>
        <p:spPr>
          <a:xfrm>
            <a:off x="274320" y="3108960"/>
            <a:ext cx="6254496" cy="2103120"/>
          </a:xfrm>
          <a:prstGeom prst="roundRect">
            <a:avLst>
              <a:gd name="adj" fmla="val 3261"/>
            </a:avLst>
          </a:prstGeom>
          <a:solidFill>
            <a:srgbClr val="13315C"/>
          </a:solidFill>
          <a:ln w="12700">
            <a:solidFill>
              <a:srgbClr val="13315C"/>
            </a:solidFill>
            <a:prstDash val="solid"/>
          </a:ln>
        </p:spPr>
      </p:sp>
      <p:sp>
        <p:nvSpPr>
          <p:cNvPr id="10" name="Text 5"/>
          <p:cNvSpPr/>
          <p:nvPr/>
        </p:nvSpPr>
        <p:spPr>
          <a:xfrm>
            <a:off x="502920"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14 days</a:t>
            </a:r>
            <a:endParaRPr lang="en-US" sz="2600" dirty="0"/>
          </a:p>
        </p:txBody>
      </p:sp>
      <p:sp>
        <p:nvSpPr>
          <p:cNvPr id="11" name="Text 6"/>
          <p:cNvSpPr/>
          <p:nvPr/>
        </p:nvSpPr>
        <p:spPr>
          <a:xfrm>
            <a:off x="502920"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of confirmed orca in April–May 2018:</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ten from v4, four more when the loop was re-run</a:t>
            </a:r>
            <a:endParaRPr lang="en-US" sz="1000" dirty="0"/>
          </a:p>
        </p:txBody>
      </p:sp>
      <p:sp>
        <p:nvSpPr>
          <p:cNvPr id="12" name="Shape 7"/>
          <p:cNvSpPr/>
          <p:nvPr/>
        </p:nvSpPr>
        <p:spPr>
          <a:xfrm>
            <a:off x="6803136" y="3108960"/>
            <a:ext cx="6254496" cy="2103120"/>
          </a:xfrm>
          <a:prstGeom prst="roundRect">
            <a:avLst>
              <a:gd name="adj" fmla="val 3261"/>
            </a:avLst>
          </a:prstGeom>
          <a:solidFill>
            <a:srgbClr val="13315C"/>
          </a:solidFill>
          <a:ln w="12700">
            <a:solidFill>
              <a:srgbClr val="13315C"/>
            </a:solidFill>
            <a:prstDash val="solid"/>
          </a:ln>
        </p:spPr>
      </p:sp>
      <p:sp>
        <p:nvSpPr>
          <p:cNvPr id="13" name="Text 8"/>
          <p:cNvSpPr/>
          <p:nvPr/>
        </p:nvSpPr>
        <p:spPr>
          <a:xfrm>
            <a:off x="7031736"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95% fewer</a:t>
            </a:r>
            <a:endParaRPr lang="en-US" sz="2600" dirty="0"/>
          </a:p>
        </p:txBody>
      </p:sp>
      <p:sp>
        <p:nvSpPr>
          <p:cNvPr id="14" name="Text 9"/>
          <p:cNvSpPr/>
          <p:nvPr/>
        </p:nvSpPr>
        <p:spPr>
          <a:xfrm>
            <a:off x="7031736"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false alarms in a held-out month,</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from 17 corrective labels (6,489 → 304)</a:t>
            </a:r>
            <a:endParaRPr lang="en-US" sz="1000" dirty="0"/>
          </a:p>
        </p:txBody>
      </p:sp>
      <p:sp>
        <p:nvSpPr>
          <p:cNvPr id="15" name="Shape 10"/>
          <p:cNvSpPr/>
          <p:nvPr/>
        </p:nvSpPr>
        <p:spPr>
          <a:xfrm>
            <a:off x="13331952" y="3108960"/>
            <a:ext cx="6254496" cy="2103120"/>
          </a:xfrm>
          <a:prstGeom prst="roundRect">
            <a:avLst>
              <a:gd name="adj" fmla="val 3261"/>
            </a:avLst>
          </a:prstGeom>
          <a:solidFill>
            <a:srgbClr val="13315C"/>
          </a:solidFill>
          <a:ln w="12700">
            <a:solidFill>
              <a:srgbClr val="13315C"/>
            </a:solidFill>
            <a:prstDash val="solid"/>
          </a:ln>
        </p:spPr>
      </p:sp>
      <p:sp>
        <p:nvSpPr>
          <p:cNvPr id="16" name="Text 11"/>
          <p:cNvSpPr/>
          <p:nvPr/>
        </p:nvSpPr>
        <p:spPr>
          <a:xfrm>
            <a:off x="13560552"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1,336 labels</a:t>
            </a:r>
            <a:endParaRPr lang="en-US" sz="2600" dirty="0"/>
          </a:p>
        </p:txBody>
      </p:sp>
      <p:sp>
        <p:nvSpPr>
          <p:cNvPr id="17" name="Text 12"/>
          <p:cNvSpPr/>
          <p:nvPr/>
        </p:nvSpPr>
        <p:spPr>
          <a:xfrm>
            <a:off x="13560552"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all of them in ~8–10 h of researchers'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time, total; 873 built the presented model</a:t>
            </a:r>
            <a:endParaRPr lang="en-US" sz="1000" dirty="0"/>
          </a:p>
        </p:txBody>
      </p:sp>
      <p:sp>
        <p:nvSpPr>
          <p:cNvPr id="18" name="Shape 13"/>
          <p:cNvSpPr/>
          <p:nvPr/>
        </p:nvSpPr>
        <p:spPr>
          <a:xfrm>
            <a:off x="19860768" y="3108960"/>
            <a:ext cx="6254496" cy="2103120"/>
          </a:xfrm>
          <a:prstGeom prst="roundRect">
            <a:avLst>
              <a:gd name="adj" fmla="val 3261"/>
            </a:avLst>
          </a:prstGeom>
          <a:solidFill>
            <a:srgbClr val="13315C"/>
          </a:solidFill>
          <a:ln w="12700">
            <a:solidFill>
              <a:srgbClr val="13315C"/>
            </a:solidFill>
            <a:prstDash val="solid"/>
          </a:ln>
        </p:spPr>
      </p:sp>
      <p:sp>
        <p:nvSpPr>
          <p:cNvPr id="19" name="Text 14"/>
          <p:cNvSpPr/>
          <p:nvPr/>
        </p:nvSpPr>
        <p:spPr>
          <a:xfrm>
            <a:off x="20089368"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0.95</a:t>
            </a:r>
            <a:endParaRPr lang="en-US" sz="2600" dirty="0"/>
          </a:p>
        </p:txBody>
      </p:sp>
      <p:sp>
        <p:nvSpPr>
          <p:cNvPr id="20" name="Text 15"/>
          <p:cNvSpPr/>
          <p:nvPr/>
        </p:nvSpPr>
        <p:spPr>
          <a:xfrm>
            <a:off x="20089368"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orca detection score (F1: 0 = useless,</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1 = perfect) at our chosen cutoff</a:t>
            </a:r>
            <a:endParaRPr lang="en-US" sz="1000" dirty="0"/>
          </a:p>
        </p:txBody>
      </p:sp>
      <p:sp>
        <p:nvSpPr>
          <p:cNvPr id="21" name="Shape 16"/>
          <p:cNvSpPr/>
          <p:nvPr/>
        </p:nvSpPr>
        <p:spPr>
          <a:xfrm>
            <a:off x="26389584" y="3108960"/>
            <a:ext cx="6254496" cy="2103120"/>
          </a:xfrm>
          <a:prstGeom prst="roundRect">
            <a:avLst>
              <a:gd name="adj" fmla="val 3261"/>
            </a:avLst>
          </a:prstGeom>
          <a:solidFill>
            <a:srgbClr val="13315C"/>
          </a:solidFill>
          <a:ln w="12700">
            <a:solidFill>
              <a:srgbClr val="13315C"/>
            </a:solidFill>
            <a:prstDash val="solid"/>
          </a:ln>
        </p:spPr>
      </p:sp>
      <p:sp>
        <p:nvSpPr>
          <p:cNvPr id="22" name="Text 17"/>
          <p:cNvSpPr/>
          <p:nvPr/>
        </p:nvSpPr>
        <p:spPr>
          <a:xfrm>
            <a:off x="26618184" y="3268980"/>
            <a:ext cx="5797296" cy="914400"/>
          </a:xfrm>
          <a:prstGeom prst="rect">
            <a:avLst/>
          </a:prstGeom>
          <a:noFill/>
          <a:ln/>
        </p:spPr>
        <p:txBody>
          <a:bodyPr wrap="square" lIns="0" tIns="0" rIns="0" bIns="0" rtlCol="0" anchor="ctr"/>
          <a:lstStyle/>
          <a:p>
            <a:pPr algn="l" indent="0" marL="0">
              <a:buNone/>
            </a:pPr>
            <a:r>
              <a:rPr lang="en-US" sz="2600" b="1" dirty="0">
                <a:solidFill>
                  <a:srgbClr val="34C6A8"/>
                </a:solidFill>
                <a:latin typeface="Cambria" pitchFamily="34" charset="0"/>
                <a:ea typeface="Cambria" pitchFamily="34" charset="-122"/>
                <a:cs typeface="Cambria" pitchFamily="34" charset="-120"/>
              </a:rPr>
              <a:t>+19 points</a:t>
            </a:r>
            <a:endParaRPr lang="en-US" sz="2600" dirty="0"/>
          </a:p>
        </p:txBody>
      </p:sp>
      <p:sp>
        <p:nvSpPr>
          <p:cNvPr id="23" name="Text 18"/>
          <p:cNvSpPr/>
          <p:nvPr/>
        </p:nvSpPr>
        <p:spPr>
          <a:xfrm>
            <a:off x="26618184" y="4183380"/>
            <a:ext cx="5797296" cy="868680"/>
          </a:xfrm>
          <a:prstGeom prst="rect">
            <a:avLst/>
          </a:prstGeom>
          <a:noFill/>
          <a:ln/>
        </p:spPr>
        <p:txBody>
          <a:bodyPr wrap="square" lIns="0" tIns="0" rIns="0" bIns="0" rtlCol="0" anchor="t"/>
          <a:lstStyle/>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more of a held-out month’s orca found</a:t>
            </a:r>
            <a:endParaRPr lang="en-US" sz="1000" dirty="0"/>
          </a:p>
          <a:p>
            <a:pPr algn="l" indent="0" marL="0">
              <a:lnSpc>
                <a:spcPts val="1200"/>
              </a:lnSpc>
              <a:buNone/>
            </a:pPr>
            <a:r>
              <a:rPr lang="en-US" sz="1000" dirty="0">
                <a:solidFill>
                  <a:srgbClr val="FFFFFF"/>
                </a:solidFill>
                <a:latin typeface="Arial" pitchFamily="34" charset="0"/>
                <a:ea typeface="Arial" pitchFamily="34" charset="-122"/>
                <a:cs typeface="Arial" pitchFamily="34" charset="-120"/>
              </a:rPr>
              <a:t>when the loop was run again</a:t>
            </a:r>
            <a:endParaRPr lang="en-US" sz="1000" dirty="0"/>
          </a:p>
        </p:txBody>
      </p:sp>
      <p:sp>
        <p:nvSpPr>
          <p:cNvPr id="24" name="Shape 19"/>
          <p:cNvSpPr/>
          <p:nvPr/>
        </p:nvSpPr>
        <p:spPr>
          <a:xfrm>
            <a:off x="274320" y="5577840"/>
            <a:ext cx="6254496" cy="3017520"/>
          </a:xfrm>
          <a:prstGeom prst="roundRect">
            <a:avLst>
              <a:gd name="adj" fmla="val 2727"/>
            </a:avLst>
          </a:prstGeom>
          <a:solidFill>
            <a:srgbClr val="EEF3F7"/>
          </a:solidFill>
          <a:ln w="12700">
            <a:solidFill>
              <a:srgbClr val="D8E2EA"/>
            </a:solidFill>
            <a:prstDash val="solid"/>
          </a:ln>
        </p:spPr>
      </p:sp>
      <p:sp>
        <p:nvSpPr>
          <p:cNvPr id="25" name="Shape 20"/>
          <p:cNvSpPr/>
          <p:nvPr/>
        </p:nvSpPr>
        <p:spPr>
          <a:xfrm>
            <a:off x="502920" y="5806440"/>
            <a:ext cx="480060" cy="480060"/>
          </a:xfrm>
          <a:prstGeom prst="ellipse">
            <a:avLst/>
          </a:prstGeom>
          <a:solidFill>
            <a:srgbClr val="1C7293"/>
          </a:solidFill>
          <a:ln w="12700">
            <a:solidFill>
              <a:srgbClr val="1C7293"/>
            </a:solidFill>
            <a:prstDash val="solid"/>
          </a:ln>
        </p:spPr>
      </p:sp>
      <p:sp>
        <p:nvSpPr>
          <p:cNvPr id="26" name="Text 21"/>
          <p:cNvSpPr/>
          <p:nvPr/>
        </p:nvSpPr>
        <p:spPr>
          <a:xfrm>
            <a:off x="502920"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7" name="Text 22"/>
          <p:cNvSpPr/>
          <p:nvPr/>
        </p:nvSpPr>
        <p:spPr>
          <a:xfrm>
            <a:off x="1074420"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gap</a:t>
            </a:r>
            <a:endParaRPr lang="en-US" sz="1400" dirty="0"/>
          </a:p>
        </p:txBody>
      </p:sp>
      <p:sp>
        <p:nvSpPr>
          <p:cNvPr id="28" name="Text 23"/>
          <p:cNvSpPr/>
          <p:nvPr/>
        </p:nvSpPr>
        <p:spPr>
          <a:xfrm>
            <a:off x="548640" y="6537960"/>
            <a:ext cx="5705856" cy="192024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Monterey Bay National Marine Sanctuary hosts three killer whale ecotypes: transient (Bigg’s), endangered Southern Resident, and Offshore.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None are yet routinely detected and classified from passive acoustic monitoring (PAM) data.</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Detections are rare and manual annotation of thousands of hours is impractical, so labeled MARS training data are scarce.</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Goal: turn a continuous PAM archive into an ecologically useful record of orca presence — with its limits measured, not hidden.</a:t>
            </a:r>
            <a:endParaRPr lang="en-US" sz="1200" dirty="0"/>
          </a:p>
        </p:txBody>
      </p:sp>
      <p:sp>
        <p:nvSpPr>
          <p:cNvPr id="29" name="Shape 24"/>
          <p:cNvSpPr/>
          <p:nvPr/>
        </p:nvSpPr>
        <p:spPr>
          <a:xfrm>
            <a:off x="274320" y="8869680"/>
            <a:ext cx="6254496" cy="5760720"/>
          </a:xfrm>
          <a:prstGeom prst="roundRect">
            <a:avLst>
              <a:gd name="adj" fmla="val 1429"/>
            </a:avLst>
          </a:prstGeom>
          <a:solidFill>
            <a:srgbClr val="EEF3F7"/>
          </a:solidFill>
          <a:ln w="12700">
            <a:solidFill>
              <a:srgbClr val="D8E2EA"/>
            </a:solidFill>
            <a:prstDash val="solid"/>
          </a:ln>
        </p:spPr>
      </p:sp>
      <p:sp>
        <p:nvSpPr>
          <p:cNvPr id="30" name="Shape 25"/>
          <p:cNvSpPr/>
          <p:nvPr/>
        </p:nvSpPr>
        <p:spPr>
          <a:xfrm>
            <a:off x="502920" y="9098280"/>
            <a:ext cx="480060" cy="480060"/>
          </a:xfrm>
          <a:prstGeom prst="ellipse">
            <a:avLst/>
          </a:prstGeom>
          <a:solidFill>
            <a:srgbClr val="1C7293"/>
          </a:solidFill>
          <a:ln w="12700">
            <a:solidFill>
              <a:srgbClr val="1C7293"/>
            </a:solidFill>
            <a:prstDash val="solid"/>
          </a:ln>
        </p:spPr>
      </p:sp>
      <p:sp>
        <p:nvSpPr>
          <p:cNvPr id="31" name="Text 26"/>
          <p:cNvSpPr/>
          <p:nvPr/>
        </p:nvSpPr>
        <p:spPr>
          <a:xfrm>
            <a:off x="502920" y="90982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32" name="Text 27"/>
          <p:cNvSpPr/>
          <p:nvPr/>
        </p:nvSpPr>
        <p:spPr>
          <a:xfrm>
            <a:off x="1074420" y="90297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A continuous listening post</a:t>
            </a:r>
            <a:endParaRPr lang="en-US" sz="1400" dirty="0"/>
          </a:p>
        </p:txBody>
      </p:sp>
      <p:sp>
        <p:nvSpPr>
          <p:cNvPr id="33" name="Text 28"/>
          <p:cNvSpPr/>
          <p:nvPr/>
        </p:nvSpPr>
        <p:spPr>
          <a:xfrm>
            <a:off x="548640" y="9829800"/>
            <a:ext cx="5705856" cy="1280160"/>
          </a:xfrm>
          <a:prstGeom prst="rect">
            <a:avLst/>
          </a:prstGeom>
          <a:noFill/>
          <a:ln/>
        </p:spPr>
        <p:txBody>
          <a:bodyPr wrap="square" lIns="0" tIns="0" rIns="0" bIns="0" rtlCol="0" anchor="t"/>
          <a:lstStyle/>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MARS cabled observatory, Smooth Ridge (36°42.75′ N, 122°11.21′ W), ~30 km offshore at ~900 m depth.</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Ocean Sonics icListen HF omnidirectional hydrophone, 10 Hz – 100 kHz, relayed to shore in real time, 24/7.</a:t>
            </a:r>
            <a:endParaRPr lang="en-US" sz="1200" dirty="0"/>
          </a:p>
          <a:p>
            <a:pPr marL="139700" indent="-139700">
              <a:lnSpc>
                <a:spcPts val="1416"/>
              </a:lnSpc>
              <a:spcAft>
                <a:spcPts val="450"/>
              </a:spcAft>
              <a:buSzPct val="100000"/>
              <a:buChar char="▪"/>
            </a:pPr>
            <a:r>
              <a:rPr lang="en-US" sz="1200" dirty="0">
                <a:solidFill>
                  <a:srgbClr val="132330"/>
                </a:solidFill>
                <a:latin typeface="Arial" pitchFamily="34" charset="0"/>
                <a:ea typeface="Arial" pitchFamily="34" charset="-122"/>
                <a:cs typeface="Arial" pitchFamily="34" charset="-120"/>
              </a:rPr>
              <a:t>Archived and public as the Pacific Ocean Sound recordings; analysis windows here span 2018–2026.</a:t>
            </a:r>
            <a:endParaRPr lang="en-US" sz="1200" dirty="0"/>
          </a:p>
        </p:txBody>
      </p:sp>
      <p:pic>
        <p:nvPicPr>
          <p:cNvPr id="34" name="Image 3" descr="oceans2026_fig1_mars_observatory.jpg">    </p:cNvPr>
          <p:cNvPicPr>
            <a:picLocks noChangeAspect="1"/>
          </p:cNvPicPr>
          <p:nvPr/>
        </p:nvPicPr>
        <p:blipFill>
          <a:blip r:embed="rId4"/>
          <a:stretch>
            <a:fillRect/>
          </a:stretch>
        </p:blipFill>
        <p:spPr>
          <a:xfrm>
            <a:off x="1344168" y="11247120"/>
            <a:ext cx="4114800" cy="2706624"/>
          </a:xfrm>
          <a:prstGeom prst="rect">
            <a:avLst/>
          </a:prstGeom>
        </p:spPr>
      </p:pic>
      <p:sp>
        <p:nvSpPr>
          <p:cNvPr id="35" name="Text 29"/>
          <p:cNvSpPr/>
          <p:nvPr/>
        </p:nvSpPr>
        <p:spPr>
          <a:xfrm>
            <a:off x="548640" y="14013180"/>
            <a:ext cx="5705856" cy="548640"/>
          </a:xfrm>
          <a:prstGeom prst="rect">
            <a:avLst/>
          </a:prstGeom>
          <a:noFill/>
          <a:ln/>
        </p:spPr>
        <p:txBody>
          <a:bodyPr wrap="square" lIns="0" tIns="0" rIns="0" bIns="0" rtlCol="0" anchor="t"/>
          <a:lstStyle/>
          <a:p>
            <a:pPr indent="0" marL="0">
              <a:lnSpc>
                <a:spcPts val="1000"/>
              </a:lnSpc>
              <a:buNone/>
            </a:pPr>
            <a:r>
              <a:rPr lang="en-US" sz="850" i="1" dirty="0">
                <a:solidFill>
                  <a:srgbClr val="4A5C6A"/>
                </a:solidFill>
                <a:latin typeface="Arial" pitchFamily="34" charset="0"/>
                <a:ea typeface="Arial" pitchFamily="34" charset="-122"/>
                <a:cs typeface="Arial" pitchFamily="34" charset="-120"/>
              </a:rPr>
              <a:t>The MARS cabled observatory; the hydrophone sits at the science node. Image: MBARI.</a:t>
            </a:r>
            <a:endParaRPr lang="en-US" sz="850" dirty="0"/>
          </a:p>
        </p:txBody>
      </p:sp>
      <p:sp>
        <p:nvSpPr>
          <p:cNvPr id="36" name="Shape 30"/>
          <p:cNvSpPr/>
          <p:nvPr/>
        </p:nvSpPr>
        <p:spPr>
          <a:xfrm>
            <a:off x="274320" y="14904720"/>
            <a:ext cx="6254496" cy="4754880"/>
          </a:xfrm>
          <a:prstGeom prst="roundRect">
            <a:avLst>
              <a:gd name="adj" fmla="val 1731"/>
            </a:avLst>
          </a:prstGeom>
          <a:solidFill>
            <a:srgbClr val="EEF3F7"/>
          </a:solidFill>
          <a:ln w="12700">
            <a:solidFill>
              <a:srgbClr val="D8E2EA"/>
            </a:solidFill>
            <a:prstDash val="solid"/>
          </a:ln>
        </p:spPr>
      </p:sp>
      <p:sp>
        <p:nvSpPr>
          <p:cNvPr id="37" name="Shape 31"/>
          <p:cNvSpPr/>
          <p:nvPr/>
        </p:nvSpPr>
        <p:spPr>
          <a:xfrm>
            <a:off x="502920" y="15133320"/>
            <a:ext cx="480060" cy="480060"/>
          </a:xfrm>
          <a:prstGeom prst="ellipse">
            <a:avLst/>
          </a:prstGeom>
          <a:solidFill>
            <a:srgbClr val="1C7293"/>
          </a:solidFill>
          <a:ln w="12700">
            <a:solidFill>
              <a:srgbClr val="1C7293"/>
            </a:solidFill>
            <a:prstDash val="solid"/>
          </a:ln>
        </p:spPr>
      </p:sp>
      <p:sp>
        <p:nvSpPr>
          <p:cNvPr id="38" name="Text 32"/>
          <p:cNvSpPr/>
          <p:nvPr/>
        </p:nvSpPr>
        <p:spPr>
          <a:xfrm>
            <a:off x="502920" y="151333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9" name="Text 33"/>
          <p:cNvSpPr/>
          <p:nvPr/>
        </p:nvSpPr>
        <p:spPr>
          <a:xfrm>
            <a:off x="1074420" y="150647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Off-the-shelf CNNs confuse the bay</a:t>
            </a:r>
            <a:endParaRPr lang="en-US" sz="1400" dirty="0"/>
          </a:p>
        </p:txBody>
      </p:sp>
      <p:sp>
        <p:nvSpPr>
          <p:cNvPr id="40" name="Text 34"/>
          <p:cNvSpPr/>
          <p:nvPr/>
        </p:nvSpPr>
        <p:spPr>
          <a:xfrm>
            <a:off x="548640" y="15864840"/>
            <a:ext cx="5705856" cy="137160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 Google multispecies whale CNN and OrcAI (Icelandic fish-eating orcas) both produced high-confidence orca detections on MARS recordings.</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Both also confused orca calls with Pacific white-sided dolphin (Lagenorhynchus obliquidens) and other signals — confusion, not sensitivity, was the limiting factor.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Their scores were still useful as a bootstrap, ranking candidate clips for the first round of expert labeling.</a:t>
            </a:r>
            <a:endParaRPr lang="en-US" sz="1150" dirty="0"/>
          </a:p>
        </p:txBody>
      </p:sp>
      <p:pic>
        <p:nvPicPr>
          <p:cNvPr id="41" name="Image 4" descr="poster_fig3_class_spectrograms.png">    </p:cNvPr>
          <p:cNvPicPr>
            <a:picLocks noChangeAspect="1"/>
          </p:cNvPicPr>
          <p:nvPr/>
        </p:nvPicPr>
        <p:blipFill>
          <a:blip r:embed="rId5"/>
          <a:stretch>
            <a:fillRect/>
          </a:stretch>
        </p:blipFill>
        <p:spPr>
          <a:xfrm>
            <a:off x="548640" y="17327880"/>
            <a:ext cx="5705856" cy="1458468"/>
          </a:xfrm>
          <a:prstGeom prst="rect">
            <a:avLst/>
          </a:prstGeom>
        </p:spPr>
      </p:pic>
      <p:sp>
        <p:nvSpPr>
          <p:cNvPr id="42" name="Text 35"/>
          <p:cNvSpPr/>
          <p:nvPr/>
        </p:nvSpPr>
        <p:spPr>
          <a:xfrm>
            <a:off x="548640" y="18836640"/>
            <a:ext cx="5705856" cy="77724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Mel-scale log-power spectrograms, one confirmed exemplar per class (5 s windows, v4 labels). All four share identical FFT parameters (2048-point FFT, 128 mel bands, 10 Hz–16 kHz) and one color scale, so brightness and detail are directly comparable. Orca and humpback song both carry tonal, harmonically stacked content in overlapping bands — which is why the classifier confuses them.</a:t>
            </a:r>
            <a:endParaRPr lang="en-US" sz="750" dirty="0"/>
          </a:p>
        </p:txBody>
      </p:sp>
      <p:sp>
        <p:nvSpPr>
          <p:cNvPr id="43" name="Shape 36"/>
          <p:cNvSpPr/>
          <p:nvPr/>
        </p:nvSpPr>
        <p:spPr>
          <a:xfrm>
            <a:off x="6803136" y="5577840"/>
            <a:ext cx="6254496" cy="9144000"/>
          </a:xfrm>
          <a:prstGeom prst="roundRect">
            <a:avLst>
              <a:gd name="adj" fmla="val 1316"/>
            </a:avLst>
          </a:prstGeom>
          <a:solidFill>
            <a:srgbClr val="EEF3F7"/>
          </a:solidFill>
          <a:ln w="12700">
            <a:solidFill>
              <a:srgbClr val="D8E2EA"/>
            </a:solidFill>
            <a:prstDash val="solid"/>
          </a:ln>
        </p:spPr>
      </p:sp>
      <p:sp>
        <p:nvSpPr>
          <p:cNvPr id="44" name="Shape 37"/>
          <p:cNvSpPr/>
          <p:nvPr/>
        </p:nvSpPr>
        <p:spPr>
          <a:xfrm>
            <a:off x="7031736" y="5806440"/>
            <a:ext cx="480060" cy="480060"/>
          </a:xfrm>
          <a:prstGeom prst="ellipse">
            <a:avLst/>
          </a:prstGeom>
          <a:solidFill>
            <a:srgbClr val="1C7293"/>
          </a:solidFill>
          <a:ln w="12700">
            <a:solidFill>
              <a:srgbClr val="1C7293"/>
            </a:solidFill>
            <a:prstDash val="solid"/>
          </a:ln>
        </p:spPr>
      </p:sp>
      <p:sp>
        <p:nvSpPr>
          <p:cNvPr id="45" name="Text 38"/>
          <p:cNvSpPr/>
          <p:nvPr/>
        </p:nvSpPr>
        <p:spPr>
          <a:xfrm>
            <a:off x="7031736"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46" name="Text 39"/>
          <p:cNvSpPr/>
          <p:nvPr/>
        </p:nvSpPr>
        <p:spPr>
          <a:xfrm>
            <a:off x="7603236"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Teaching a big model a new sound</a:t>
            </a:r>
            <a:endParaRPr lang="en-US" sz="1400" dirty="0"/>
          </a:p>
        </p:txBody>
      </p:sp>
      <p:sp>
        <p:nvSpPr>
          <p:cNvPr id="47" name="Text 40"/>
          <p:cNvSpPr/>
          <p:nvPr/>
        </p:nvSpPr>
        <p:spPr>
          <a:xfrm>
            <a:off x="7077456" y="6537960"/>
            <a:ext cx="5705856" cy="274320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Perch 2.0 is a pre-trained bioacoustics model. It turns each 5-second window into an embedding — a 1,536-number fingerprint of the sound. Similar sounds get similar fingerprints, so one labeled example retrieves others like it from the Hoplite database.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loop: search → label a handful of clips → refit a simple classifier on those fixed fingerprints (~30 s) → look at its mistakes → search again. The big model is never retrained.</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Enabling fix: per-window peak normalization to 0.25 before embedding — without it, quiet distant calls were unrecoverable.</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classifier scores every window; higher means more orca-like. We keep scores above +1.16 rather than the software’s 0.0 default, with the cutoff chosen on months the model never trained on.</a:t>
            </a:r>
            <a:endParaRPr lang="en-US" sz="1100" dirty="0"/>
          </a:p>
        </p:txBody>
      </p:sp>
      <p:pic>
        <p:nvPicPr>
          <p:cNvPr id="48" name="Image 5" descr="oceans2026_fig2_agile_modeling_loop.png">    </p:cNvPr>
          <p:cNvPicPr>
            <a:picLocks noChangeAspect="1"/>
          </p:cNvPicPr>
          <p:nvPr/>
        </p:nvPicPr>
        <p:blipFill>
          <a:blip r:embed="rId6"/>
          <a:stretch>
            <a:fillRect/>
          </a:stretch>
        </p:blipFill>
        <p:spPr>
          <a:xfrm>
            <a:off x="7077456" y="9372600"/>
            <a:ext cx="5705856" cy="2098548"/>
          </a:xfrm>
          <a:prstGeom prst="rect">
            <a:avLst/>
          </a:prstGeom>
        </p:spPr>
      </p:pic>
      <p:pic>
        <p:nvPicPr>
          <p:cNvPr id="49" name="Image 6" descr="gradio_review_panel_crop.png">    </p:cNvPr>
          <p:cNvPicPr>
            <a:picLocks noChangeAspect="1"/>
          </p:cNvPicPr>
          <p:nvPr/>
        </p:nvPicPr>
        <p:blipFill>
          <a:blip r:embed="rId7"/>
          <a:stretch>
            <a:fillRect/>
          </a:stretch>
        </p:blipFill>
        <p:spPr>
          <a:xfrm>
            <a:off x="7077456" y="11612880"/>
            <a:ext cx="5705856" cy="2327148"/>
          </a:xfrm>
          <a:prstGeom prst="rect">
            <a:avLst/>
          </a:prstGeom>
        </p:spPr>
      </p:pic>
      <p:sp>
        <p:nvSpPr>
          <p:cNvPr id="50" name="Text 41"/>
          <p:cNvSpPr/>
          <p:nvPr/>
        </p:nvSpPr>
        <p:spPr>
          <a:xfrm>
            <a:off x="7077456" y="14013180"/>
            <a:ext cx="5705856" cy="6400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What one turn of the loop looks like: a 5-second candidate, its spectrogram and audio, and six one-click labels — orca_call, humpback_song, dolphin_call, ship_noise, other, unlabeled. This detection was surfaced by v4 on 23 April 2018 (MARS_20180423_225912, score 2.03) and confirmed orca by ear. Reviewers also see a 30 s context view, not shown.</a:t>
            </a:r>
            <a:endParaRPr lang="en-US" sz="750" dirty="0"/>
          </a:p>
        </p:txBody>
      </p:sp>
      <p:sp>
        <p:nvSpPr>
          <p:cNvPr id="51" name="Shape 42"/>
          <p:cNvSpPr/>
          <p:nvPr/>
        </p:nvSpPr>
        <p:spPr>
          <a:xfrm>
            <a:off x="6803136" y="14996160"/>
            <a:ext cx="6254496" cy="5760720"/>
          </a:xfrm>
          <a:prstGeom prst="roundRect">
            <a:avLst>
              <a:gd name="adj" fmla="val 1429"/>
            </a:avLst>
          </a:prstGeom>
          <a:solidFill>
            <a:srgbClr val="EEF3F7"/>
          </a:solidFill>
          <a:ln w="12700">
            <a:solidFill>
              <a:srgbClr val="D8E2EA"/>
            </a:solidFill>
            <a:prstDash val="solid"/>
          </a:ln>
        </p:spPr>
      </p:sp>
      <p:sp>
        <p:nvSpPr>
          <p:cNvPr id="52" name="Shape 43"/>
          <p:cNvSpPr/>
          <p:nvPr/>
        </p:nvSpPr>
        <p:spPr>
          <a:xfrm>
            <a:off x="7031736" y="15224760"/>
            <a:ext cx="480060" cy="480060"/>
          </a:xfrm>
          <a:prstGeom prst="ellipse">
            <a:avLst/>
          </a:prstGeom>
          <a:solidFill>
            <a:srgbClr val="1C7293"/>
          </a:solidFill>
          <a:ln w="12700">
            <a:solidFill>
              <a:srgbClr val="1C7293"/>
            </a:solidFill>
            <a:prstDash val="solid"/>
          </a:ln>
        </p:spPr>
      </p:sp>
      <p:sp>
        <p:nvSpPr>
          <p:cNvPr id="53" name="Text 44"/>
          <p:cNvSpPr/>
          <p:nvPr/>
        </p:nvSpPr>
        <p:spPr>
          <a:xfrm>
            <a:off x="7031736" y="1522476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54" name="Text 45"/>
          <p:cNvSpPr/>
          <p:nvPr/>
        </p:nvSpPr>
        <p:spPr>
          <a:xfrm>
            <a:off x="7603236" y="1515618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The classes separate</a:t>
            </a:r>
            <a:endParaRPr lang="en-US" sz="1400" dirty="0"/>
          </a:p>
        </p:txBody>
      </p:sp>
      <p:pic>
        <p:nvPicPr>
          <p:cNvPr id="55" name="Image 7" descr="tsne_apr2018_oct2020_apr2026_norm_dpi300.png">    </p:cNvPr>
          <p:cNvPicPr>
            <a:picLocks noChangeAspect="1"/>
          </p:cNvPicPr>
          <p:nvPr/>
        </p:nvPicPr>
        <p:blipFill>
          <a:blip r:embed="rId8"/>
          <a:stretch>
            <a:fillRect/>
          </a:stretch>
        </p:blipFill>
        <p:spPr>
          <a:xfrm>
            <a:off x="7735824" y="16002000"/>
            <a:ext cx="4389120" cy="3657600"/>
          </a:xfrm>
          <a:prstGeom prst="rect">
            <a:avLst/>
          </a:prstGeom>
        </p:spPr>
      </p:pic>
      <p:sp>
        <p:nvSpPr>
          <p:cNvPr id="56" name="Text 46"/>
          <p:cNvSpPr/>
          <p:nvPr/>
        </p:nvSpPr>
        <p:spPr>
          <a:xfrm>
            <a:off x="7077456" y="19705320"/>
            <a:ext cx="5705856" cy="96012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Each dot is one 5-second window, placed so that sounds the model hears as similar sit close together (t-SNE). 1,076 labeled windows, 6 classes, 3 seasons — the three the models trained on; May 2018 is held out and does not appear. The orca cluster holds across all three years, so the embeddings are separable across recording conditions and time. Where classes overlap, orca against humpback, is the same confusion the spectrogram row shows.</a:t>
            </a:r>
            <a:endParaRPr lang="en-US" sz="750" dirty="0"/>
          </a:p>
        </p:txBody>
      </p:sp>
      <p:sp>
        <p:nvSpPr>
          <p:cNvPr id="57" name="Shape 47"/>
          <p:cNvSpPr/>
          <p:nvPr/>
        </p:nvSpPr>
        <p:spPr>
          <a:xfrm>
            <a:off x="13331952" y="5577840"/>
            <a:ext cx="6254496" cy="5852160"/>
          </a:xfrm>
          <a:prstGeom prst="roundRect">
            <a:avLst>
              <a:gd name="adj" fmla="val 1406"/>
            </a:avLst>
          </a:prstGeom>
          <a:solidFill>
            <a:srgbClr val="EEF3F7"/>
          </a:solidFill>
          <a:ln w="12700">
            <a:solidFill>
              <a:srgbClr val="D8E2EA"/>
            </a:solidFill>
            <a:prstDash val="solid"/>
          </a:ln>
        </p:spPr>
      </p:sp>
      <p:sp>
        <p:nvSpPr>
          <p:cNvPr id="58" name="Shape 48"/>
          <p:cNvSpPr/>
          <p:nvPr/>
        </p:nvSpPr>
        <p:spPr>
          <a:xfrm>
            <a:off x="13560552" y="5806440"/>
            <a:ext cx="480060" cy="480060"/>
          </a:xfrm>
          <a:prstGeom prst="ellipse">
            <a:avLst/>
          </a:prstGeom>
          <a:solidFill>
            <a:srgbClr val="1C7293"/>
          </a:solidFill>
          <a:ln w="12700">
            <a:solidFill>
              <a:srgbClr val="1C7293"/>
            </a:solidFill>
            <a:prstDash val="solid"/>
          </a:ln>
        </p:spPr>
      </p:sp>
      <p:sp>
        <p:nvSpPr>
          <p:cNvPr id="59" name="Text 49"/>
          <p:cNvSpPr/>
          <p:nvPr/>
        </p:nvSpPr>
        <p:spPr>
          <a:xfrm>
            <a:off x="13560552"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60" name="Text 50"/>
          <p:cNvSpPr/>
          <p:nvPr/>
        </p:nvSpPr>
        <p:spPr>
          <a:xfrm>
            <a:off x="14132052"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v0 → v4: five labeling waves</a:t>
            </a:r>
            <a:endParaRPr lang="en-US" sz="1400" dirty="0"/>
          </a:p>
        </p:txBody>
      </p:sp>
      <p:sp>
        <p:nvSpPr>
          <p:cNvPr id="61" name="Text 51"/>
          <p:cNvSpPr/>
          <p:nvPr/>
        </p:nvSpPr>
        <p:spPr>
          <a:xfrm>
            <a:off x="13606272" y="6537960"/>
            <a:ext cx="5705856" cy="173736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v0 (584 labels, 5 classes) recovers the known 13 April 2018 event; v1 (+214) adds October 2020; v2 (+50) rebalances dolphin and other.</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v3 adds just 17 hard negatives — the detector’s own false alarms, labeled as counter-examples — and April-2026 false alarms fall 6,489 → 304. Eight more corrective labels produce v4, the model built in this walkthrough.</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further experiments degraded performance and are not presented here; detail in the project repository.</a:t>
            </a:r>
            <a:endParaRPr lang="en-US" sz="1100" dirty="0"/>
          </a:p>
        </p:txBody>
      </p:sp>
      <p:pic>
        <p:nvPicPr>
          <p:cNvPr id="62" name="Image 8" descr="oceans2026_fig3_classifier_trajectory.png">    </p:cNvPr>
          <p:cNvPicPr>
            <a:picLocks noChangeAspect="1"/>
          </p:cNvPicPr>
          <p:nvPr/>
        </p:nvPicPr>
        <p:blipFill>
          <a:blip r:embed="rId9"/>
          <a:stretch>
            <a:fillRect/>
          </a:stretch>
        </p:blipFill>
        <p:spPr>
          <a:xfrm>
            <a:off x="13606272" y="8366760"/>
            <a:ext cx="5705856" cy="2281428"/>
          </a:xfrm>
          <a:prstGeom prst="rect">
            <a:avLst/>
          </a:prstGeom>
        </p:spPr>
      </p:pic>
      <p:sp>
        <p:nvSpPr>
          <p:cNvPr id="63" name="Text 52"/>
          <p:cNvSpPr/>
          <p:nvPr/>
        </p:nvSpPr>
        <p:spPr>
          <a:xfrm>
            <a:off x="13606272" y="10698480"/>
            <a:ext cx="5705856" cy="6858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Before v0: four of those hours — nearly half the project’s total — went on hand review of April 2018 audio. Two 50-clip rounds settled orca-or-not, then three longer sessions worked 25 clips at a time to give dolphin and humpback their own classes, every humpback clip checked by John Ryan. Hence v0’s 584 labels.</a:t>
            </a:r>
            <a:endParaRPr lang="en-US" sz="750" dirty="0"/>
          </a:p>
        </p:txBody>
      </p:sp>
      <p:sp>
        <p:nvSpPr>
          <p:cNvPr id="64" name="Shape 53"/>
          <p:cNvSpPr/>
          <p:nvPr/>
        </p:nvSpPr>
        <p:spPr>
          <a:xfrm>
            <a:off x="13331952" y="11704320"/>
            <a:ext cx="6254496" cy="8321040"/>
          </a:xfrm>
          <a:prstGeom prst="roundRect">
            <a:avLst>
              <a:gd name="adj" fmla="val 1316"/>
            </a:avLst>
          </a:prstGeom>
          <a:solidFill>
            <a:srgbClr val="EEF3F7"/>
          </a:solidFill>
          <a:ln w="12700">
            <a:solidFill>
              <a:srgbClr val="D8E2EA"/>
            </a:solidFill>
            <a:prstDash val="solid"/>
          </a:ln>
        </p:spPr>
      </p:sp>
      <p:sp>
        <p:nvSpPr>
          <p:cNvPr id="65" name="Shape 54"/>
          <p:cNvSpPr/>
          <p:nvPr/>
        </p:nvSpPr>
        <p:spPr>
          <a:xfrm>
            <a:off x="13560552" y="11932920"/>
            <a:ext cx="480060" cy="480060"/>
          </a:xfrm>
          <a:prstGeom prst="ellipse">
            <a:avLst/>
          </a:prstGeom>
          <a:solidFill>
            <a:srgbClr val="1C7293"/>
          </a:solidFill>
          <a:ln w="12700">
            <a:solidFill>
              <a:srgbClr val="1C7293"/>
            </a:solidFill>
            <a:prstDash val="solid"/>
          </a:ln>
        </p:spPr>
      </p:sp>
      <p:sp>
        <p:nvSpPr>
          <p:cNvPr id="66" name="Text 55"/>
          <p:cNvSpPr/>
          <p:nvPr/>
        </p:nvSpPr>
        <p:spPr>
          <a:xfrm>
            <a:off x="13560552" y="1193292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67" name="Text 56"/>
          <p:cNvSpPr/>
          <p:nvPr/>
        </p:nvSpPr>
        <p:spPr>
          <a:xfrm>
            <a:off x="14132052" y="1186434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Spring 2018 was not one encounter</a:t>
            </a:r>
            <a:endParaRPr lang="en-US" sz="1400" dirty="0"/>
          </a:p>
        </p:txBody>
      </p:sp>
      <p:sp>
        <p:nvSpPr>
          <p:cNvPr id="68" name="Text 57"/>
          <p:cNvSpPr/>
          <p:nvPr/>
        </p:nvSpPr>
        <p:spPr>
          <a:xfrm>
            <a:off x="13606272" y="12664440"/>
            <a:ext cx="5705856" cy="3931920"/>
          </a:xfrm>
          <a:prstGeom prst="rect">
            <a:avLst/>
          </a:prstGeom>
          <a:noFill/>
          <a:ln/>
        </p:spPr>
        <p:txBody>
          <a:bodyPr wrap="square" lIns="0" tIns="0" rIns="0" bIns="0" rtlCol="0" anchor="t"/>
          <a:lstStyle/>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Previously known: a single Bigg’s orca event on 13 April 2018.</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Above our score cutoff, v4 also flagged 18 April (173 detections), 21 April (25) and 25 April (60). Listening to 25, 25 and 50 of those clips confirmed all 100 as orca, with no false alarms. All 58 detections on 23 and 24 April were then reviewed as well: 55 orca, two humpback, one left unlabeled.</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May 2018: 12 May confirmed 181/181; 13 May gives 8 confirmed orca clips on full review, and 14 and 16 May are confirmed too.</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Neither v4 nor orca_v10 has trained on May 2018 recordings — these are detections in a month the presented models have never seen.</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Ten confirmed orca days across the two months from v4 alone — sustained Bigg’s presence, not one encounter.</a:t>
            </a:r>
            <a:endParaRPr lang="en-US" sz="1150" dirty="0"/>
          </a:p>
          <a:p>
            <a:pPr marL="139700" indent="-139700">
              <a:lnSpc>
                <a:spcPts val="1357"/>
              </a:lnSpc>
              <a:spcAft>
                <a:spcPts val="450"/>
              </a:spcAft>
              <a:buSzPct val="100000"/>
              <a:buChar char="▪"/>
            </a:pPr>
            <a:r>
              <a:rPr lang="en-US" sz="1150" dirty="0">
                <a:solidFill>
                  <a:srgbClr val="132330"/>
                </a:solidFill>
                <a:latin typeface="Arial" pitchFamily="34" charset="0"/>
                <a:ea typeface="Arial" pitchFamily="34" charset="-122"/>
                <a:cs typeface="Arial" pitchFamily="34" charset="-120"/>
              </a:rPr>
              <a:t>Two independent methods agree: regional news and whale-watch reports described record orca sightings that spring, and identified two pods — one Alaskan, one Californian (the CA140 matriline).</a:t>
            </a:r>
            <a:endParaRPr lang="en-US" sz="1150" dirty="0"/>
          </a:p>
        </p:txBody>
      </p:sp>
      <p:pic>
        <p:nvPicPr>
          <p:cNvPr id="69" name="Image 9" descr="oceans2026_fig4_calendar_apr_may_2018.png">    </p:cNvPr>
          <p:cNvPicPr>
            <a:picLocks noChangeAspect="1"/>
          </p:cNvPicPr>
          <p:nvPr/>
        </p:nvPicPr>
        <p:blipFill>
          <a:blip r:embed="rId10"/>
          <a:stretch>
            <a:fillRect/>
          </a:stretch>
        </p:blipFill>
        <p:spPr>
          <a:xfrm>
            <a:off x="13606272" y="16687800"/>
            <a:ext cx="5705856" cy="2345436"/>
          </a:xfrm>
          <a:prstGeom prst="rect">
            <a:avLst/>
          </a:prstGeom>
        </p:spPr>
      </p:pic>
      <p:sp>
        <p:nvSpPr>
          <p:cNvPr id="70" name="Text 58"/>
          <p:cNvSpPr/>
          <p:nvPr/>
        </p:nvSpPr>
        <p:spPr>
          <a:xfrm>
            <a:off x="13606272" y="19088100"/>
            <a:ext cx="5705856" cy="86868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Every day marked confirmed has been listened to. Bars show detections above the cutoff, and days differ in weight: 12 May rests on 181 reviewed clips. 13 May’s single bar understates it — seven further confirmed orca clips sit below the cutoff. Ten days are confirmed under v4. The four hollow triangles are days only v10 found — 2, 3, 7 and 29 May — marked rather than drawn as bars, because v4 had almost no detections there to plot. Fourteen days in all; see panel 10.</a:t>
            </a:r>
            <a:endParaRPr lang="en-US" sz="750" dirty="0"/>
          </a:p>
        </p:txBody>
      </p:sp>
      <p:sp>
        <p:nvSpPr>
          <p:cNvPr id="71" name="Shape 59"/>
          <p:cNvSpPr/>
          <p:nvPr/>
        </p:nvSpPr>
        <p:spPr>
          <a:xfrm>
            <a:off x="19860768" y="5577840"/>
            <a:ext cx="6254496" cy="7132320"/>
          </a:xfrm>
          <a:prstGeom prst="roundRect">
            <a:avLst>
              <a:gd name="adj" fmla="val 1316"/>
            </a:avLst>
          </a:prstGeom>
          <a:solidFill>
            <a:srgbClr val="EEF3F7"/>
          </a:solidFill>
          <a:ln w="12700">
            <a:solidFill>
              <a:srgbClr val="D8E2EA"/>
            </a:solidFill>
            <a:prstDash val="solid"/>
          </a:ln>
        </p:spPr>
      </p:sp>
      <p:sp>
        <p:nvSpPr>
          <p:cNvPr id="72" name="Shape 60"/>
          <p:cNvSpPr/>
          <p:nvPr/>
        </p:nvSpPr>
        <p:spPr>
          <a:xfrm>
            <a:off x="20089368" y="5806440"/>
            <a:ext cx="480060" cy="480060"/>
          </a:xfrm>
          <a:prstGeom prst="ellipse">
            <a:avLst/>
          </a:prstGeom>
          <a:solidFill>
            <a:srgbClr val="1C7293"/>
          </a:solidFill>
          <a:ln w="12700">
            <a:solidFill>
              <a:srgbClr val="1C7293"/>
            </a:solidFill>
            <a:prstDash val="solid"/>
          </a:ln>
        </p:spPr>
      </p:sp>
      <p:sp>
        <p:nvSpPr>
          <p:cNvPr id="73" name="Text 61"/>
          <p:cNvSpPr/>
          <p:nvPr/>
        </p:nvSpPr>
        <p:spPr>
          <a:xfrm>
            <a:off x="20089368"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74" name="Text 62"/>
          <p:cNvSpPr/>
          <p:nvPr/>
        </p:nvSpPr>
        <p:spPr>
          <a:xfrm>
            <a:off x="20660868"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Structure between encounters</a:t>
            </a:r>
            <a:endParaRPr lang="en-US" sz="1400" dirty="0"/>
          </a:p>
        </p:txBody>
      </p:sp>
      <p:pic>
        <p:nvPicPr>
          <p:cNvPr id="75" name="Image 10" descr="tsne_orca_by_day_4days_px30_pres_dpi300.png">    </p:cNvPr>
          <p:cNvPicPr>
            <a:picLocks noChangeAspect="1"/>
          </p:cNvPicPr>
          <p:nvPr/>
        </p:nvPicPr>
        <p:blipFill>
          <a:blip r:embed="rId11"/>
          <a:stretch>
            <a:fillRect/>
          </a:stretch>
        </p:blipFill>
        <p:spPr>
          <a:xfrm>
            <a:off x="20135088" y="6583680"/>
            <a:ext cx="5705856" cy="3781044"/>
          </a:xfrm>
          <a:prstGeom prst="rect">
            <a:avLst/>
          </a:prstGeom>
        </p:spPr>
      </p:pic>
      <p:sp>
        <p:nvSpPr>
          <p:cNvPr id="76" name="Text 63"/>
          <p:cNvSpPr/>
          <p:nvPr/>
        </p:nvSpPr>
        <p:spPr>
          <a:xfrm>
            <a:off x="20135088" y="10424160"/>
            <a:ext cx="5705856" cy="914400"/>
          </a:xfrm>
          <a:prstGeom prst="rect">
            <a:avLst/>
          </a:prstGeom>
          <a:noFill/>
          <a:ln/>
        </p:spPr>
        <p:txBody>
          <a:bodyPr wrap="square" lIns="0" tIns="0" rIns="0" bIns="0" rtlCol="0" anchor="t"/>
          <a:lstStyle/>
          <a:p>
            <a:pPr indent="0" marL="0">
              <a:lnSpc>
                <a:spcPts val="850"/>
              </a:lnSpc>
              <a:buNone/>
            </a:pPr>
            <a:r>
              <a:rPr lang="en-US" sz="750" i="1" dirty="0">
                <a:solidFill>
                  <a:srgbClr val="4A5C6A"/>
                </a:solidFill>
                <a:latin typeface="Arial" pitchFamily="34" charset="0"/>
                <a:ea typeface="Arial" pitchFamily="34" charset="-122"/>
                <a:cs typeface="Arial" pitchFamily="34" charset="-120"/>
              </a:rPr>
              <a:t>Zooming inside the orca cluster: 473 confirmed orca windows, colored by day. The 25 April evening encounter (purple) sits apart from the 13 April morning event (blue), and 12 May holds its own region a month later. The classes separate in the map at left — and within orca, encounters do too. Exploratory; perplexity 30.</a:t>
            </a:r>
            <a:endParaRPr lang="en-US" sz="750" dirty="0"/>
          </a:p>
        </p:txBody>
      </p:sp>
      <p:sp>
        <p:nvSpPr>
          <p:cNvPr id="77" name="Text 64"/>
          <p:cNvSpPr/>
          <p:nvPr/>
        </p:nvSpPr>
        <p:spPr>
          <a:xfrm>
            <a:off x="20135088" y="11430000"/>
            <a:ext cx="5705856" cy="1188720"/>
          </a:xfrm>
          <a:prstGeom prst="rect">
            <a:avLst/>
          </a:prstGeom>
          <a:noFill/>
          <a:ln/>
        </p:spPr>
        <p:txBody>
          <a:bodyPr wrap="square" lIns="0" tIns="0" rIns="0" bIns="0" rtlCol="0" anchor="t"/>
          <a:lstStyle/>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split holds however the map is drawn (three t-SNE settings) and is not an artifact of one recording or one passing vessel.</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Two pods were documented in the bay that spring; the two clusters are consistent with, not proof of, that pairing.</a:t>
            </a:r>
            <a:endParaRPr lang="en-US" sz="1100" dirty="0"/>
          </a:p>
          <a:p>
            <a:pPr marL="139700" indent="-139700">
              <a:lnSpc>
                <a:spcPts val="1298"/>
              </a:lnSpc>
              <a:spcAft>
                <a:spcPts val="450"/>
              </a:spcAft>
              <a:buSzPct val="100000"/>
              <a:buChar char="▪"/>
            </a:pPr>
            <a:r>
              <a:rPr lang="en-US" sz="1100" dirty="0">
                <a:solidFill>
                  <a:srgbClr val="132330"/>
                </a:solidFill>
                <a:latin typeface="Arial" pitchFamily="34" charset="0"/>
                <a:ea typeface="Arial" pitchFamily="34" charset="-122"/>
                <a:cs typeface="Arial" pitchFamily="34" charset="-120"/>
              </a:rPr>
              <a:t>The fingerprints behave like an instrument — they raise testable questions about who was calling.</a:t>
            </a:r>
            <a:endParaRPr lang="en-US" sz="1100" dirty="0"/>
          </a:p>
        </p:txBody>
      </p:sp>
      <p:sp>
        <p:nvSpPr>
          <p:cNvPr id="78" name="Shape 65"/>
          <p:cNvSpPr/>
          <p:nvPr/>
        </p:nvSpPr>
        <p:spPr>
          <a:xfrm>
            <a:off x="19860768" y="12984480"/>
            <a:ext cx="6254496" cy="4389120"/>
          </a:xfrm>
          <a:prstGeom prst="roundRect">
            <a:avLst>
              <a:gd name="adj" fmla="val 1875"/>
            </a:avLst>
          </a:prstGeom>
          <a:solidFill>
            <a:srgbClr val="EEF3F7"/>
          </a:solidFill>
          <a:ln w="12700">
            <a:solidFill>
              <a:srgbClr val="D8E2EA"/>
            </a:solidFill>
            <a:prstDash val="solid"/>
          </a:ln>
        </p:spPr>
      </p:sp>
      <p:sp>
        <p:nvSpPr>
          <p:cNvPr id="79" name="Shape 66"/>
          <p:cNvSpPr/>
          <p:nvPr/>
        </p:nvSpPr>
        <p:spPr>
          <a:xfrm>
            <a:off x="20089368" y="13213080"/>
            <a:ext cx="480060" cy="480060"/>
          </a:xfrm>
          <a:prstGeom prst="ellipse">
            <a:avLst/>
          </a:prstGeom>
          <a:solidFill>
            <a:srgbClr val="1C7293"/>
          </a:solidFill>
          <a:ln w="12700">
            <a:solidFill>
              <a:srgbClr val="1C7293"/>
            </a:solidFill>
            <a:prstDash val="solid"/>
          </a:ln>
        </p:spPr>
      </p:sp>
      <p:sp>
        <p:nvSpPr>
          <p:cNvPr id="80" name="Text 67"/>
          <p:cNvSpPr/>
          <p:nvPr/>
        </p:nvSpPr>
        <p:spPr>
          <a:xfrm>
            <a:off x="20089368" y="132130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81" name="Text 68"/>
          <p:cNvSpPr/>
          <p:nvPr/>
        </p:nvSpPr>
        <p:spPr>
          <a:xfrm>
            <a:off x="20660868" y="131445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Seen but not heard</a:t>
            </a:r>
            <a:endParaRPr lang="en-US" sz="1400" dirty="0"/>
          </a:p>
        </p:txBody>
      </p:sp>
      <p:pic>
        <p:nvPicPr>
          <p:cNvPr id="82" name="Image 11" descr="oceans2026_fig8_threshold_sweep_v4.png">    </p:cNvPr>
          <p:cNvPicPr>
            <a:picLocks noChangeAspect="1"/>
          </p:cNvPicPr>
          <p:nvPr/>
        </p:nvPicPr>
        <p:blipFill>
          <a:blip r:embed="rId12"/>
          <a:stretch>
            <a:fillRect/>
          </a:stretch>
        </p:blipFill>
        <p:spPr>
          <a:xfrm>
            <a:off x="20135088" y="14036040"/>
            <a:ext cx="5705856" cy="1636776"/>
          </a:xfrm>
          <a:prstGeom prst="rect">
            <a:avLst/>
          </a:prstGeom>
        </p:spPr>
      </p:pic>
      <p:sp>
        <p:nvSpPr>
          <p:cNvPr id="83" name="Text 69"/>
          <p:cNvSpPr/>
          <p:nvPr/>
        </p:nvSpPr>
        <p:spPr>
          <a:xfrm>
            <a:off x="20135088" y="15773400"/>
            <a:ext cx="5705856" cy="1508760"/>
          </a:xfrm>
          <a:prstGeom prst="rect">
            <a:avLst/>
          </a:prstGeom>
          <a:noFill/>
          <a:ln/>
        </p:spPr>
        <p:txBody>
          <a:bodyPr wrap="square" lIns="0" tIns="0" rIns="0" bIns="0" rtlCol="0" anchor="t"/>
          <a:lstStyle/>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Two months where orcas were seen from boats but never heard: October 2020 and April 2026.</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Every October 2020 detection above our cutoff was listened to, and every one was humpback — false alarms, not missed orca.</a:t>
            </a:r>
            <a:endParaRPr lang="en-US" sz="1050" dirty="0"/>
          </a:p>
          <a:p>
            <a:pPr marL="139700" indent="-139700">
              <a:lnSpc>
                <a:spcPts val="1239"/>
              </a:lnSpc>
              <a:spcAft>
                <a:spcPts val="450"/>
              </a:spcAft>
              <a:buSzPct val="100000"/>
              <a:buChar char="▪"/>
            </a:pPr>
            <a:r>
              <a:rPr lang="en-US" sz="1050" dirty="0">
                <a:solidFill>
                  <a:srgbClr val="132330"/>
                </a:solidFill>
                <a:latin typeface="Arial" pitchFamily="34" charset="0"/>
                <a:ea typeface="Arial" pitchFamily="34" charset="-122"/>
                <a:cs typeface="Arial" pitchFamily="34" charset="-120"/>
              </a:rPr>
              <a:t>Bigg’s orcas are often silent while hunting, so seen-but-not-heard is a real outcome, not a broken detector. Both months now serve as a standing test that the detector stays quiet when it should.</a:t>
            </a:r>
            <a:endParaRPr lang="en-US" sz="1050" dirty="0"/>
          </a:p>
        </p:txBody>
      </p:sp>
      <p:sp>
        <p:nvSpPr>
          <p:cNvPr id="84" name="Shape 70"/>
          <p:cNvSpPr/>
          <p:nvPr/>
        </p:nvSpPr>
        <p:spPr>
          <a:xfrm>
            <a:off x="26389584" y="5577840"/>
            <a:ext cx="6254496" cy="6126480"/>
          </a:xfrm>
          <a:prstGeom prst="roundRect">
            <a:avLst>
              <a:gd name="adj" fmla="val 1343"/>
            </a:avLst>
          </a:prstGeom>
          <a:solidFill>
            <a:srgbClr val="EEF3F7"/>
          </a:solidFill>
          <a:ln w="12700">
            <a:solidFill>
              <a:srgbClr val="D8E2EA"/>
            </a:solidFill>
            <a:prstDash val="solid"/>
          </a:ln>
        </p:spPr>
      </p:sp>
      <p:sp>
        <p:nvSpPr>
          <p:cNvPr id="85" name="Shape 71"/>
          <p:cNvSpPr/>
          <p:nvPr/>
        </p:nvSpPr>
        <p:spPr>
          <a:xfrm>
            <a:off x="26618184" y="5806440"/>
            <a:ext cx="480060" cy="480060"/>
          </a:xfrm>
          <a:prstGeom prst="ellipse">
            <a:avLst/>
          </a:prstGeom>
          <a:solidFill>
            <a:srgbClr val="1C7293"/>
          </a:solidFill>
          <a:ln w="12700">
            <a:solidFill>
              <a:srgbClr val="1C7293"/>
            </a:solidFill>
            <a:prstDash val="solid"/>
          </a:ln>
        </p:spPr>
      </p:sp>
      <p:sp>
        <p:nvSpPr>
          <p:cNvPr id="86" name="Text 72"/>
          <p:cNvSpPr/>
          <p:nvPr/>
        </p:nvSpPr>
        <p:spPr>
          <a:xfrm>
            <a:off x="26618184" y="58064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87" name="Text 73"/>
          <p:cNvSpPr/>
          <p:nvPr/>
        </p:nvSpPr>
        <p:spPr>
          <a:xfrm>
            <a:off x="27189684" y="57378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Running the loop again</a:t>
            </a:r>
            <a:endParaRPr lang="en-US" sz="1400" dirty="0"/>
          </a:p>
        </p:txBody>
      </p:sp>
      <p:sp>
        <p:nvSpPr>
          <p:cNvPr id="88" name="Text 74"/>
          <p:cNvSpPr/>
          <p:nvPr/>
        </p:nvSpPr>
        <p:spPr>
          <a:xfrm>
            <a:off x="26663904" y="6515100"/>
            <a:ext cx="5705856" cy="411480"/>
          </a:xfrm>
          <a:prstGeom prst="rect">
            <a:avLst/>
          </a:prstGeom>
          <a:noFill/>
          <a:ln/>
        </p:spPr>
        <p:txBody>
          <a:bodyPr wrap="square" lIns="0" tIns="0" rIns="0" bIns="0" rtlCol="0" anchor="t"/>
          <a:lstStyle/>
          <a:p>
            <a:pPr indent="0" marL="0">
              <a:lnSpc>
                <a:spcPts val="1100"/>
              </a:lnSpc>
              <a:buNone/>
            </a:pPr>
            <a:r>
              <a:rPr lang="en-US" sz="950" dirty="0">
                <a:solidFill>
                  <a:srgbClr val="132330"/>
                </a:solidFill>
                <a:latin typeface="Arial" pitchFamily="34" charset="0"/>
                <a:ea typeface="Arial" pitchFamily="34" charset="-122"/>
                <a:cs typeface="Arial" pitchFamily="34" charset="-120"/>
              </a:rPr>
              <a:t>One more turn of the loop, on more labels, produced a second classifier — orca_v10. May 2018 is the referee: neither it nor v4 has ever trained on that month.</a:t>
            </a:r>
            <a:endParaRPr lang="en-US" sz="950" dirty="0"/>
          </a:p>
        </p:txBody>
      </p:sp>
      <p:pic>
        <p:nvPicPr>
          <p:cNvPr id="89" name="Image 12" descr="oceans2026_fig10_v10_holdout.png">    </p:cNvPr>
          <p:cNvPicPr>
            <a:picLocks noChangeAspect="1"/>
          </p:cNvPicPr>
          <p:nvPr/>
        </p:nvPicPr>
        <p:blipFill>
          <a:blip r:embed="rId13"/>
          <a:stretch>
            <a:fillRect/>
          </a:stretch>
        </p:blipFill>
        <p:spPr>
          <a:xfrm>
            <a:off x="26663904" y="7086600"/>
            <a:ext cx="5705856" cy="1463040"/>
          </a:xfrm>
          <a:prstGeom prst="rect">
            <a:avLst/>
          </a:prstGeom>
        </p:spPr>
      </p:pic>
      <p:sp>
        <p:nvSpPr>
          <p:cNvPr id="90" name="Text 75"/>
          <p:cNvSpPr/>
          <p:nvPr/>
        </p:nvSpPr>
        <p:spPr>
          <a:xfrm>
            <a:off x="26663904" y="8686800"/>
            <a:ext cx="5705856" cy="2834640"/>
          </a:xfrm>
          <a:prstGeom prst="rect">
            <a:avLst/>
          </a:prstGeom>
          <a:noFill/>
          <a:ln/>
        </p:spPr>
        <p:txBody>
          <a:bodyPr wrap="square" lIns="0" tIns="0" rIns="0" bIns="0" rtlCol="0" anchor="t"/>
          <a:lstStyle/>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Across the 196 ear-confirmed orca windows in May, v10 scores higher than v4 on 192 of the 195 they share.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Of v10’s above-threshold detections not already confirmed, all 14 were reviewed by ear and all 14 were orca — no false alarms among those reviewed. May is not exhaustively labeled, so this is not a month-wide false-alarm rate.</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Four fell on days never previously confirmed — 2, 3, 7 and 29 May. May’s confirmed orca days go from four to eight, and the ten days in panel 7 become fourteen.</a:t>
            </a:r>
            <a:endParaRPr lang="en-US" sz="1000" dirty="0"/>
          </a:p>
          <a:p>
            <a:pPr marL="139700" indent="-139700">
              <a:lnSpc>
                <a:spcPts val="1180"/>
              </a:lnSpc>
              <a:spcAft>
                <a:spcPts val="450"/>
              </a:spcAft>
              <a:buSzPct val="100000"/>
              <a:buChar char="▪"/>
            </a:pPr>
            <a:r>
              <a:rPr lang="en-US" sz="1000" dirty="0">
                <a:solidFill>
                  <a:srgbClr val="132330"/>
                </a:solidFill>
                <a:latin typeface="Arial" pitchFamily="34" charset="0"/>
                <a:ea typeface="Arial" pitchFamily="34" charset="-122"/>
                <a:cs typeface="Arial" pitchFamily="34" charset="-120"/>
              </a:rPr>
              <a:t>The loop does not just produce a detector. Each turn produces a measurably better one.</a:t>
            </a:r>
            <a:endParaRPr lang="en-US" sz="1000" dirty="0"/>
          </a:p>
        </p:txBody>
      </p:sp>
      <p:sp>
        <p:nvSpPr>
          <p:cNvPr id="91" name="Shape 76"/>
          <p:cNvSpPr/>
          <p:nvPr/>
        </p:nvSpPr>
        <p:spPr>
          <a:xfrm>
            <a:off x="26389584" y="11978640"/>
            <a:ext cx="6254496" cy="4389120"/>
          </a:xfrm>
          <a:prstGeom prst="roundRect">
            <a:avLst>
              <a:gd name="adj" fmla="val 1875"/>
            </a:avLst>
          </a:prstGeom>
          <a:solidFill>
            <a:srgbClr val="EEF3F7"/>
          </a:solidFill>
          <a:ln w="12700">
            <a:solidFill>
              <a:srgbClr val="D8E2EA"/>
            </a:solidFill>
            <a:prstDash val="solid"/>
          </a:ln>
        </p:spPr>
      </p:sp>
      <p:sp>
        <p:nvSpPr>
          <p:cNvPr id="92" name="Shape 77"/>
          <p:cNvSpPr/>
          <p:nvPr/>
        </p:nvSpPr>
        <p:spPr>
          <a:xfrm>
            <a:off x="26618184" y="12207240"/>
            <a:ext cx="480060" cy="480060"/>
          </a:xfrm>
          <a:prstGeom prst="ellipse">
            <a:avLst/>
          </a:prstGeom>
          <a:solidFill>
            <a:srgbClr val="1C7293"/>
          </a:solidFill>
          <a:ln w="12700">
            <a:solidFill>
              <a:srgbClr val="1C7293"/>
            </a:solidFill>
            <a:prstDash val="solid"/>
          </a:ln>
        </p:spPr>
      </p:sp>
      <p:sp>
        <p:nvSpPr>
          <p:cNvPr id="93" name="Text 78"/>
          <p:cNvSpPr/>
          <p:nvPr/>
        </p:nvSpPr>
        <p:spPr>
          <a:xfrm>
            <a:off x="26618184" y="1220724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94" name="Text 79"/>
          <p:cNvSpPr/>
          <p:nvPr/>
        </p:nvSpPr>
        <p:spPr>
          <a:xfrm>
            <a:off x="27189684" y="1213866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Measured limits</a:t>
            </a:r>
            <a:endParaRPr lang="en-US" sz="1400" dirty="0"/>
          </a:p>
        </p:txBody>
      </p:sp>
      <p:sp>
        <p:nvSpPr>
          <p:cNvPr id="95" name="Text 80"/>
          <p:cNvSpPr/>
          <p:nvPr/>
        </p:nvSpPr>
        <p:spPr>
          <a:xfrm>
            <a:off x="26663904" y="12915900"/>
            <a:ext cx="5705856" cy="365760"/>
          </a:xfrm>
          <a:prstGeom prst="rect">
            <a:avLst/>
          </a:prstGeom>
          <a:noFill/>
          <a:ln/>
        </p:spPr>
        <p:txBody>
          <a:bodyPr wrap="square" lIns="0" tIns="0" rIns="0" bIns="0" rtlCol="0" anchor="t"/>
          <a:lstStyle/>
          <a:p>
            <a:pPr indent="0" marL="0">
              <a:lnSpc>
                <a:spcPts val="950"/>
              </a:lnSpc>
              <a:buNone/>
            </a:pPr>
            <a:r>
              <a:rPr lang="en-US" sz="800" i="1" dirty="0">
                <a:solidFill>
                  <a:srgbClr val="4A5C6A"/>
                </a:solidFill>
                <a:latin typeface="Arial" pitchFamily="34" charset="0"/>
                <a:ea typeface="Arial" pitchFamily="34" charset="-122"/>
                <a:cs typeface="Arial" pitchFamily="34" charset="-120"/>
              </a:rPr>
              <a:t>Per-class scores for orca_v10, on 459 held-out windows. Each class has its own cutoff.</a:t>
            </a:r>
            <a:endParaRPr lang="en-US" sz="800" dirty="0"/>
          </a:p>
        </p:txBody>
      </p:sp>
      <p:pic>
        <p:nvPicPr>
          <p:cNvPr id="96" name="Image 13" descr="oceans2026_fig9_per_class_f1_v4.png">    </p:cNvPr>
          <p:cNvPicPr>
            <a:picLocks noChangeAspect="1"/>
          </p:cNvPicPr>
          <p:nvPr/>
        </p:nvPicPr>
        <p:blipFill>
          <a:blip r:embed="rId14"/>
          <a:stretch>
            <a:fillRect/>
          </a:stretch>
        </p:blipFill>
        <p:spPr>
          <a:xfrm>
            <a:off x="26663904" y="13350240"/>
            <a:ext cx="5705856" cy="1495044"/>
          </a:xfrm>
          <a:prstGeom prst="rect">
            <a:avLst/>
          </a:prstGeom>
        </p:spPr>
      </p:pic>
      <p:sp>
        <p:nvSpPr>
          <p:cNvPr id="97" name="Text 81"/>
          <p:cNvSpPr/>
          <p:nvPr/>
        </p:nvSpPr>
        <p:spPr>
          <a:xfrm>
            <a:off x="26663904" y="14950440"/>
            <a:ext cx="5705856" cy="13258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class needs its own cutoff — the best values run from +0.79 to +2.31, so one global setting cannot serve them all. v10’s orca cutoff of +2.31 is its own optimum, not a correction to the +1.16 used with v4 elsewhere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Cutoffs are set on months the model did not train on, never on the month being analyzed.</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Whale-watch vessels arrive once orcas are sighted, so ship noise tracks orca presence — it can never be evidence of absence.</a:t>
            </a:r>
            <a:endParaRPr lang="en-US" sz="950" dirty="0"/>
          </a:p>
        </p:txBody>
      </p:sp>
      <p:sp>
        <p:nvSpPr>
          <p:cNvPr id="98" name="Shape 82"/>
          <p:cNvSpPr/>
          <p:nvPr/>
        </p:nvSpPr>
        <p:spPr>
          <a:xfrm>
            <a:off x="26389584" y="16642080"/>
            <a:ext cx="6254496" cy="3749040"/>
          </a:xfrm>
          <a:prstGeom prst="roundRect">
            <a:avLst>
              <a:gd name="adj" fmla="val 2195"/>
            </a:avLst>
          </a:prstGeom>
          <a:solidFill>
            <a:srgbClr val="EEF3F7"/>
          </a:solidFill>
          <a:ln w="12700">
            <a:solidFill>
              <a:srgbClr val="D8E2EA"/>
            </a:solidFill>
            <a:prstDash val="solid"/>
          </a:ln>
        </p:spPr>
      </p:sp>
      <p:sp>
        <p:nvSpPr>
          <p:cNvPr id="99" name="Shape 83"/>
          <p:cNvSpPr/>
          <p:nvPr/>
        </p:nvSpPr>
        <p:spPr>
          <a:xfrm>
            <a:off x="26618184" y="16870680"/>
            <a:ext cx="480060" cy="480060"/>
          </a:xfrm>
          <a:prstGeom prst="ellipse">
            <a:avLst/>
          </a:prstGeom>
          <a:solidFill>
            <a:srgbClr val="1C7293"/>
          </a:solidFill>
          <a:ln w="12700">
            <a:solidFill>
              <a:srgbClr val="1C7293"/>
            </a:solidFill>
            <a:prstDash val="solid"/>
          </a:ln>
        </p:spPr>
      </p:sp>
      <p:sp>
        <p:nvSpPr>
          <p:cNvPr id="100" name="Text 84"/>
          <p:cNvSpPr/>
          <p:nvPr/>
        </p:nvSpPr>
        <p:spPr>
          <a:xfrm>
            <a:off x="26618184" y="16870680"/>
            <a:ext cx="480060" cy="4800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101" name="Text 85"/>
          <p:cNvSpPr/>
          <p:nvPr/>
        </p:nvSpPr>
        <p:spPr>
          <a:xfrm>
            <a:off x="27189684" y="16802100"/>
            <a:ext cx="5248656" cy="640080"/>
          </a:xfrm>
          <a:prstGeom prst="rect">
            <a:avLst/>
          </a:prstGeom>
          <a:noFill/>
          <a:ln/>
        </p:spPr>
        <p:txBody>
          <a:bodyPr wrap="square" lIns="0" tIns="0" rIns="0" bIns="0" rtlCol="0" anchor="ctr"/>
          <a:lstStyle/>
          <a:p>
            <a:pPr algn="l" indent="0" marL="0">
              <a:buNone/>
            </a:pPr>
            <a:r>
              <a:rPr lang="en-US" sz="1400" b="1" dirty="0">
                <a:solidFill>
                  <a:srgbClr val="0B2545"/>
                </a:solidFill>
                <a:latin typeface="Cambria" pitchFamily="34" charset="0"/>
                <a:ea typeface="Cambria" pitchFamily="34" charset="-122"/>
                <a:cs typeface="Cambria" pitchFamily="34" charset="-120"/>
              </a:rPr>
              <a:t>Next</a:t>
            </a:r>
            <a:endParaRPr lang="en-US" sz="1400" dirty="0"/>
          </a:p>
        </p:txBody>
      </p:sp>
      <p:sp>
        <p:nvSpPr>
          <p:cNvPr id="102" name="Text 86"/>
          <p:cNvSpPr/>
          <p:nvPr/>
        </p:nvSpPr>
        <p:spPr>
          <a:xfrm>
            <a:off x="26663904" y="17602200"/>
            <a:ext cx="5705856" cy="1097280"/>
          </a:xfrm>
          <a:prstGeom prst="rect">
            <a:avLst/>
          </a:prstGeom>
          <a:noFill/>
          <a:ln/>
        </p:spPr>
        <p:txBody>
          <a:bodyPr wrap="square" lIns="0" tIns="0" rIns="0" bIns="0" rtlCol="0" anchor="t"/>
          <a:lstStyle/>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Humpback vocalization is one broad class covering song and a wide range of other calls. Separating them is the likeliest route to lifting the weakest scores here.</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Each of the two would then need its own score cutoff, as every class already has.</a:t>
            </a:r>
            <a:endParaRPr lang="en-US" sz="950" dirty="0"/>
          </a:p>
          <a:p>
            <a:pPr marL="139700" indent="-139700">
              <a:lnSpc>
                <a:spcPts val="1121"/>
              </a:lnSpc>
              <a:spcAft>
                <a:spcPts val="450"/>
              </a:spcAft>
              <a:buSzPct val="100000"/>
              <a:buChar char="▪"/>
            </a:pPr>
            <a:r>
              <a:rPr lang="en-US" sz="950" dirty="0">
                <a:solidFill>
                  <a:srgbClr val="132330"/>
                </a:solidFill>
                <a:latin typeface="Arial" pitchFamily="34" charset="0"/>
                <a:ea typeface="Arial" pitchFamily="34" charset="-122"/>
                <a:cs typeface="Arial" pitchFamily="34" charset="-120"/>
              </a:rPr>
              <a:t>Extending to the Southern Resident and Offshore ecotypes.</a:t>
            </a:r>
            <a:endParaRPr lang="en-US" sz="950" dirty="0"/>
          </a:p>
        </p:txBody>
      </p:sp>
      <p:sp>
        <p:nvSpPr>
          <p:cNvPr id="103" name="Text 87"/>
          <p:cNvSpPr/>
          <p:nvPr/>
        </p:nvSpPr>
        <p:spPr>
          <a:xfrm>
            <a:off x="26663904" y="1874520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Acknowledgements</a:t>
            </a:r>
            <a:endParaRPr lang="en-US" sz="1000" dirty="0"/>
          </a:p>
        </p:txBody>
      </p:sp>
      <p:sp>
        <p:nvSpPr>
          <p:cNvPr id="104" name="Text 88"/>
          <p:cNvSpPr/>
          <p:nvPr/>
        </p:nvSpPr>
        <p:spPr>
          <a:xfrm>
            <a:off x="26663904" y="18973800"/>
            <a:ext cx="5705856" cy="548640"/>
          </a:xfrm>
          <a:prstGeom prst="rect">
            <a:avLst/>
          </a:prstGeom>
          <a:noFill/>
          <a:ln/>
        </p:spPr>
        <p:txBody>
          <a:bodyPr wrap="square" lIns="0" tIns="0" rIns="0" bIns="0" rtlCol="0" anchor="t"/>
          <a:lstStyle/>
          <a:p>
            <a:pPr indent="0" marL="0">
              <a:lnSpc>
                <a:spcPts val="850"/>
              </a:lnSpc>
              <a:buNone/>
            </a:pPr>
            <a:r>
              <a:rPr lang="en-US" sz="750" dirty="0">
                <a:solidFill>
                  <a:srgbClr val="4A5C6A"/>
                </a:solidFill>
                <a:latin typeface="Arial" pitchFamily="34" charset="0"/>
                <a:ea typeface="Arial" pitchFamily="34" charset="-122"/>
                <a:cs typeface="Arial" pitchFamily="34" charset="-120"/>
              </a:rPr>
              <a:t>MARS is operated by MBARI with support from the David and Lucile Packard Foundation. Visual sighting context from the California Killer Whale Project and Monterey Bay vessel reports.</a:t>
            </a:r>
            <a:endParaRPr lang="en-US" sz="750" dirty="0"/>
          </a:p>
        </p:txBody>
      </p:sp>
      <p:sp>
        <p:nvSpPr>
          <p:cNvPr id="105" name="Text 89"/>
          <p:cNvSpPr/>
          <p:nvPr/>
        </p:nvSpPr>
        <p:spPr>
          <a:xfrm>
            <a:off x="26663904" y="19476720"/>
            <a:ext cx="5705856" cy="228600"/>
          </a:xfrm>
          <a:prstGeom prst="rect">
            <a:avLst/>
          </a:prstGeom>
          <a:noFill/>
          <a:ln/>
        </p:spPr>
        <p:txBody>
          <a:bodyPr wrap="square" lIns="0" tIns="0" rIns="0" bIns="0" rtlCol="0" anchor="ctr"/>
          <a:lstStyle/>
          <a:p>
            <a:pPr indent="0" marL="0">
              <a:buNone/>
            </a:pPr>
            <a:r>
              <a:rPr lang="en-US" sz="1000" b="1" dirty="0">
                <a:solidFill>
                  <a:srgbClr val="0B2545"/>
                </a:solidFill>
                <a:latin typeface="Cambria" pitchFamily="34" charset="0"/>
                <a:ea typeface="Cambria" pitchFamily="34" charset="-122"/>
                <a:cs typeface="Cambria" pitchFamily="34" charset="-120"/>
              </a:rPr>
              <a:t>Selected references</a:t>
            </a:r>
            <a:endParaRPr lang="en-US" sz="1000" dirty="0"/>
          </a:p>
        </p:txBody>
      </p:sp>
      <p:sp>
        <p:nvSpPr>
          <p:cNvPr id="106" name="Text 90"/>
          <p:cNvSpPr/>
          <p:nvPr/>
        </p:nvSpPr>
        <p:spPr>
          <a:xfrm>
            <a:off x="26663904" y="19705320"/>
            <a:ext cx="5705856" cy="685800"/>
          </a:xfrm>
          <a:prstGeom prst="rect">
            <a:avLst/>
          </a:prstGeom>
          <a:noFill/>
          <a:ln/>
        </p:spPr>
        <p:txBody>
          <a:bodyPr wrap="square" lIns="0" tIns="0" rIns="0" bIns="0" rtlCol="0" anchor="t"/>
          <a:lstStyle/>
          <a:p>
            <a:pPr indent="0" marL="0">
              <a:lnSpc>
                <a:spcPts val="750"/>
              </a:lnSpc>
              <a:buNone/>
            </a:pPr>
            <a:r>
              <a:rPr lang="en-US" sz="650" dirty="0">
                <a:solidFill>
                  <a:srgbClr val="4A5C6A"/>
                </a:solidFill>
                <a:latin typeface="Arial" pitchFamily="34" charset="0"/>
                <a:ea typeface="Arial" pitchFamily="34" charset="-122"/>
                <a:cs typeface="Arial" pitchFamily="34" charset="-120"/>
              </a:rPr>
              <a:t>van Merriënboer et al. (2025) Perch 2.0, arXiv:2508.04665  ·  Burns et al. (2025) Perch 2.0 transfers ‘whale’ to underwater tasks, arXiv:2512.03219  ·  Google Research, perch-hoplite  ·  Harvey, Allen &amp; Harrell (2024) multispecies-whale, Kaggle  ·  Bonhoeffer et al. (2026) orcAI, Mar. Mamm. Sci. 42(1) e70083, doi:10.1111/mms.70083  ·  Ryan et al. (2016) OCEANS 2016 MTS/IEEE Monterey, doi:10.1109/OCEANS.2016.7761363  ·  McInnes et al. (2023) Bigg’s killer whale catalog, NOAA SWFSC, doi:10.25923/0q3f-1812</a:t>
            </a:r>
            <a:endParaRPr lang="en-US" sz="650" dirty="0"/>
          </a:p>
        </p:txBody>
      </p:sp>
      <p:pic>
        <p:nvPicPr>
          <p:cNvPr id="107" name="Image 14" descr="MBARI_logo_type.png">    </p:cNvPr>
          <p:cNvPicPr>
            <a:picLocks noChangeAspect="1"/>
          </p:cNvPicPr>
          <p:nvPr/>
        </p:nvPicPr>
        <p:blipFill>
          <a:blip r:embed="rId15"/>
          <a:stretch>
            <a:fillRect/>
          </a:stretch>
        </p:blipFill>
        <p:spPr>
          <a:xfrm>
            <a:off x="25557480" y="20903184"/>
            <a:ext cx="2103120" cy="777240"/>
          </a:xfrm>
          <a:prstGeom prst="rect">
            <a:avLst/>
          </a:prstGeom>
        </p:spPr>
      </p:pic>
      <p:sp>
        <p:nvSpPr>
          <p:cNvPr id="108" name="Shape 91"/>
          <p:cNvSpPr/>
          <p:nvPr/>
        </p:nvSpPr>
        <p:spPr>
          <a:xfrm>
            <a:off x="31683960" y="20825460"/>
            <a:ext cx="960120" cy="960120"/>
          </a:xfrm>
          <a:prstGeom prst="rect">
            <a:avLst/>
          </a:prstGeom>
          <a:solidFill>
            <a:srgbClr val="FFFFFF"/>
          </a:solidFill>
          <a:ln w="25400">
            <a:solidFill>
              <a:srgbClr val="1C7293"/>
            </a:solidFill>
            <a:prstDash val="dash"/>
          </a:ln>
        </p:spPr>
      </p:sp>
      <p:sp>
        <p:nvSpPr>
          <p:cNvPr id="109" name="Text 92"/>
          <p:cNvSpPr/>
          <p:nvPr/>
        </p:nvSpPr>
        <p:spPr>
          <a:xfrm>
            <a:off x="31683960" y="20825460"/>
            <a:ext cx="960120" cy="960120"/>
          </a:xfrm>
          <a:prstGeom prst="rect">
            <a:avLst/>
          </a:prstGeom>
          <a:noFill/>
          <a:ln/>
        </p:spPr>
        <p:txBody>
          <a:bodyPr wrap="square" lIns="0" tIns="0" rIns="0" bIns="0" rtlCol="0" anchor="ctr"/>
          <a:lstStyle/>
          <a:p>
            <a:pPr algn="ctr" indent="0" marL="0">
              <a:buNone/>
            </a:pPr>
            <a:r>
              <a:rPr lang="en-US" sz="1100" b="1" dirty="0">
                <a:solidFill>
                  <a:srgbClr val="1C7293"/>
                </a:solidFill>
                <a:latin typeface="Arial" pitchFamily="34" charset="0"/>
                <a:ea typeface="Arial" pitchFamily="34" charset="-122"/>
                <a:cs typeface="Arial" pitchFamily="34" charset="-120"/>
              </a:rPr>
              <a:t>QR</a:t>
            </a:r>
            <a:endParaRPr lang="en-US" sz="1100" dirty="0"/>
          </a:p>
        </p:txBody>
      </p:sp>
      <p:sp>
        <p:nvSpPr>
          <p:cNvPr id="110" name="Text 93"/>
          <p:cNvSpPr/>
          <p:nvPr/>
        </p:nvSpPr>
        <p:spPr>
          <a:xfrm>
            <a:off x="28072080" y="20825460"/>
            <a:ext cx="3383280" cy="960120"/>
          </a:xfrm>
          <a:prstGeom prst="rect">
            <a:avLst/>
          </a:prstGeom>
          <a:noFill/>
          <a:ln/>
        </p:spPr>
        <p:txBody>
          <a:bodyPr wrap="square" lIns="0" tIns="0" rIns="0" bIns="0" rtlCol="0" anchor="ctr"/>
          <a:lstStyle/>
          <a:p>
            <a:pPr algn="r" indent="0" marL="0">
              <a:lnSpc>
                <a:spcPts val="1050"/>
              </a:lnSpc>
              <a:buNone/>
            </a:pPr>
            <a:r>
              <a:rPr lang="en-US" sz="900" b="1" i="1" dirty="0">
                <a:solidFill>
                  <a:srgbClr val="4A5C6A"/>
                </a:solidFill>
                <a:latin typeface="Arial" pitchFamily="34" charset="0"/>
                <a:ea typeface="Arial" pitchFamily="34" charset="-122"/>
                <a:cs typeface="Arial" pitchFamily="34" charset="-120"/>
              </a:rPr>
              <a:t>QR → code, figures and data
</a:t>
            </a:r>
            <a:pPr algn="r" indent="0" marL="0">
              <a:lnSpc>
                <a:spcPts val="1050"/>
              </a:lnSpc>
              <a:buNone/>
            </a:pPr>
            <a:r>
              <a:rPr lang="en-US" sz="900" i="1" dirty="0">
                <a:solidFill>
                  <a:srgbClr val="4A5C6A"/>
                </a:solidFill>
                <a:latin typeface="Arial" pitchFamily="34" charset="0"/>
                <a:ea typeface="Arial" pitchFamily="34" charset="-122"/>
                <a:cs typeface="Arial" pitchFamily="34" charset="-120"/>
              </a:rPr>
              <a:t>github.com/duane-edgington/perch-hoplite</a:t>
            </a:r>
            <a:endParaRPr lang="en-US" sz="900" dirty="0"/>
          </a:p>
        </p:txBody>
      </p:sp>
      <p:sp>
        <p:nvSpPr>
          <p:cNvPr id="111" name="Text 94"/>
          <p:cNvSpPr/>
          <p:nvPr/>
        </p:nvSpPr>
        <p:spPr>
          <a:xfrm>
            <a:off x="274320" y="20894040"/>
            <a:ext cx="24368760" cy="914400"/>
          </a:xfrm>
          <a:prstGeom prst="rect">
            <a:avLst/>
          </a:prstGeom>
          <a:noFill/>
          <a:ln/>
        </p:spPr>
        <p:txBody>
          <a:bodyPr wrap="square" lIns="0" tIns="0" rIns="0" bIns="0" rtlCol="0" anchor="t"/>
          <a:lstStyle/>
          <a:p>
            <a:pPr indent="0" marL="0">
              <a:lnSpc>
                <a:spcPts val="1200"/>
              </a:lnSpc>
              <a:buNone/>
            </a:pPr>
            <a:r>
              <a:rPr lang="en-US" sz="950" dirty="0">
                <a:solidFill>
                  <a:srgbClr val="4A5C6A"/>
                </a:solidFill>
                <a:latin typeface="Arial" pitchFamily="34" charset="0"/>
                <a:ea typeface="Arial" pitchFamily="34" charset="-122"/>
                <a:cs typeface="Arial" pitchFamily="34" charset="-120"/>
              </a:rPr>
              <a:t>Duane R. Edgington  duane@mbari.org  ·  John Ryan  ryjo@mbari.org  ·  Monterey Bay Aquarium Research Institute, Moss Landing, California</a:t>
            </a:r>
            <a:endParaRPr lang="en-US" sz="950" dirty="0"/>
          </a:p>
          <a:p>
            <a:pPr indent="0" marL="0">
              <a:lnSpc>
                <a:spcPts val="1200"/>
              </a:lnSpc>
              <a:buNone/>
            </a:pPr>
            <a:r>
              <a:rPr lang="en-US" sz="950" dirty="0">
                <a:solidFill>
                  <a:srgbClr val="4A5C6A"/>
                </a:solidFill>
                <a:latin typeface="Arial" pitchFamily="34" charset="0"/>
                <a:ea typeface="Arial" pitchFamily="34" charset="-122"/>
                <a:cs typeface="Arial" pitchFamily="34" charset="-120"/>
              </a:rPr>
              <a:t>Project: mbari.org/project/soundscape-listening-room   |   Audio: Pacific Ocean Sound recordings (AWS Open Data Registry), MARS cabled observatory, MBNMS.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2026-08-23T21:35:10Z</dcterms:created>
  <dcterms:modified xsi:type="dcterms:W3CDTF">2026-08-23T21:35:10Z</dcterms:modified>
</cp:coreProperties>
</file>