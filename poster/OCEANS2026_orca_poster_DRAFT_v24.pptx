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sp>
        <p:nvSpPr>
          <p:cNvPr id="6" name="Shape 4"/>
          <p:cNvSpPr/>
          <p:nvPr/>
        </p:nvSpPr>
        <p:spPr>
          <a:xfrm>
            <a:off x="26151840" y="274320"/>
            <a:ext cx="6492240" cy="2560320"/>
          </a:xfrm>
          <a:prstGeom prst="rect">
            <a:avLst/>
          </a:prstGeom>
          <a:solidFill>
            <a:srgbClr val="FFFFFF"/>
          </a:solidFill>
          <a:ln w="25400">
            <a:solidFill>
              <a:srgbClr val="1C7293"/>
            </a:solidFill>
            <a:prstDash val="dash"/>
          </a:ln>
        </p:spPr>
      </p:sp>
      <p:sp>
        <p:nvSpPr>
          <p:cNvPr id="7" name="Text 5"/>
          <p:cNvSpPr/>
          <p:nvPr/>
        </p:nvSpPr>
        <p:spPr>
          <a:xfrm>
            <a:off x="26334720" y="411480"/>
            <a:ext cx="6126480" cy="2286000"/>
          </a:xfrm>
          <a:prstGeom prst="rect">
            <a:avLst/>
          </a:prstGeom>
          <a:noFill/>
          <a:ln/>
        </p:spPr>
        <p:txBody>
          <a:bodyPr wrap="square" lIns="0" tIns="0" rIns="0" bIns="0" rtlCol="0" anchor="ctr"/>
          <a:lstStyle/>
          <a:p>
            <a:pPr algn="ctr" indent="0" marL="0">
              <a:lnSpc>
                <a:spcPts val="1200"/>
              </a:lnSpc>
              <a:buNone/>
            </a:pPr>
            <a:r>
              <a:rPr lang="en-US" sz="1200" b="1" dirty="0">
                <a:solidFill>
                  <a:srgbClr val="1C7293"/>
                </a:solidFill>
                <a:latin typeface="Arial" pitchFamily="34" charset="0"/>
                <a:ea typeface="Arial" pitchFamily="34" charset="-122"/>
                <a:cs typeface="Arial" pitchFamily="34" charset="-120"/>
              </a:rPr>
              <a:t>RESERVED — TEMPLATE BLOCK
</a:t>
            </a:r>
            <a:pPr algn="ctr" indent="0" marL="0">
              <a:lnSpc>
                <a:spcPts val="1200"/>
              </a:lnSpc>
              <a:buNone/>
            </a:pPr>
            <a:r>
              <a:rPr lang="en-US" sz="1000" i="1" dirty="0">
                <a:solidFill>
                  <a:srgbClr val="4A5C6A"/>
                </a:solidFill>
                <a:latin typeface="Arial" pitchFamily="34" charset="0"/>
                <a:ea typeface="Arial" pitchFamily="34" charset="-122"/>
                <a:cs typeface="Arial" pitchFamily="34" charset="-120"/>
              </a:rPr>
              <a:t>Keep the conference logos and the poster-type marker (“Regular Paper”) exactly as supplied in POSTER_TEMPLATE_72x48.pptx. Add MBARI logo here.</a:t>
            </a:r>
            <a:endParaRPr lang="en-US" sz="1200" dirty="0"/>
          </a:p>
        </p:txBody>
      </p:sp>
      <p:sp>
        <p:nvSpPr>
          <p:cNvPr id="8" name="Shape 6"/>
          <p:cNvSpPr/>
          <p:nvPr/>
        </p:nvSpPr>
        <p:spPr>
          <a:xfrm>
            <a:off x="274320" y="3108960"/>
            <a:ext cx="7886700" cy="2103120"/>
          </a:xfrm>
          <a:prstGeom prst="roundRect">
            <a:avLst>
              <a:gd name="adj" fmla="val 3261"/>
            </a:avLst>
          </a:prstGeom>
          <a:solidFill>
            <a:srgbClr val="13315C"/>
          </a:solidFill>
          <a:ln w="12700">
            <a:solidFill>
              <a:srgbClr val="13315C"/>
            </a:solidFill>
            <a:prstDash val="solid"/>
          </a:ln>
        </p:spPr>
      </p:sp>
      <p:sp>
        <p:nvSpPr>
          <p:cNvPr id="9" name="Text 7"/>
          <p:cNvSpPr/>
          <p:nvPr/>
        </p:nvSpPr>
        <p:spPr>
          <a:xfrm>
            <a:off x="50292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8 days</a:t>
            </a:r>
            <a:endParaRPr lang="en-US" sz="3000" dirty="0"/>
          </a:p>
        </p:txBody>
      </p:sp>
      <p:sp>
        <p:nvSpPr>
          <p:cNvPr id="10" name="Text 8"/>
          <p:cNvSpPr/>
          <p:nvPr/>
        </p:nvSpPr>
        <p:spPr>
          <a:xfrm>
            <a:off x="50292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of confirmed killer-whale presence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across April–May 2018</a:t>
            </a:r>
            <a:endParaRPr lang="en-US" sz="1100" dirty="0"/>
          </a:p>
        </p:txBody>
      </p:sp>
      <p:sp>
        <p:nvSpPr>
          <p:cNvPr id="11" name="Shape 9"/>
          <p:cNvSpPr/>
          <p:nvPr/>
        </p:nvSpPr>
        <p:spPr>
          <a:xfrm>
            <a:off x="8435340" y="3108960"/>
            <a:ext cx="7886700" cy="2103120"/>
          </a:xfrm>
          <a:prstGeom prst="roundRect">
            <a:avLst>
              <a:gd name="adj" fmla="val 3261"/>
            </a:avLst>
          </a:prstGeom>
          <a:solidFill>
            <a:srgbClr val="13315C"/>
          </a:solidFill>
          <a:ln w="12700">
            <a:solidFill>
              <a:srgbClr val="13315C"/>
            </a:solidFill>
            <a:prstDash val="solid"/>
          </a:ln>
        </p:spPr>
      </p:sp>
      <p:sp>
        <p:nvSpPr>
          <p:cNvPr id="12" name="Text 10"/>
          <p:cNvSpPr/>
          <p:nvPr/>
        </p:nvSpPr>
        <p:spPr>
          <a:xfrm>
            <a:off x="866394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95% fewer</a:t>
            </a:r>
            <a:endParaRPr lang="en-US" sz="3000" dirty="0"/>
          </a:p>
        </p:txBody>
      </p:sp>
      <p:sp>
        <p:nvSpPr>
          <p:cNvPr id="13" name="Text 11"/>
          <p:cNvSpPr/>
          <p:nvPr/>
        </p:nvSpPr>
        <p:spPr>
          <a:xfrm>
            <a:off x="866394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false alarms in a held-out month,</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from 17 corrective labels (6,489 → 304)</a:t>
            </a:r>
            <a:endParaRPr lang="en-US" sz="1100" dirty="0"/>
          </a:p>
        </p:txBody>
      </p:sp>
      <p:sp>
        <p:nvSpPr>
          <p:cNvPr id="14" name="Shape 12"/>
          <p:cNvSpPr/>
          <p:nvPr/>
        </p:nvSpPr>
        <p:spPr>
          <a:xfrm>
            <a:off x="16596360" y="3108960"/>
            <a:ext cx="7886700" cy="2103120"/>
          </a:xfrm>
          <a:prstGeom prst="roundRect">
            <a:avLst>
              <a:gd name="adj" fmla="val 3261"/>
            </a:avLst>
          </a:prstGeom>
          <a:solidFill>
            <a:srgbClr val="13315C"/>
          </a:solidFill>
          <a:ln w="12700">
            <a:solidFill>
              <a:srgbClr val="13315C"/>
            </a:solidFill>
            <a:prstDash val="solid"/>
          </a:ln>
        </p:spPr>
      </p:sp>
      <p:sp>
        <p:nvSpPr>
          <p:cNvPr id="15" name="Text 13"/>
          <p:cNvSpPr/>
          <p:nvPr/>
        </p:nvSpPr>
        <p:spPr>
          <a:xfrm>
            <a:off x="1682496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1,336 labels</a:t>
            </a:r>
            <a:endParaRPr lang="en-US" sz="3000" dirty="0"/>
          </a:p>
        </p:txBody>
      </p:sp>
      <p:sp>
        <p:nvSpPr>
          <p:cNvPr id="16" name="Text 14"/>
          <p:cNvSpPr/>
          <p:nvPr/>
        </p:nvSpPr>
        <p:spPr>
          <a:xfrm>
            <a:off x="1682496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in ~8–10 h of one expert's time — all of it;</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873 of them built the presented model</a:t>
            </a:r>
            <a:endParaRPr lang="en-US" sz="1100" dirty="0"/>
          </a:p>
        </p:txBody>
      </p:sp>
      <p:sp>
        <p:nvSpPr>
          <p:cNvPr id="17" name="Shape 15"/>
          <p:cNvSpPr/>
          <p:nvPr/>
        </p:nvSpPr>
        <p:spPr>
          <a:xfrm>
            <a:off x="24757380" y="3108960"/>
            <a:ext cx="7886700" cy="2103120"/>
          </a:xfrm>
          <a:prstGeom prst="roundRect">
            <a:avLst>
              <a:gd name="adj" fmla="val 3261"/>
            </a:avLst>
          </a:prstGeom>
          <a:solidFill>
            <a:srgbClr val="13315C"/>
          </a:solidFill>
          <a:ln w="12700">
            <a:solidFill>
              <a:srgbClr val="13315C"/>
            </a:solidFill>
            <a:prstDash val="solid"/>
          </a:ln>
        </p:spPr>
      </p:sp>
      <p:sp>
        <p:nvSpPr>
          <p:cNvPr id="18" name="Text 16"/>
          <p:cNvSpPr/>
          <p:nvPr/>
        </p:nvSpPr>
        <p:spPr>
          <a:xfrm>
            <a:off x="2498598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0.95</a:t>
            </a:r>
            <a:endParaRPr lang="en-US" sz="3000" dirty="0"/>
          </a:p>
        </p:txBody>
      </p:sp>
      <p:sp>
        <p:nvSpPr>
          <p:cNvPr id="19" name="Text 17"/>
          <p:cNvSpPr/>
          <p:nvPr/>
        </p:nvSpPr>
        <p:spPr>
          <a:xfrm>
            <a:off x="2498598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orca detection score (F1: 0 = useless,</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1 = perfect) at our chosen cutoff</a:t>
            </a:r>
            <a:endParaRPr lang="en-US" sz="1100" dirty="0"/>
          </a:p>
        </p:txBody>
      </p:sp>
      <p:sp>
        <p:nvSpPr>
          <p:cNvPr id="20" name="Shape 18"/>
          <p:cNvSpPr/>
          <p:nvPr/>
        </p:nvSpPr>
        <p:spPr>
          <a:xfrm>
            <a:off x="274320" y="5577840"/>
            <a:ext cx="7886700" cy="3383280"/>
          </a:xfrm>
          <a:prstGeom prst="roundRect">
            <a:avLst>
              <a:gd name="adj" fmla="val 2432"/>
            </a:avLst>
          </a:prstGeom>
          <a:solidFill>
            <a:srgbClr val="EEF3F7"/>
          </a:solidFill>
          <a:ln w="12700">
            <a:solidFill>
              <a:srgbClr val="D8E2EA"/>
            </a:solidFill>
            <a:prstDash val="solid"/>
          </a:ln>
        </p:spPr>
      </p:sp>
      <p:sp>
        <p:nvSpPr>
          <p:cNvPr id="21" name="Shape 19"/>
          <p:cNvSpPr/>
          <p:nvPr/>
        </p:nvSpPr>
        <p:spPr>
          <a:xfrm>
            <a:off x="525780" y="5806440"/>
            <a:ext cx="525780" cy="525780"/>
          </a:xfrm>
          <a:prstGeom prst="ellipse">
            <a:avLst/>
          </a:prstGeom>
          <a:solidFill>
            <a:srgbClr val="1C7293"/>
          </a:solidFill>
          <a:ln w="12700">
            <a:solidFill>
              <a:srgbClr val="1C7293"/>
            </a:solidFill>
            <a:prstDash val="solid"/>
          </a:ln>
        </p:spPr>
      </p:sp>
      <p:sp>
        <p:nvSpPr>
          <p:cNvPr id="22" name="Text 20"/>
          <p:cNvSpPr/>
          <p:nvPr/>
        </p:nvSpPr>
        <p:spPr>
          <a:xfrm>
            <a:off x="52578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3" name="Text 21"/>
          <p:cNvSpPr/>
          <p:nvPr/>
        </p:nvSpPr>
        <p:spPr>
          <a:xfrm>
            <a:off x="116586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gap</a:t>
            </a:r>
            <a:endParaRPr lang="en-US" sz="1700" dirty="0"/>
          </a:p>
        </p:txBody>
      </p:sp>
      <p:sp>
        <p:nvSpPr>
          <p:cNvPr id="24" name="Text 22"/>
          <p:cNvSpPr/>
          <p:nvPr/>
        </p:nvSpPr>
        <p:spPr>
          <a:xfrm>
            <a:off x="548640" y="6537960"/>
            <a:ext cx="7338060" cy="2286000"/>
          </a:xfrm>
          <a:prstGeom prst="rect">
            <a:avLst/>
          </a:prstGeom>
          <a:noFill/>
          <a:ln/>
        </p:spPr>
        <p:txBody>
          <a:bodyPr wrap="square" lIns="0" tIns="0" rIns="0" bIns="0" rtlCol="0" anchor="t"/>
          <a:lstStyle/>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for these ecotypes are scarce.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300" dirty="0"/>
          </a:p>
        </p:txBody>
      </p:sp>
      <p:sp>
        <p:nvSpPr>
          <p:cNvPr id="25" name="Shape 23"/>
          <p:cNvSpPr/>
          <p:nvPr/>
        </p:nvSpPr>
        <p:spPr>
          <a:xfrm>
            <a:off x="274320" y="9235440"/>
            <a:ext cx="7886700" cy="6309360"/>
          </a:xfrm>
          <a:prstGeom prst="roundRect">
            <a:avLst>
              <a:gd name="adj" fmla="val 1304"/>
            </a:avLst>
          </a:prstGeom>
          <a:solidFill>
            <a:srgbClr val="EEF3F7"/>
          </a:solidFill>
          <a:ln w="12700">
            <a:solidFill>
              <a:srgbClr val="D8E2EA"/>
            </a:solidFill>
            <a:prstDash val="solid"/>
          </a:ln>
        </p:spPr>
      </p:sp>
      <p:sp>
        <p:nvSpPr>
          <p:cNvPr id="26" name="Shape 24"/>
          <p:cNvSpPr/>
          <p:nvPr/>
        </p:nvSpPr>
        <p:spPr>
          <a:xfrm>
            <a:off x="525780" y="9464040"/>
            <a:ext cx="525780" cy="525780"/>
          </a:xfrm>
          <a:prstGeom prst="ellipse">
            <a:avLst/>
          </a:prstGeom>
          <a:solidFill>
            <a:srgbClr val="1C7293"/>
          </a:solidFill>
          <a:ln w="12700">
            <a:solidFill>
              <a:srgbClr val="1C7293"/>
            </a:solidFill>
            <a:prstDash val="solid"/>
          </a:ln>
        </p:spPr>
      </p:sp>
      <p:sp>
        <p:nvSpPr>
          <p:cNvPr id="27" name="Text 25"/>
          <p:cNvSpPr/>
          <p:nvPr/>
        </p:nvSpPr>
        <p:spPr>
          <a:xfrm>
            <a:off x="525780" y="94640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8" name="Text 26"/>
          <p:cNvSpPr/>
          <p:nvPr/>
        </p:nvSpPr>
        <p:spPr>
          <a:xfrm>
            <a:off x="1165860" y="94274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A continuous listening post</a:t>
            </a:r>
            <a:endParaRPr lang="en-US" sz="1700" dirty="0"/>
          </a:p>
        </p:txBody>
      </p:sp>
      <p:sp>
        <p:nvSpPr>
          <p:cNvPr id="29" name="Text 27"/>
          <p:cNvSpPr/>
          <p:nvPr/>
        </p:nvSpPr>
        <p:spPr>
          <a:xfrm>
            <a:off x="548640" y="10195560"/>
            <a:ext cx="7338060" cy="196596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50" dirty="0"/>
          </a:p>
        </p:txBody>
      </p:sp>
      <p:pic>
        <p:nvPicPr>
          <p:cNvPr id="30" name="Image 0" descr="oceans2026_fig1_mars_observatory.jpg">    </p:cNvPr>
          <p:cNvPicPr>
            <a:picLocks noChangeAspect="1"/>
          </p:cNvPicPr>
          <p:nvPr/>
        </p:nvPicPr>
        <p:blipFill>
          <a:blip r:embed="rId1"/>
          <a:stretch>
            <a:fillRect/>
          </a:stretch>
        </p:blipFill>
        <p:spPr>
          <a:xfrm>
            <a:off x="2068830" y="12252960"/>
            <a:ext cx="4297680" cy="2825496"/>
          </a:xfrm>
          <a:prstGeom prst="rect">
            <a:avLst/>
          </a:prstGeom>
        </p:spPr>
      </p:pic>
      <p:sp>
        <p:nvSpPr>
          <p:cNvPr id="31" name="Text 28"/>
          <p:cNvSpPr/>
          <p:nvPr/>
        </p:nvSpPr>
        <p:spPr>
          <a:xfrm>
            <a:off x="548640" y="15133320"/>
            <a:ext cx="7338060" cy="3657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900" dirty="0"/>
          </a:p>
        </p:txBody>
      </p:sp>
      <p:sp>
        <p:nvSpPr>
          <p:cNvPr id="32" name="Shape 29"/>
          <p:cNvSpPr/>
          <p:nvPr/>
        </p:nvSpPr>
        <p:spPr>
          <a:xfrm>
            <a:off x="274320" y="15819120"/>
            <a:ext cx="7886700" cy="4937760"/>
          </a:xfrm>
          <a:prstGeom prst="roundRect">
            <a:avLst>
              <a:gd name="adj" fmla="val 1667"/>
            </a:avLst>
          </a:prstGeom>
          <a:solidFill>
            <a:srgbClr val="EEF3F7"/>
          </a:solidFill>
          <a:ln w="12700">
            <a:solidFill>
              <a:srgbClr val="D8E2EA"/>
            </a:solidFill>
            <a:prstDash val="solid"/>
          </a:ln>
        </p:spPr>
      </p:sp>
      <p:sp>
        <p:nvSpPr>
          <p:cNvPr id="33" name="Shape 30"/>
          <p:cNvSpPr/>
          <p:nvPr/>
        </p:nvSpPr>
        <p:spPr>
          <a:xfrm>
            <a:off x="525780" y="16047720"/>
            <a:ext cx="525780" cy="525780"/>
          </a:xfrm>
          <a:prstGeom prst="ellipse">
            <a:avLst/>
          </a:prstGeom>
          <a:solidFill>
            <a:srgbClr val="1C7293"/>
          </a:solidFill>
          <a:ln w="12700">
            <a:solidFill>
              <a:srgbClr val="1C7293"/>
            </a:solidFill>
            <a:prstDash val="solid"/>
          </a:ln>
        </p:spPr>
      </p:sp>
      <p:sp>
        <p:nvSpPr>
          <p:cNvPr id="34" name="Text 31"/>
          <p:cNvSpPr/>
          <p:nvPr/>
        </p:nvSpPr>
        <p:spPr>
          <a:xfrm>
            <a:off x="52578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5" name="Text 32"/>
          <p:cNvSpPr/>
          <p:nvPr/>
        </p:nvSpPr>
        <p:spPr>
          <a:xfrm>
            <a:off x="116586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Off-the-shelf CNNs confuse the bay</a:t>
            </a:r>
            <a:endParaRPr lang="en-US" sz="1700" dirty="0"/>
          </a:p>
        </p:txBody>
      </p:sp>
      <p:sp>
        <p:nvSpPr>
          <p:cNvPr id="36" name="Text 33"/>
          <p:cNvSpPr/>
          <p:nvPr/>
        </p:nvSpPr>
        <p:spPr>
          <a:xfrm>
            <a:off x="548640" y="16779240"/>
            <a:ext cx="7338060"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Google multispecies whale CNN (seven whale classes) and OrcAI (Icelandic fish-eating orcas) both produced high-confidence orca detections on MARS recordings.</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200" dirty="0"/>
          </a:p>
        </p:txBody>
      </p:sp>
      <p:pic>
        <p:nvPicPr>
          <p:cNvPr id="37" name="Image 1" descr="poster_fig3_class_spectrograms.png">    </p:cNvPr>
          <p:cNvPicPr>
            <a:picLocks noChangeAspect="1"/>
          </p:cNvPicPr>
          <p:nvPr/>
        </p:nvPicPr>
        <p:blipFill>
          <a:blip r:embed="rId2"/>
          <a:stretch>
            <a:fillRect/>
          </a:stretch>
        </p:blipFill>
        <p:spPr>
          <a:xfrm>
            <a:off x="548640" y="18059400"/>
            <a:ext cx="7338060" cy="1874520"/>
          </a:xfrm>
          <a:prstGeom prst="rect">
            <a:avLst/>
          </a:prstGeom>
        </p:spPr>
      </p:pic>
      <p:sp>
        <p:nvSpPr>
          <p:cNvPr id="38" name="Text 34"/>
          <p:cNvSpPr/>
          <p:nvPr/>
        </p:nvSpPr>
        <p:spPr>
          <a:xfrm>
            <a:off x="548640" y="20002500"/>
            <a:ext cx="7338060" cy="6400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color scale, so brightness and detail are directly comparable. Orca and humpback song both carry tonal, harmonically stacked content in overlapping bands — which is why the classifier confuses them.</a:t>
            </a:r>
            <a:endParaRPr lang="en-US" sz="900" dirty="0"/>
          </a:p>
        </p:txBody>
      </p:sp>
      <p:sp>
        <p:nvSpPr>
          <p:cNvPr id="39" name="Shape 35"/>
          <p:cNvSpPr/>
          <p:nvPr/>
        </p:nvSpPr>
        <p:spPr>
          <a:xfrm>
            <a:off x="8435340" y="5577840"/>
            <a:ext cx="7886700" cy="4846320"/>
          </a:xfrm>
          <a:prstGeom prst="roundRect">
            <a:avLst>
              <a:gd name="adj" fmla="val 1698"/>
            </a:avLst>
          </a:prstGeom>
          <a:solidFill>
            <a:srgbClr val="EEF3F7"/>
          </a:solidFill>
          <a:ln w="12700">
            <a:solidFill>
              <a:srgbClr val="D8E2EA"/>
            </a:solidFill>
            <a:prstDash val="solid"/>
          </a:ln>
        </p:spPr>
      </p:sp>
      <p:sp>
        <p:nvSpPr>
          <p:cNvPr id="40" name="Shape 36"/>
          <p:cNvSpPr/>
          <p:nvPr/>
        </p:nvSpPr>
        <p:spPr>
          <a:xfrm>
            <a:off x="8686800" y="5806440"/>
            <a:ext cx="525780" cy="525780"/>
          </a:xfrm>
          <a:prstGeom prst="ellipse">
            <a:avLst/>
          </a:prstGeom>
          <a:solidFill>
            <a:srgbClr val="1C7293"/>
          </a:solidFill>
          <a:ln w="12700">
            <a:solidFill>
              <a:srgbClr val="1C7293"/>
            </a:solidFill>
            <a:prstDash val="solid"/>
          </a:ln>
        </p:spPr>
      </p:sp>
      <p:sp>
        <p:nvSpPr>
          <p:cNvPr id="41" name="Text 37"/>
          <p:cNvSpPr/>
          <p:nvPr/>
        </p:nvSpPr>
        <p:spPr>
          <a:xfrm>
            <a:off x="868680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2" name="Text 38"/>
          <p:cNvSpPr/>
          <p:nvPr/>
        </p:nvSpPr>
        <p:spPr>
          <a:xfrm>
            <a:off x="932688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Teaching a big model a new sound</a:t>
            </a:r>
            <a:endParaRPr lang="en-US" sz="1700" dirty="0"/>
          </a:p>
        </p:txBody>
      </p:sp>
      <p:sp>
        <p:nvSpPr>
          <p:cNvPr id="43" name="Text 39"/>
          <p:cNvSpPr/>
          <p:nvPr/>
        </p:nvSpPr>
        <p:spPr>
          <a:xfrm>
            <a:off x="8709660" y="6537960"/>
            <a:ext cx="7338060" cy="214884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50" dirty="0"/>
          </a:p>
        </p:txBody>
      </p:sp>
      <p:pic>
        <p:nvPicPr>
          <p:cNvPr id="44" name="Image 2" descr="oceans2026_fig2_agile_modeling_loop.png">    </p:cNvPr>
          <p:cNvPicPr>
            <a:picLocks noChangeAspect="1"/>
          </p:cNvPicPr>
          <p:nvPr/>
        </p:nvPicPr>
        <p:blipFill>
          <a:blip r:embed="rId3"/>
          <a:stretch>
            <a:fillRect/>
          </a:stretch>
        </p:blipFill>
        <p:spPr>
          <a:xfrm>
            <a:off x="10184130" y="8732520"/>
            <a:ext cx="4389120" cy="1613916"/>
          </a:xfrm>
          <a:prstGeom prst="rect">
            <a:avLst/>
          </a:prstGeom>
        </p:spPr>
      </p:pic>
      <p:sp>
        <p:nvSpPr>
          <p:cNvPr id="45" name="Shape 40"/>
          <p:cNvSpPr/>
          <p:nvPr/>
        </p:nvSpPr>
        <p:spPr>
          <a:xfrm>
            <a:off x="8435340" y="10698480"/>
            <a:ext cx="7886700" cy="4572000"/>
          </a:xfrm>
          <a:prstGeom prst="roundRect">
            <a:avLst>
              <a:gd name="adj" fmla="val 1800"/>
            </a:avLst>
          </a:prstGeom>
          <a:solidFill>
            <a:srgbClr val="EEF3F7"/>
          </a:solidFill>
          <a:ln w="12700">
            <a:solidFill>
              <a:srgbClr val="D8E2EA"/>
            </a:solidFill>
            <a:prstDash val="solid"/>
          </a:ln>
        </p:spPr>
      </p:sp>
      <p:sp>
        <p:nvSpPr>
          <p:cNvPr id="46" name="Shape 41"/>
          <p:cNvSpPr/>
          <p:nvPr/>
        </p:nvSpPr>
        <p:spPr>
          <a:xfrm>
            <a:off x="8686800" y="10927080"/>
            <a:ext cx="525780" cy="525780"/>
          </a:xfrm>
          <a:prstGeom prst="ellipse">
            <a:avLst/>
          </a:prstGeom>
          <a:solidFill>
            <a:srgbClr val="1C7293"/>
          </a:solidFill>
          <a:ln w="12700">
            <a:solidFill>
              <a:srgbClr val="1C7293"/>
            </a:solidFill>
            <a:prstDash val="solid"/>
          </a:ln>
        </p:spPr>
      </p:sp>
      <p:sp>
        <p:nvSpPr>
          <p:cNvPr id="47" name="Text 42"/>
          <p:cNvSpPr/>
          <p:nvPr/>
        </p:nvSpPr>
        <p:spPr>
          <a:xfrm>
            <a:off x="868680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8" name="Text 43"/>
          <p:cNvSpPr/>
          <p:nvPr/>
        </p:nvSpPr>
        <p:spPr>
          <a:xfrm>
            <a:off x="932688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classes separate</a:t>
            </a:r>
            <a:endParaRPr lang="en-US" sz="1700" dirty="0"/>
          </a:p>
        </p:txBody>
      </p:sp>
      <p:pic>
        <p:nvPicPr>
          <p:cNvPr id="49" name="Image 3" descr="tsne_apr2018_oct2020_apr2026_norm_dpi300.png">    </p:cNvPr>
          <p:cNvPicPr>
            <a:picLocks noChangeAspect="1"/>
          </p:cNvPicPr>
          <p:nvPr/>
        </p:nvPicPr>
        <p:blipFill>
          <a:blip r:embed="rId4"/>
          <a:stretch>
            <a:fillRect/>
          </a:stretch>
        </p:blipFill>
        <p:spPr>
          <a:xfrm>
            <a:off x="10595610" y="11704320"/>
            <a:ext cx="3566160" cy="2971800"/>
          </a:xfrm>
          <a:prstGeom prst="rect">
            <a:avLst/>
          </a:prstGeom>
        </p:spPr>
      </p:pic>
      <p:sp>
        <p:nvSpPr>
          <p:cNvPr id="50" name="Text 44"/>
          <p:cNvSpPr/>
          <p:nvPr/>
        </p:nvSpPr>
        <p:spPr>
          <a:xfrm>
            <a:off x="8709660" y="14721840"/>
            <a:ext cx="7338060" cy="548640"/>
          </a:xfrm>
          <a:prstGeom prst="rect">
            <a:avLst/>
          </a:prstGeom>
          <a:noFill/>
          <a:ln/>
        </p:spPr>
        <p:txBody>
          <a:bodyPr wrap="square" lIns="0" tIns="0" rIns="0" bIns="0" rtlCol="0" anchor="t"/>
          <a:lstStyle/>
          <a:p>
            <a:pPr indent="0" marL="0">
              <a:lnSpc>
                <a:spcPts val="950"/>
              </a:lnSpc>
              <a:buNone/>
            </a:pPr>
            <a:r>
              <a:rPr lang="en-US" sz="80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1,076 labeled windows, 6 classes, 3 seasons — the three the models trained on; May 2018 is held out and does not appear. The orca cluster holds across all three years, so the embeddings are separable across recording conditions and time, which is the premise this method rests on. Where classes visibly overlap, orca against humpback, is the same confusion the spectrogram row shows and the scores in panel 10 measure. The humpback class here covers vocalization broadly, not only song.</a:t>
            </a:r>
            <a:endParaRPr lang="en-US" sz="800" dirty="0"/>
          </a:p>
        </p:txBody>
      </p:sp>
      <p:sp>
        <p:nvSpPr>
          <p:cNvPr id="51" name="Shape 45"/>
          <p:cNvSpPr/>
          <p:nvPr/>
        </p:nvSpPr>
        <p:spPr>
          <a:xfrm>
            <a:off x="8435340" y="15544800"/>
            <a:ext cx="7886700" cy="5212080"/>
          </a:xfrm>
          <a:prstGeom prst="roundRect">
            <a:avLst>
              <a:gd name="adj" fmla="val 1579"/>
            </a:avLst>
          </a:prstGeom>
          <a:solidFill>
            <a:srgbClr val="EEF3F7"/>
          </a:solidFill>
          <a:ln w="12700">
            <a:solidFill>
              <a:srgbClr val="D8E2EA"/>
            </a:solidFill>
            <a:prstDash val="solid"/>
          </a:ln>
        </p:spPr>
      </p:sp>
      <p:sp>
        <p:nvSpPr>
          <p:cNvPr id="52" name="Shape 46"/>
          <p:cNvSpPr/>
          <p:nvPr/>
        </p:nvSpPr>
        <p:spPr>
          <a:xfrm>
            <a:off x="8686800" y="15773400"/>
            <a:ext cx="525780" cy="525780"/>
          </a:xfrm>
          <a:prstGeom prst="ellipse">
            <a:avLst/>
          </a:prstGeom>
          <a:solidFill>
            <a:srgbClr val="1C7293"/>
          </a:solidFill>
          <a:ln w="12700">
            <a:solidFill>
              <a:srgbClr val="1C7293"/>
            </a:solidFill>
            <a:prstDash val="solid"/>
          </a:ln>
        </p:spPr>
      </p:sp>
      <p:sp>
        <p:nvSpPr>
          <p:cNvPr id="53" name="Text 47"/>
          <p:cNvSpPr/>
          <p:nvPr/>
        </p:nvSpPr>
        <p:spPr>
          <a:xfrm>
            <a:off x="8686800" y="1577340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54" name="Text 48"/>
          <p:cNvSpPr/>
          <p:nvPr/>
        </p:nvSpPr>
        <p:spPr>
          <a:xfrm>
            <a:off x="9326880" y="1573682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v0 → v4: five labeling waves</a:t>
            </a:r>
            <a:endParaRPr lang="en-US" sz="1700" dirty="0"/>
          </a:p>
        </p:txBody>
      </p:sp>
      <p:sp>
        <p:nvSpPr>
          <p:cNvPr id="55" name="Text 49"/>
          <p:cNvSpPr/>
          <p:nvPr/>
        </p:nvSpPr>
        <p:spPr>
          <a:xfrm>
            <a:off x="8709660" y="16504920"/>
            <a:ext cx="7338060" cy="15087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v4 (+8) is the model used throughout this poster.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56" name="Image 4" descr="oceans2026_fig3_classifier_trajectory.png">    </p:cNvPr>
          <p:cNvPicPr>
            <a:picLocks noChangeAspect="1"/>
          </p:cNvPicPr>
          <p:nvPr/>
        </p:nvPicPr>
        <p:blipFill>
          <a:blip r:embed="rId5"/>
          <a:stretch>
            <a:fillRect/>
          </a:stretch>
        </p:blipFill>
        <p:spPr>
          <a:xfrm>
            <a:off x="9681210" y="18105120"/>
            <a:ext cx="5394960" cy="2157984"/>
          </a:xfrm>
          <a:prstGeom prst="rect">
            <a:avLst/>
          </a:prstGeom>
        </p:spPr>
      </p:pic>
      <p:sp>
        <p:nvSpPr>
          <p:cNvPr id="57" name="Text 50"/>
          <p:cNvSpPr/>
          <p:nvPr/>
        </p:nvSpPr>
        <p:spPr>
          <a:xfrm>
            <a:off x="8709660" y="20299680"/>
            <a:ext cx="7338060" cy="4343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Before v0: four of those hours — nearly half the project’s total — went on hand review across six sessions on April 2018 audio: two 50-clip rounds of orca-or-not calls, then three 25-clip waves adding dolphin and humpback, every humpback clip checked by John Ryan. Hence v0’s 584 labels.</a:t>
            </a:r>
            <a:endParaRPr lang="en-US" sz="850" dirty="0"/>
          </a:p>
        </p:txBody>
      </p:sp>
      <p:sp>
        <p:nvSpPr>
          <p:cNvPr id="58" name="Shape 51"/>
          <p:cNvSpPr/>
          <p:nvPr/>
        </p:nvSpPr>
        <p:spPr>
          <a:xfrm>
            <a:off x="16596360" y="5577840"/>
            <a:ext cx="7886700" cy="7680960"/>
          </a:xfrm>
          <a:prstGeom prst="roundRect">
            <a:avLst>
              <a:gd name="adj" fmla="val 1071"/>
            </a:avLst>
          </a:prstGeom>
          <a:solidFill>
            <a:srgbClr val="EEF3F7"/>
          </a:solidFill>
          <a:ln w="12700">
            <a:solidFill>
              <a:srgbClr val="D8E2EA"/>
            </a:solidFill>
            <a:prstDash val="solid"/>
          </a:ln>
        </p:spPr>
      </p:sp>
      <p:sp>
        <p:nvSpPr>
          <p:cNvPr id="59" name="Shape 52"/>
          <p:cNvSpPr/>
          <p:nvPr/>
        </p:nvSpPr>
        <p:spPr>
          <a:xfrm>
            <a:off x="16847820" y="5806440"/>
            <a:ext cx="525780" cy="525780"/>
          </a:xfrm>
          <a:prstGeom prst="ellipse">
            <a:avLst/>
          </a:prstGeom>
          <a:solidFill>
            <a:srgbClr val="1C7293"/>
          </a:solidFill>
          <a:ln w="12700">
            <a:solidFill>
              <a:srgbClr val="1C7293"/>
            </a:solidFill>
            <a:prstDash val="solid"/>
          </a:ln>
        </p:spPr>
      </p:sp>
      <p:sp>
        <p:nvSpPr>
          <p:cNvPr id="60" name="Text 53"/>
          <p:cNvSpPr/>
          <p:nvPr/>
        </p:nvSpPr>
        <p:spPr>
          <a:xfrm>
            <a:off x="1684782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61" name="Text 54"/>
          <p:cNvSpPr/>
          <p:nvPr/>
        </p:nvSpPr>
        <p:spPr>
          <a:xfrm>
            <a:off x="1748790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Spring 2018 was not one encounter</a:t>
            </a:r>
            <a:endParaRPr lang="en-US" sz="1700" dirty="0"/>
          </a:p>
        </p:txBody>
      </p:sp>
      <p:sp>
        <p:nvSpPr>
          <p:cNvPr id="62" name="Text 55"/>
          <p:cNvSpPr/>
          <p:nvPr/>
        </p:nvSpPr>
        <p:spPr>
          <a:xfrm>
            <a:off x="16870680" y="6537960"/>
            <a:ext cx="7338060" cy="374904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Previously known: a single Bigg’s orca event on 13 April 2018.</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 April 2018 is a sustained two-week presence.</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May 2018: 12 May confirmed 181/181, with 13, 14 and 16 May confirmed on later review (+8 labels; 13 May rests on a single clip).</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Neither v4 nor orca_v10 has trained on May 2018 recordings — these are detections in a month the presented models have never seen.</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Eight confirmed orca days across the two months — sustained Bigg’s presence, not one encounter.</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250" dirty="0"/>
          </a:p>
        </p:txBody>
      </p:sp>
      <p:pic>
        <p:nvPicPr>
          <p:cNvPr id="63" name="Image 5" descr="oceans2026_fig4_calendar_apr_may_2018.png">    </p:cNvPr>
          <p:cNvPicPr>
            <a:picLocks noChangeAspect="1"/>
          </p:cNvPicPr>
          <p:nvPr/>
        </p:nvPicPr>
        <p:blipFill>
          <a:blip r:embed="rId6"/>
          <a:stretch>
            <a:fillRect/>
          </a:stretch>
        </p:blipFill>
        <p:spPr>
          <a:xfrm>
            <a:off x="16870680" y="9509760"/>
            <a:ext cx="7338060" cy="3017520"/>
          </a:xfrm>
          <a:prstGeom prst="rect">
            <a:avLst/>
          </a:prstGeom>
        </p:spPr>
      </p:pic>
      <p:sp>
        <p:nvSpPr>
          <p:cNvPr id="64" name="Text 56"/>
          <p:cNvSpPr/>
          <p:nvPr/>
        </p:nvSpPr>
        <p:spPr>
          <a:xfrm>
            <a:off x="16870680" y="12595860"/>
            <a:ext cx="7338060" cy="54864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Days carry very different weight: 12 May rests on 181 reviewed clips, 13 May on one. 23 and 24 April were detected but never individually listened to, so they are not counted.</a:t>
            </a:r>
            <a:endParaRPr lang="en-US" sz="900" dirty="0"/>
          </a:p>
        </p:txBody>
      </p:sp>
      <p:sp>
        <p:nvSpPr>
          <p:cNvPr id="65" name="Shape 57"/>
          <p:cNvSpPr/>
          <p:nvPr/>
        </p:nvSpPr>
        <p:spPr>
          <a:xfrm>
            <a:off x="16596360" y="13533120"/>
            <a:ext cx="7886700" cy="7223760"/>
          </a:xfrm>
          <a:prstGeom prst="roundRect">
            <a:avLst>
              <a:gd name="adj" fmla="val 1139"/>
            </a:avLst>
          </a:prstGeom>
          <a:solidFill>
            <a:srgbClr val="EEF3F7"/>
          </a:solidFill>
          <a:ln w="12700">
            <a:solidFill>
              <a:srgbClr val="D8E2EA"/>
            </a:solidFill>
            <a:prstDash val="solid"/>
          </a:ln>
        </p:spPr>
      </p:sp>
      <p:sp>
        <p:nvSpPr>
          <p:cNvPr id="66" name="Shape 58"/>
          <p:cNvSpPr/>
          <p:nvPr/>
        </p:nvSpPr>
        <p:spPr>
          <a:xfrm>
            <a:off x="16847820" y="13761720"/>
            <a:ext cx="525780" cy="525780"/>
          </a:xfrm>
          <a:prstGeom prst="ellipse">
            <a:avLst/>
          </a:prstGeom>
          <a:solidFill>
            <a:srgbClr val="1C7293"/>
          </a:solidFill>
          <a:ln w="12700">
            <a:solidFill>
              <a:srgbClr val="1C7293"/>
            </a:solidFill>
            <a:prstDash val="solid"/>
          </a:ln>
        </p:spPr>
      </p:sp>
      <p:sp>
        <p:nvSpPr>
          <p:cNvPr id="67" name="Text 59"/>
          <p:cNvSpPr/>
          <p:nvPr/>
        </p:nvSpPr>
        <p:spPr>
          <a:xfrm>
            <a:off x="16847820" y="13761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68" name="Text 60"/>
          <p:cNvSpPr/>
          <p:nvPr/>
        </p:nvSpPr>
        <p:spPr>
          <a:xfrm>
            <a:off x="17487900" y="13725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Structure between encounters</a:t>
            </a:r>
            <a:endParaRPr lang="en-US" sz="1700" dirty="0"/>
          </a:p>
        </p:txBody>
      </p:sp>
      <p:pic>
        <p:nvPicPr>
          <p:cNvPr id="69" name="Image 6" descr="tsne_orca_by_day_4days_px30_pres_dpi300.png">    </p:cNvPr>
          <p:cNvPicPr>
            <a:picLocks noChangeAspect="1"/>
          </p:cNvPicPr>
          <p:nvPr/>
        </p:nvPicPr>
        <p:blipFill>
          <a:blip r:embed="rId7"/>
          <a:stretch>
            <a:fillRect/>
          </a:stretch>
        </p:blipFill>
        <p:spPr>
          <a:xfrm>
            <a:off x="17910810" y="14584680"/>
            <a:ext cx="5257800" cy="3483864"/>
          </a:xfrm>
          <a:prstGeom prst="rect">
            <a:avLst/>
          </a:prstGeom>
        </p:spPr>
      </p:pic>
      <p:sp>
        <p:nvSpPr>
          <p:cNvPr id="70" name="Text 61"/>
          <p:cNvSpPr/>
          <p:nvPr/>
        </p:nvSpPr>
        <p:spPr>
          <a:xfrm>
            <a:off x="16870680" y="18150840"/>
            <a:ext cx="7338060" cy="5943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Zooming inside the orca cluster: 473 confirmed orca windows, colored by day. The 25 April evening encounter (purple) sits apart from the 13 April morning event (blue), and 12 May holds its own region a month later. The classes separate in the map at left — and within orca, encounters do too. Exploratory; perplexity 30.</a:t>
            </a:r>
            <a:endParaRPr lang="en-US" sz="900" dirty="0"/>
          </a:p>
        </p:txBody>
      </p:sp>
      <p:sp>
        <p:nvSpPr>
          <p:cNvPr id="71" name="Text 62"/>
          <p:cNvSpPr/>
          <p:nvPr/>
        </p:nvSpPr>
        <p:spPr>
          <a:xfrm>
            <a:off x="16870680" y="18836640"/>
            <a:ext cx="7338060" cy="182880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200" dirty="0"/>
          </a:p>
        </p:txBody>
      </p:sp>
      <p:sp>
        <p:nvSpPr>
          <p:cNvPr id="72" name="Shape 63"/>
          <p:cNvSpPr/>
          <p:nvPr/>
        </p:nvSpPr>
        <p:spPr>
          <a:xfrm>
            <a:off x="24757380" y="5577840"/>
            <a:ext cx="7886700" cy="4846320"/>
          </a:xfrm>
          <a:prstGeom prst="roundRect">
            <a:avLst>
              <a:gd name="adj" fmla="val 1698"/>
            </a:avLst>
          </a:prstGeom>
          <a:solidFill>
            <a:srgbClr val="EEF3F7"/>
          </a:solidFill>
          <a:ln w="12700">
            <a:solidFill>
              <a:srgbClr val="D8E2EA"/>
            </a:solidFill>
            <a:prstDash val="solid"/>
          </a:ln>
        </p:spPr>
      </p:sp>
      <p:sp>
        <p:nvSpPr>
          <p:cNvPr id="73" name="Shape 64"/>
          <p:cNvSpPr/>
          <p:nvPr/>
        </p:nvSpPr>
        <p:spPr>
          <a:xfrm>
            <a:off x="25008840" y="5806440"/>
            <a:ext cx="525780" cy="525780"/>
          </a:xfrm>
          <a:prstGeom prst="ellipse">
            <a:avLst/>
          </a:prstGeom>
          <a:solidFill>
            <a:srgbClr val="1C7293"/>
          </a:solidFill>
          <a:ln w="12700">
            <a:solidFill>
              <a:srgbClr val="1C7293"/>
            </a:solidFill>
            <a:prstDash val="solid"/>
          </a:ln>
        </p:spPr>
      </p:sp>
      <p:sp>
        <p:nvSpPr>
          <p:cNvPr id="74" name="Text 65"/>
          <p:cNvSpPr/>
          <p:nvPr/>
        </p:nvSpPr>
        <p:spPr>
          <a:xfrm>
            <a:off x="2500884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75" name="Text 66"/>
          <p:cNvSpPr/>
          <p:nvPr/>
        </p:nvSpPr>
        <p:spPr>
          <a:xfrm>
            <a:off x="2564892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Seen but not heard</a:t>
            </a:r>
            <a:endParaRPr lang="en-US" sz="1700" dirty="0"/>
          </a:p>
        </p:txBody>
      </p:sp>
      <p:pic>
        <p:nvPicPr>
          <p:cNvPr id="76" name="Image 7" descr="oceans2026_fig8_threshold_sweep_v4.png">    </p:cNvPr>
          <p:cNvPicPr>
            <a:picLocks noChangeAspect="1"/>
          </p:cNvPicPr>
          <p:nvPr/>
        </p:nvPicPr>
        <p:blipFill>
          <a:blip r:embed="rId8"/>
          <a:stretch>
            <a:fillRect/>
          </a:stretch>
        </p:blipFill>
        <p:spPr>
          <a:xfrm>
            <a:off x="25031700" y="6629400"/>
            <a:ext cx="7338060" cy="2103120"/>
          </a:xfrm>
          <a:prstGeom prst="rect">
            <a:avLst/>
          </a:prstGeom>
        </p:spPr>
      </p:pic>
      <p:sp>
        <p:nvSpPr>
          <p:cNvPr id="77" name="Text 67"/>
          <p:cNvSpPr/>
          <p:nvPr/>
        </p:nvSpPr>
        <p:spPr>
          <a:xfrm>
            <a:off x="25031700" y="8869680"/>
            <a:ext cx="7338060" cy="146304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78" name="Shape 68"/>
          <p:cNvSpPr/>
          <p:nvPr/>
        </p:nvSpPr>
        <p:spPr>
          <a:xfrm>
            <a:off x="24757380" y="10698480"/>
            <a:ext cx="7886700" cy="4846320"/>
          </a:xfrm>
          <a:prstGeom prst="roundRect">
            <a:avLst>
              <a:gd name="adj" fmla="val 1698"/>
            </a:avLst>
          </a:prstGeom>
          <a:solidFill>
            <a:srgbClr val="EEF3F7"/>
          </a:solidFill>
          <a:ln w="12700">
            <a:solidFill>
              <a:srgbClr val="D8E2EA"/>
            </a:solidFill>
            <a:prstDash val="solid"/>
          </a:ln>
        </p:spPr>
      </p:sp>
      <p:sp>
        <p:nvSpPr>
          <p:cNvPr id="79" name="Shape 69"/>
          <p:cNvSpPr/>
          <p:nvPr/>
        </p:nvSpPr>
        <p:spPr>
          <a:xfrm>
            <a:off x="25008840" y="10927080"/>
            <a:ext cx="525780" cy="525780"/>
          </a:xfrm>
          <a:prstGeom prst="ellipse">
            <a:avLst/>
          </a:prstGeom>
          <a:solidFill>
            <a:srgbClr val="1C7293"/>
          </a:solidFill>
          <a:ln w="12700">
            <a:solidFill>
              <a:srgbClr val="1C7293"/>
            </a:solidFill>
            <a:prstDash val="solid"/>
          </a:ln>
        </p:spPr>
      </p:sp>
      <p:sp>
        <p:nvSpPr>
          <p:cNvPr id="80" name="Text 70"/>
          <p:cNvSpPr/>
          <p:nvPr/>
        </p:nvSpPr>
        <p:spPr>
          <a:xfrm>
            <a:off x="2500884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81" name="Text 71"/>
          <p:cNvSpPr/>
          <p:nvPr/>
        </p:nvSpPr>
        <p:spPr>
          <a:xfrm>
            <a:off x="2564892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Measured limits</a:t>
            </a:r>
            <a:endParaRPr lang="en-US" sz="1700" dirty="0"/>
          </a:p>
        </p:txBody>
      </p:sp>
      <p:sp>
        <p:nvSpPr>
          <p:cNvPr id="82" name="Text 72"/>
          <p:cNvSpPr/>
          <p:nvPr/>
        </p:nvSpPr>
        <p:spPr>
          <a:xfrm>
            <a:off x="25031700" y="11681460"/>
            <a:ext cx="7338060" cy="4114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Panels 1–9 present v4. The scores below come from orca_v10 — the same three-season recipe retrained on 1,076 labels (v4: 803), including the orca days and ship-noise pass confirmed since. Each class has its own cutoff.</a:t>
            </a:r>
            <a:endParaRPr lang="en-US" sz="900" dirty="0"/>
          </a:p>
        </p:txBody>
      </p:sp>
      <p:pic>
        <p:nvPicPr>
          <p:cNvPr id="83" name="Image 8" descr="oceans2026_fig9_per_class_f1_v4.png">    </p:cNvPr>
          <p:cNvPicPr>
            <a:picLocks noChangeAspect="1"/>
          </p:cNvPicPr>
          <p:nvPr/>
        </p:nvPicPr>
        <p:blipFill>
          <a:blip r:embed="rId9"/>
          <a:stretch>
            <a:fillRect/>
          </a:stretch>
        </p:blipFill>
        <p:spPr>
          <a:xfrm>
            <a:off x="25031700" y="12184380"/>
            <a:ext cx="7338060" cy="1920240"/>
          </a:xfrm>
          <a:prstGeom prst="rect">
            <a:avLst/>
          </a:prstGeom>
        </p:spPr>
      </p:pic>
      <p:sp>
        <p:nvSpPr>
          <p:cNvPr id="84" name="Text 73"/>
          <p:cNvSpPr/>
          <p:nvPr/>
        </p:nvSpPr>
        <p:spPr>
          <a:xfrm>
            <a:off x="25031700" y="14218920"/>
            <a:ext cx="7338060" cy="128016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Cutoffs are set on months the model did not train on, never on the month being analyzed.</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1000" dirty="0"/>
          </a:p>
        </p:txBody>
      </p:sp>
      <p:sp>
        <p:nvSpPr>
          <p:cNvPr id="85" name="Shape 74"/>
          <p:cNvSpPr/>
          <p:nvPr/>
        </p:nvSpPr>
        <p:spPr>
          <a:xfrm>
            <a:off x="24757380" y="15819120"/>
            <a:ext cx="7886700" cy="4937760"/>
          </a:xfrm>
          <a:prstGeom prst="roundRect">
            <a:avLst>
              <a:gd name="adj" fmla="val 1667"/>
            </a:avLst>
          </a:prstGeom>
          <a:solidFill>
            <a:srgbClr val="EEF3F7"/>
          </a:solidFill>
          <a:ln w="12700">
            <a:solidFill>
              <a:srgbClr val="D8E2EA"/>
            </a:solidFill>
            <a:prstDash val="solid"/>
          </a:ln>
        </p:spPr>
      </p:sp>
      <p:sp>
        <p:nvSpPr>
          <p:cNvPr id="86" name="Shape 75"/>
          <p:cNvSpPr/>
          <p:nvPr/>
        </p:nvSpPr>
        <p:spPr>
          <a:xfrm>
            <a:off x="25008840" y="16047720"/>
            <a:ext cx="525780" cy="525780"/>
          </a:xfrm>
          <a:prstGeom prst="ellipse">
            <a:avLst/>
          </a:prstGeom>
          <a:solidFill>
            <a:srgbClr val="1C7293"/>
          </a:solidFill>
          <a:ln w="12700">
            <a:solidFill>
              <a:srgbClr val="1C7293"/>
            </a:solidFill>
            <a:prstDash val="solid"/>
          </a:ln>
        </p:spPr>
      </p:sp>
      <p:sp>
        <p:nvSpPr>
          <p:cNvPr id="87" name="Text 76"/>
          <p:cNvSpPr/>
          <p:nvPr/>
        </p:nvSpPr>
        <p:spPr>
          <a:xfrm>
            <a:off x="2500884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88" name="Text 77"/>
          <p:cNvSpPr/>
          <p:nvPr/>
        </p:nvSpPr>
        <p:spPr>
          <a:xfrm>
            <a:off x="2564892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Next</a:t>
            </a:r>
            <a:endParaRPr lang="en-US" sz="1700" dirty="0"/>
          </a:p>
        </p:txBody>
      </p:sp>
      <p:sp>
        <p:nvSpPr>
          <p:cNvPr id="89" name="Text 78"/>
          <p:cNvSpPr/>
          <p:nvPr/>
        </p:nvSpPr>
        <p:spPr>
          <a:xfrm>
            <a:off x="25031700" y="16779240"/>
            <a:ext cx="7338060" cy="16459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Then: a separate score cutoff per class, and extension to Southern Resident and Offshore ecotypes.</a:t>
            </a:r>
            <a:endParaRPr lang="en-US" sz="1100" dirty="0"/>
          </a:p>
        </p:txBody>
      </p:sp>
      <p:sp>
        <p:nvSpPr>
          <p:cNvPr id="90" name="Text 79"/>
          <p:cNvSpPr/>
          <p:nvPr/>
        </p:nvSpPr>
        <p:spPr>
          <a:xfrm>
            <a:off x="25031700" y="1828800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Acknowledgements</a:t>
            </a:r>
            <a:endParaRPr lang="en-US" sz="1100" dirty="0"/>
          </a:p>
        </p:txBody>
      </p:sp>
      <p:sp>
        <p:nvSpPr>
          <p:cNvPr id="91" name="Text 80"/>
          <p:cNvSpPr/>
          <p:nvPr/>
        </p:nvSpPr>
        <p:spPr>
          <a:xfrm>
            <a:off x="25031700" y="18539460"/>
            <a:ext cx="7338060" cy="640080"/>
          </a:xfrm>
          <a:prstGeom prst="rect">
            <a:avLst/>
          </a:prstGeom>
          <a:noFill/>
          <a:ln/>
        </p:spPr>
        <p:txBody>
          <a:bodyPr wrap="square" lIns="0" tIns="0" rIns="0" bIns="0" rtlCol="0" anchor="t"/>
          <a:lstStyle/>
          <a:p>
            <a:pPr indent="0" marL="0">
              <a:lnSpc>
                <a:spcPts val="1050"/>
              </a:lnSpc>
              <a:buNone/>
            </a:pPr>
            <a:r>
              <a:rPr lang="en-US" sz="90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900" dirty="0"/>
          </a:p>
        </p:txBody>
      </p:sp>
      <p:sp>
        <p:nvSpPr>
          <p:cNvPr id="92" name="Text 81"/>
          <p:cNvSpPr/>
          <p:nvPr/>
        </p:nvSpPr>
        <p:spPr>
          <a:xfrm>
            <a:off x="25031700" y="1924812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Selected references</a:t>
            </a:r>
            <a:endParaRPr lang="en-US" sz="1100" dirty="0"/>
          </a:p>
        </p:txBody>
      </p:sp>
      <p:sp>
        <p:nvSpPr>
          <p:cNvPr id="93" name="Text 82"/>
          <p:cNvSpPr/>
          <p:nvPr/>
        </p:nvSpPr>
        <p:spPr>
          <a:xfrm>
            <a:off x="25031700" y="19499580"/>
            <a:ext cx="7338060" cy="1188720"/>
          </a:xfrm>
          <a:prstGeom prst="rect">
            <a:avLst/>
          </a:prstGeom>
          <a:noFill/>
          <a:ln/>
        </p:spPr>
        <p:txBody>
          <a:bodyPr wrap="square" lIns="0" tIns="0" rIns="0" bIns="0" rtlCol="0" anchor="t"/>
          <a:lstStyle/>
          <a:p>
            <a:pPr indent="0" marL="0">
              <a:lnSpc>
                <a:spcPts val="950"/>
              </a:lnSpc>
              <a:buNone/>
            </a:pPr>
            <a:r>
              <a:rPr lang="en-US" sz="800" dirty="0">
                <a:solidFill>
                  <a:srgbClr val="4A5C6A"/>
                </a:solidFill>
                <a:latin typeface="Arial" pitchFamily="34" charset="0"/>
                <a:ea typeface="Arial" pitchFamily="34" charset="-122"/>
                <a:cs typeface="Arial" pitchFamily="34" charset="-120"/>
              </a:rPr>
              <a:t>van Merriënboer et al. (2025) Perch 2.0: the bittern lesson for bioacoustics, arXiv:2508.04665  ·  Burns et al. (2025) Perch 2.0 transfers ‘whale’ to underwater tasks, arXiv:2512.03219  ·  Google Research, perch-hoplite (GitHub)  ·  Harvey, Allen &amp; Harrell (2024) multispecies-whale, Kaggle  ·  Bonhoeffer et al. (2026) orcAI: a machine learning tool to detect and classify acoustic signals of killer whales, Mar. Mamm. Sci. 42(1) e70083, doi:10.1111/mms.70083  ·  Ryan et al. (2016) New passive acoustic monitoring in Monterey Bay National Marine Sanctuary, OCEANS 2016 MTS/IEEE Monterey, pp. 1–8, doi:10.1109/OCEANS.2016.7761363  ·  McInnes et al. (2023) Identification catalog and field guide for transient (Bigg’s) killer whales of Monterey Bay and California waters, NOAA SWFSC, doi:10.25923/0q3f-1812</a:t>
            </a:r>
            <a:endParaRPr lang="en-US" sz="800" dirty="0"/>
          </a:p>
        </p:txBody>
      </p:sp>
      <p:sp>
        <p:nvSpPr>
          <p:cNvPr id="94" name="Shape 83"/>
          <p:cNvSpPr/>
          <p:nvPr/>
        </p:nvSpPr>
        <p:spPr>
          <a:xfrm>
            <a:off x="30815280" y="20894040"/>
            <a:ext cx="914400" cy="914400"/>
          </a:xfrm>
          <a:prstGeom prst="rect">
            <a:avLst/>
          </a:prstGeom>
          <a:solidFill>
            <a:srgbClr val="FFFFFF"/>
          </a:solidFill>
          <a:ln w="25400">
            <a:solidFill>
              <a:srgbClr val="1C7293"/>
            </a:solidFill>
            <a:prstDash val="dash"/>
          </a:ln>
        </p:spPr>
      </p:sp>
      <p:sp>
        <p:nvSpPr>
          <p:cNvPr id="95" name="Text 84"/>
          <p:cNvSpPr/>
          <p:nvPr/>
        </p:nvSpPr>
        <p:spPr>
          <a:xfrm>
            <a:off x="30815280" y="20894040"/>
            <a:ext cx="914400" cy="91440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96" name="Text 85"/>
          <p:cNvSpPr/>
          <p:nvPr/>
        </p:nvSpPr>
        <p:spPr>
          <a:xfrm>
            <a:off x="27249120" y="20894040"/>
            <a:ext cx="3474720" cy="91440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97" name="Text 86"/>
          <p:cNvSpPr/>
          <p:nvPr/>
        </p:nvSpPr>
        <p:spPr>
          <a:xfrm>
            <a:off x="274320" y="20894040"/>
            <a:ext cx="264261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2026-08-22T19:23:46Z</dcterms:created>
  <dcterms:modified xsi:type="dcterms:W3CDTF">2026-08-22T19:23:46Z</dcterms:modified>
</cp:coreProperties>
</file>