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32918400" cy="21945600"/>
  <p:notesSz cx="21945600" cy="3291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jp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slideLayout" Target="../slideLayouts/slideLayout1.xml"/><Relationship Id="rId17"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0" y="274320"/>
            <a:ext cx="21762720" cy="2560320"/>
          </a:xfrm>
          <a:prstGeom prst="rect">
            <a:avLst/>
          </a:prstGeom>
          <a:solidFill>
            <a:srgbClr val="0B2545"/>
          </a:solidFill>
          <a:ln w="12700">
            <a:solidFill>
              <a:srgbClr val="0B2545"/>
            </a:solidFill>
            <a:prstDash val="solid"/>
          </a:ln>
        </p:spPr>
      </p:sp>
      <p:sp>
        <p:nvSpPr>
          <p:cNvPr id="3" name="Text 1"/>
          <p:cNvSpPr/>
          <p:nvPr/>
        </p:nvSpPr>
        <p:spPr>
          <a:xfrm>
            <a:off x="4480560" y="388620"/>
            <a:ext cx="21031200" cy="1417320"/>
          </a:xfrm>
          <a:prstGeom prst="rect">
            <a:avLst/>
          </a:prstGeom>
          <a:noFill/>
          <a:ln/>
        </p:spPr>
        <p:txBody>
          <a:bodyPr wrap="square" lIns="0" tIns="0" rIns="0" bIns="0" rtlCol="0" anchor="ctr"/>
          <a:lstStyle/>
          <a:p>
            <a:pPr indent="0" marL="0">
              <a:lnSpc>
                <a:spcPts val="3100"/>
              </a:lnSpc>
              <a:buNone/>
            </a:pPr>
            <a:r>
              <a:rPr lang="en-US" sz="2700" b="1" dirty="0">
                <a:solidFill>
                  <a:srgbClr val="FFFFFF"/>
                </a:solidFill>
                <a:latin typeface="Cambria" pitchFamily="34" charset="0"/>
                <a:ea typeface="Cambria" pitchFamily="34" charset="-122"/>
                <a:cs typeface="Cambria" pitchFamily="34" charset="-120"/>
              </a:rPr>
              <a:t>Application of Foundation Model and Agile Modeling to Passive Acoustic Detection of Orcas in Monterey Bay National Marine Sanctuary</a:t>
            </a:r>
            <a:endParaRPr lang="en-US" sz="2700" dirty="0"/>
          </a:p>
        </p:txBody>
      </p:sp>
      <p:sp>
        <p:nvSpPr>
          <p:cNvPr id="4" name="Text 2"/>
          <p:cNvSpPr/>
          <p:nvPr/>
        </p:nvSpPr>
        <p:spPr>
          <a:xfrm>
            <a:off x="4480560" y="1851660"/>
            <a:ext cx="21031200" cy="41148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Duane R. Edgington</a:t>
            </a:r>
            <a:pPr indent="0" marL="0">
              <a:buNone/>
            </a:pPr>
            <a:r>
              <a:rPr lang="en-US" sz="1400" dirty="0">
                <a:solidFill>
                  <a:srgbClr val="FFFFFF"/>
                </a:solidFill>
                <a:latin typeface="Arial" pitchFamily="34" charset="0"/>
                <a:ea typeface="Arial" pitchFamily="34" charset="-122"/>
                <a:cs typeface="Arial" pitchFamily="34" charset="-120"/>
              </a:rPr>
              <a:t>  and  </a:t>
            </a:r>
            <a:pPr indent="0" marL="0">
              <a:buNone/>
            </a:pPr>
            <a:r>
              <a:rPr lang="en-US" sz="1400" b="1" dirty="0">
                <a:solidFill>
                  <a:srgbClr val="FFFFFF"/>
                </a:solidFill>
                <a:latin typeface="Arial" pitchFamily="34" charset="0"/>
                <a:ea typeface="Arial" pitchFamily="34" charset="-122"/>
                <a:cs typeface="Arial" pitchFamily="34" charset="-120"/>
              </a:rPr>
              <a:t>John Ryan</a:t>
            </a:r>
            <a:pPr indent="0" marL="0">
              <a:buNone/>
            </a:pPr>
            <a:r>
              <a:rPr lang="en-US" sz="1400" dirty="0">
                <a:solidFill>
                  <a:srgbClr val="FFFFFF"/>
                </a:solidFill>
                <a:latin typeface="Arial" pitchFamily="34" charset="0"/>
                <a:ea typeface="Arial" pitchFamily="34" charset="-122"/>
                <a:cs typeface="Arial" pitchFamily="34" charset="-120"/>
              </a:rPr>
              <a:t>   ·   Monterey Bay Aquarium Research Institute (MBARI), Moss Landing, California, USA</a:t>
            </a:r>
            <a:endParaRPr lang="en-US" sz="1400" dirty="0"/>
          </a:p>
        </p:txBody>
      </p:sp>
      <p:sp>
        <p:nvSpPr>
          <p:cNvPr id="5" name="Text 3"/>
          <p:cNvSpPr/>
          <p:nvPr/>
        </p:nvSpPr>
        <p:spPr>
          <a:xfrm>
            <a:off x="4480560" y="2286000"/>
            <a:ext cx="21031200" cy="365760"/>
          </a:xfrm>
          <a:prstGeom prst="rect">
            <a:avLst/>
          </a:prstGeom>
          <a:noFill/>
          <a:ln/>
        </p:spPr>
        <p:txBody>
          <a:bodyPr wrap="square" lIns="0" tIns="0" rIns="0" bIns="0" rtlCol="0" anchor="ctr"/>
          <a:lstStyle/>
          <a:p>
            <a:pPr indent="0" marL="0">
              <a:buNone/>
            </a:pPr>
            <a:r>
              <a:rPr lang="en-US" sz="1100" dirty="0">
                <a:solidFill>
                  <a:srgbClr val="34C6A8"/>
                </a:solidFill>
                <a:latin typeface="Arial" pitchFamily="34" charset="0"/>
                <a:ea typeface="Arial" pitchFamily="34" charset="-122"/>
                <a:cs typeface="Arial" pitchFamily="34" charset="-120"/>
              </a:rPr>
              <a:t>A foundation model is a large model pre-trained on masses of data, reusable for new tasks with very little new labeling.</a:t>
            </a:r>
            <a:endParaRPr lang="en-US" sz="1100" dirty="0"/>
          </a:p>
        </p:txBody>
      </p:sp>
      <p:pic>
        <p:nvPicPr>
          <p:cNvPr id="6" name="Image 0" descr="MBARI_logo_type.png">    </p:cNvPr>
          <p:cNvPicPr>
            <a:picLocks noChangeAspect="1"/>
          </p:cNvPicPr>
          <p:nvPr/>
        </p:nvPicPr>
        <p:blipFill>
          <a:blip r:embed="rId1"/>
          <a:stretch>
            <a:fillRect/>
          </a:stretch>
        </p:blipFill>
        <p:spPr>
          <a:xfrm>
            <a:off x="411480" y="914400"/>
            <a:ext cx="3383280" cy="1252728"/>
          </a:xfrm>
          <a:prstGeom prst="rect">
            <a:avLst/>
          </a:prstGeom>
        </p:spPr>
      </p:pic>
      <p:pic>
        <p:nvPicPr>
          <p:cNvPr id="7" name="Image 1" descr="general_poster.png">    </p:cNvPr>
          <p:cNvPicPr>
            <a:picLocks noChangeAspect="1"/>
          </p:cNvPicPr>
          <p:nvPr/>
        </p:nvPicPr>
        <p:blipFill>
          <a:blip r:embed="rId2"/>
          <a:stretch>
            <a:fillRect/>
          </a:stretch>
        </p:blipFill>
        <p:spPr>
          <a:xfrm>
            <a:off x="31414212" y="1028700"/>
            <a:ext cx="1229868" cy="960120"/>
          </a:xfrm>
          <a:prstGeom prst="rect">
            <a:avLst/>
          </a:prstGeom>
        </p:spPr>
      </p:pic>
      <p:pic>
        <p:nvPicPr>
          <p:cNvPr id="8" name="Image 2" descr="Logo_O26M_hi.png">    </p:cNvPr>
          <p:cNvPicPr>
            <a:picLocks noChangeAspect="1"/>
          </p:cNvPicPr>
          <p:nvPr/>
        </p:nvPicPr>
        <p:blipFill>
          <a:blip r:embed="rId3"/>
          <a:stretch>
            <a:fillRect/>
          </a:stretch>
        </p:blipFill>
        <p:spPr>
          <a:xfrm>
            <a:off x="29905452" y="937260"/>
            <a:ext cx="1143000" cy="1143000"/>
          </a:xfrm>
          <a:prstGeom prst="rect">
            <a:avLst/>
          </a:prstGeom>
        </p:spPr>
      </p:pic>
      <p:pic>
        <p:nvPicPr>
          <p:cNvPr id="9" name="Image 3" descr="Logo_OES_hi.png">    </p:cNvPr>
          <p:cNvPicPr>
            <a:picLocks noChangeAspect="1"/>
          </p:cNvPicPr>
          <p:nvPr/>
        </p:nvPicPr>
        <p:blipFill>
          <a:blip r:embed="rId4"/>
          <a:stretch>
            <a:fillRect/>
          </a:stretch>
        </p:blipFill>
        <p:spPr>
          <a:xfrm>
            <a:off x="27669744" y="1074420"/>
            <a:ext cx="1869948" cy="868680"/>
          </a:xfrm>
          <a:prstGeom prst="rect">
            <a:avLst/>
          </a:prstGeom>
        </p:spPr>
      </p:pic>
      <p:sp>
        <p:nvSpPr>
          <p:cNvPr id="10" name="Shape 4"/>
          <p:cNvSpPr/>
          <p:nvPr/>
        </p:nvSpPr>
        <p:spPr>
          <a:xfrm>
            <a:off x="274320" y="3108960"/>
            <a:ext cx="32369760" cy="1828800"/>
          </a:xfrm>
          <a:prstGeom prst="roundRect">
            <a:avLst>
              <a:gd name="adj" fmla="val 3000"/>
            </a:avLst>
          </a:prstGeom>
          <a:solidFill>
            <a:srgbClr val="13315C"/>
          </a:solidFill>
          <a:ln w="12700">
            <a:solidFill>
              <a:srgbClr val="13315C"/>
            </a:solidFill>
            <a:prstDash val="solid"/>
          </a:ln>
        </p:spPr>
      </p:sp>
      <p:sp>
        <p:nvSpPr>
          <p:cNvPr id="11" name="Text 5"/>
          <p:cNvSpPr/>
          <p:nvPr/>
        </p:nvSpPr>
        <p:spPr>
          <a:xfrm>
            <a:off x="457200" y="3429000"/>
            <a:ext cx="1828800" cy="1188720"/>
          </a:xfrm>
          <a:prstGeom prst="rect">
            <a:avLst/>
          </a:prstGeom>
          <a:noFill/>
          <a:ln/>
        </p:spPr>
        <p:txBody>
          <a:bodyPr wrap="square" lIns="0" tIns="0" rIns="0" bIns="0" rtlCol="0" anchor="ctr"/>
          <a:lstStyle/>
          <a:p>
            <a:pPr algn="l" indent="0" marL="0">
              <a:lnSpc>
                <a:spcPts val="1200"/>
              </a:lnSpc>
              <a:buNone/>
            </a:pPr>
            <a:r>
              <a:rPr lang="en-US" sz="950" b="1" dirty="0">
                <a:solidFill>
                  <a:srgbClr val="34C6A8"/>
                </a:solidFill>
                <a:latin typeface="Arial" pitchFamily="34" charset="0"/>
                <a:ea typeface="Arial" pitchFamily="34" charset="-122"/>
                <a:cs typeface="Arial" pitchFamily="34" charset="-120"/>
              </a:rPr>
              <a:t>AT A</a:t>
            </a:r>
            <a:endParaRPr lang="en-US" sz="950" dirty="0"/>
          </a:p>
          <a:p>
            <a:pPr algn="l" indent="0" marL="0">
              <a:lnSpc>
                <a:spcPts val="1200"/>
              </a:lnSpc>
              <a:buNone/>
            </a:pPr>
            <a:r>
              <a:rPr lang="en-US" sz="950" b="1" dirty="0">
                <a:solidFill>
                  <a:srgbClr val="34C6A8"/>
                </a:solidFill>
                <a:latin typeface="Arial" pitchFamily="34" charset="0"/>
                <a:ea typeface="Arial" pitchFamily="34" charset="-122"/>
                <a:cs typeface="Arial" pitchFamily="34" charset="-120"/>
              </a:rPr>
              <a:t>GLANCE</a:t>
            </a:r>
            <a:endParaRPr lang="en-US" sz="950" dirty="0"/>
          </a:p>
        </p:txBody>
      </p:sp>
      <p:sp>
        <p:nvSpPr>
          <p:cNvPr id="12" name="Text 6"/>
          <p:cNvSpPr/>
          <p:nvPr/>
        </p:nvSpPr>
        <p:spPr>
          <a:xfrm>
            <a:off x="2468880" y="3360420"/>
            <a:ext cx="6263640" cy="685800"/>
          </a:xfrm>
          <a:prstGeom prst="rect">
            <a:avLst/>
          </a:prstGeom>
          <a:noFill/>
          <a:ln/>
        </p:spPr>
        <p:txBody>
          <a:bodyPr wrap="square" lIns="0" tIns="0" rIns="0" bIns="0" rtlCol="0" anchor="ctr"/>
          <a:lstStyle/>
          <a:p>
            <a:pPr algn="l" indent="0" marL="0">
              <a:buNone/>
            </a:pPr>
            <a:r>
              <a:rPr lang="en-US" sz="2100" b="1" dirty="0">
                <a:solidFill>
                  <a:srgbClr val="34C6A8"/>
                </a:solidFill>
                <a:latin typeface="Cambria" pitchFamily="34" charset="0"/>
                <a:ea typeface="Cambria" pitchFamily="34" charset="-122"/>
                <a:cs typeface="Cambria" pitchFamily="34" charset="-120"/>
              </a:rPr>
              <a:t>14 days</a:t>
            </a:r>
            <a:endParaRPr lang="en-US" sz="2100" dirty="0"/>
          </a:p>
        </p:txBody>
      </p:sp>
      <p:sp>
        <p:nvSpPr>
          <p:cNvPr id="13" name="Text 7"/>
          <p:cNvSpPr/>
          <p:nvPr/>
        </p:nvSpPr>
        <p:spPr>
          <a:xfrm>
            <a:off x="2468880" y="4046220"/>
            <a:ext cx="6263640" cy="685800"/>
          </a:xfrm>
          <a:prstGeom prst="rect">
            <a:avLst/>
          </a:prstGeom>
          <a:noFill/>
          <a:ln/>
        </p:spPr>
        <p:txBody>
          <a:bodyPr wrap="square" lIns="0" tIns="0" rIns="0" bIns="0" rtlCol="0" anchor="t"/>
          <a:lstStyle/>
          <a:p>
            <a:pPr algn="l" indent="0" marL="0">
              <a:lnSpc>
                <a:spcPts val="1050"/>
              </a:lnSpc>
              <a:buNone/>
            </a:pPr>
            <a:r>
              <a:rPr lang="en-US" sz="850" dirty="0">
                <a:solidFill>
                  <a:srgbClr val="FFFFFF"/>
                </a:solidFill>
                <a:latin typeface="Arial" pitchFamily="34" charset="0"/>
                <a:ea typeface="Arial" pitchFamily="34" charset="-122"/>
                <a:cs typeface="Arial" pitchFamily="34" charset="-120"/>
              </a:rPr>
              <a:t>of confirmed orca in April–May 2018: ten from v4,</a:t>
            </a:r>
            <a:endParaRPr lang="en-US" sz="850" dirty="0"/>
          </a:p>
          <a:p>
            <a:pPr algn="l" indent="0" marL="0">
              <a:lnSpc>
                <a:spcPts val="1050"/>
              </a:lnSpc>
              <a:buNone/>
            </a:pPr>
            <a:r>
              <a:rPr lang="en-US" sz="850" dirty="0">
                <a:solidFill>
                  <a:srgbClr val="FFFFFF"/>
                </a:solidFill>
                <a:latin typeface="Arial" pitchFamily="34" charset="0"/>
                <a:ea typeface="Arial" pitchFamily="34" charset="-122"/>
                <a:cs typeface="Arial" pitchFamily="34" charset="-120"/>
              </a:rPr>
              <a:t>four more when the loop was re-run</a:t>
            </a:r>
            <a:endParaRPr lang="en-US" sz="850" dirty="0"/>
          </a:p>
        </p:txBody>
      </p:sp>
      <p:sp>
        <p:nvSpPr>
          <p:cNvPr id="14" name="Shape 8"/>
          <p:cNvSpPr/>
          <p:nvPr/>
        </p:nvSpPr>
        <p:spPr>
          <a:xfrm>
            <a:off x="8970264" y="3451860"/>
            <a:ext cx="16002" cy="1143000"/>
          </a:xfrm>
          <a:prstGeom prst="rect">
            <a:avLst/>
          </a:prstGeom>
          <a:solidFill>
            <a:srgbClr val="3B5F8A"/>
          </a:solidFill>
          <a:ln w="12700">
            <a:solidFill>
              <a:srgbClr val="3B5F8A"/>
            </a:solidFill>
            <a:prstDash val="solid"/>
          </a:ln>
        </p:spPr>
      </p:sp>
      <p:sp>
        <p:nvSpPr>
          <p:cNvPr id="15" name="Text 9"/>
          <p:cNvSpPr/>
          <p:nvPr/>
        </p:nvSpPr>
        <p:spPr>
          <a:xfrm>
            <a:off x="9098280" y="3360420"/>
            <a:ext cx="5532120" cy="685800"/>
          </a:xfrm>
          <a:prstGeom prst="rect">
            <a:avLst/>
          </a:prstGeom>
          <a:noFill/>
          <a:ln/>
        </p:spPr>
        <p:txBody>
          <a:bodyPr wrap="square" lIns="0" tIns="0" rIns="0" bIns="0" rtlCol="0" anchor="ctr"/>
          <a:lstStyle/>
          <a:p>
            <a:pPr algn="l" indent="0" marL="0">
              <a:buNone/>
            </a:pPr>
            <a:r>
              <a:rPr lang="en-US" sz="2100" b="1" dirty="0">
                <a:solidFill>
                  <a:srgbClr val="34C6A8"/>
                </a:solidFill>
                <a:latin typeface="Cambria" pitchFamily="34" charset="0"/>
                <a:ea typeface="Cambria" pitchFamily="34" charset="-122"/>
                <a:cs typeface="Cambria" pitchFamily="34" charset="-120"/>
              </a:rPr>
              <a:t>95% fewer</a:t>
            </a:r>
            <a:endParaRPr lang="en-US" sz="2100" dirty="0"/>
          </a:p>
        </p:txBody>
      </p:sp>
      <p:sp>
        <p:nvSpPr>
          <p:cNvPr id="16" name="Text 10"/>
          <p:cNvSpPr/>
          <p:nvPr/>
        </p:nvSpPr>
        <p:spPr>
          <a:xfrm>
            <a:off x="9098280" y="4046220"/>
            <a:ext cx="5532120" cy="685800"/>
          </a:xfrm>
          <a:prstGeom prst="rect">
            <a:avLst/>
          </a:prstGeom>
          <a:noFill/>
          <a:ln/>
        </p:spPr>
        <p:txBody>
          <a:bodyPr wrap="square" lIns="0" tIns="0" rIns="0" bIns="0" rtlCol="0" anchor="t"/>
          <a:lstStyle/>
          <a:p>
            <a:pPr algn="l" indent="0" marL="0">
              <a:lnSpc>
                <a:spcPts val="1050"/>
              </a:lnSpc>
              <a:buNone/>
            </a:pPr>
            <a:r>
              <a:rPr lang="en-US" sz="850" dirty="0">
                <a:solidFill>
                  <a:srgbClr val="FFFFFF"/>
                </a:solidFill>
                <a:latin typeface="Arial" pitchFamily="34" charset="0"/>
                <a:ea typeface="Arial" pitchFamily="34" charset="-122"/>
                <a:cs typeface="Arial" pitchFamily="34" charset="-120"/>
              </a:rPr>
              <a:t>false alarms in a held-out month,</a:t>
            </a:r>
            <a:endParaRPr lang="en-US" sz="850" dirty="0"/>
          </a:p>
          <a:p>
            <a:pPr algn="l" indent="0" marL="0">
              <a:lnSpc>
                <a:spcPts val="1050"/>
              </a:lnSpc>
              <a:buNone/>
            </a:pPr>
            <a:r>
              <a:rPr lang="en-US" sz="850" dirty="0">
                <a:solidFill>
                  <a:srgbClr val="FFFFFF"/>
                </a:solidFill>
                <a:latin typeface="Arial" pitchFamily="34" charset="0"/>
                <a:ea typeface="Arial" pitchFamily="34" charset="-122"/>
                <a:cs typeface="Arial" pitchFamily="34" charset="-120"/>
              </a:rPr>
              <a:t>from 17 corrective labels (6,489 → 304)</a:t>
            </a:r>
            <a:endParaRPr lang="en-US" sz="850" dirty="0"/>
          </a:p>
        </p:txBody>
      </p:sp>
      <p:sp>
        <p:nvSpPr>
          <p:cNvPr id="17" name="Shape 11"/>
          <p:cNvSpPr/>
          <p:nvPr/>
        </p:nvSpPr>
        <p:spPr>
          <a:xfrm>
            <a:off x="14868144" y="3451860"/>
            <a:ext cx="16002" cy="1143000"/>
          </a:xfrm>
          <a:prstGeom prst="rect">
            <a:avLst/>
          </a:prstGeom>
          <a:solidFill>
            <a:srgbClr val="3B5F8A"/>
          </a:solidFill>
          <a:ln w="12700">
            <a:solidFill>
              <a:srgbClr val="3B5F8A"/>
            </a:solidFill>
            <a:prstDash val="solid"/>
          </a:ln>
        </p:spPr>
      </p:sp>
      <p:sp>
        <p:nvSpPr>
          <p:cNvPr id="18" name="Text 12"/>
          <p:cNvSpPr/>
          <p:nvPr/>
        </p:nvSpPr>
        <p:spPr>
          <a:xfrm>
            <a:off x="14996160" y="3360420"/>
            <a:ext cx="6355080" cy="685800"/>
          </a:xfrm>
          <a:prstGeom prst="rect">
            <a:avLst/>
          </a:prstGeom>
          <a:noFill/>
          <a:ln/>
        </p:spPr>
        <p:txBody>
          <a:bodyPr wrap="square" lIns="0" tIns="0" rIns="0" bIns="0" rtlCol="0" anchor="ctr"/>
          <a:lstStyle/>
          <a:p>
            <a:pPr algn="l" indent="0" marL="0">
              <a:buNone/>
            </a:pPr>
            <a:r>
              <a:rPr lang="en-US" sz="2100" b="1" dirty="0">
                <a:solidFill>
                  <a:srgbClr val="34C6A8"/>
                </a:solidFill>
                <a:latin typeface="Cambria" pitchFamily="34" charset="0"/>
                <a:ea typeface="Cambria" pitchFamily="34" charset="-122"/>
                <a:cs typeface="Cambria" pitchFamily="34" charset="-120"/>
              </a:rPr>
              <a:t>1,336 labels</a:t>
            </a:r>
            <a:endParaRPr lang="en-US" sz="2100" dirty="0"/>
          </a:p>
        </p:txBody>
      </p:sp>
      <p:sp>
        <p:nvSpPr>
          <p:cNvPr id="19" name="Text 13"/>
          <p:cNvSpPr/>
          <p:nvPr/>
        </p:nvSpPr>
        <p:spPr>
          <a:xfrm>
            <a:off x="14996160" y="4046220"/>
            <a:ext cx="6355080" cy="685800"/>
          </a:xfrm>
          <a:prstGeom prst="rect">
            <a:avLst/>
          </a:prstGeom>
          <a:noFill/>
          <a:ln/>
        </p:spPr>
        <p:txBody>
          <a:bodyPr wrap="square" lIns="0" tIns="0" rIns="0" bIns="0" rtlCol="0" anchor="t"/>
          <a:lstStyle/>
          <a:p>
            <a:pPr algn="l" indent="0" marL="0">
              <a:lnSpc>
                <a:spcPts val="1050"/>
              </a:lnSpc>
              <a:buNone/>
            </a:pPr>
            <a:r>
              <a:rPr lang="en-US" sz="850" dirty="0">
                <a:solidFill>
                  <a:srgbClr val="FFFFFF"/>
                </a:solidFill>
                <a:latin typeface="Arial" pitchFamily="34" charset="0"/>
                <a:ea typeface="Arial" pitchFamily="34" charset="-122"/>
                <a:cs typeface="Arial" pitchFamily="34" charset="-120"/>
              </a:rPr>
              <a:t>all in ~8–10 h of researchers’ time;</a:t>
            </a:r>
            <a:endParaRPr lang="en-US" sz="850" dirty="0"/>
          </a:p>
          <a:p>
            <a:pPr algn="l" indent="0" marL="0">
              <a:lnSpc>
                <a:spcPts val="1050"/>
              </a:lnSpc>
              <a:buNone/>
            </a:pPr>
            <a:r>
              <a:rPr lang="en-US" sz="850" dirty="0">
                <a:solidFill>
                  <a:srgbClr val="FFFFFF"/>
                </a:solidFill>
                <a:latin typeface="Arial" pitchFamily="34" charset="0"/>
                <a:ea typeface="Arial" pitchFamily="34" charset="-122"/>
                <a:cs typeface="Arial" pitchFamily="34" charset="-120"/>
              </a:rPr>
              <a:t>873 built the presented model</a:t>
            </a:r>
            <a:endParaRPr lang="en-US" sz="850" dirty="0"/>
          </a:p>
        </p:txBody>
      </p:sp>
      <p:sp>
        <p:nvSpPr>
          <p:cNvPr id="20" name="Shape 14"/>
          <p:cNvSpPr/>
          <p:nvPr/>
        </p:nvSpPr>
        <p:spPr>
          <a:xfrm>
            <a:off x="21588984" y="3451860"/>
            <a:ext cx="16002" cy="1143000"/>
          </a:xfrm>
          <a:prstGeom prst="rect">
            <a:avLst/>
          </a:prstGeom>
          <a:solidFill>
            <a:srgbClr val="3B5F8A"/>
          </a:solidFill>
          <a:ln w="12700">
            <a:solidFill>
              <a:srgbClr val="3B5F8A"/>
            </a:solidFill>
            <a:prstDash val="solid"/>
          </a:ln>
        </p:spPr>
      </p:sp>
      <p:sp>
        <p:nvSpPr>
          <p:cNvPr id="21" name="Text 15"/>
          <p:cNvSpPr/>
          <p:nvPr/>
        </p:nvSpPr>
        <p:spPr>
          <a:xfrm>
            <a:off x="21717000" y="3360420"/>
            <a:ext cx="5257800" cy="685800"/>
          </a:xfrm>
          <a:prstGeom prst="rect">
            <a:avLst/>
          </a:prstGeom>
          <a:noFill/>
          <a:ln/>
        </p:spPr>
        <p:txBody>
          <a:bodyPr wrap="square" lIns="0" tIns="0" rIns="0" bIns="0" rtlCol="0" anchor="ctr"/>
          <a:lstStyle/>
          <a:p>
            <a:pPr algn="l" indent="0" marL="0">
              <a:buNone/>
            </a:pPr>
            <a:r>
              <a:rPr lang="en-US" sz="2100" b="1" dirty="0">
                <a:solidFill>
                  <a:srgbClr val="34C6A8"/>
                </a:solidFill>
                <a:latin typeface="Cambria" pitchFamily="34" charset="0"/>
                <a:ea typeface="Cambria" pitchFamily="34" charset="-122"/>
                <a:cs typeface="Cambria" pitchFamily="34" charset="-120"/>
              </a:rPr>
              <a:t>0.95</a:t>
            </a:r>
            <a:endParaRPr lang="en-US" sz="2100" dirty="0"/>
          </a:p>
        </p:txBody>
      </p:sp>
      <p:sp>
        <p:nvSpPr>
          <p:cNvPr id="22" name="Text 16"/>
          <p:cNvSpPr/>
          <p:nvPr/>
        </p:nvSpPr>
        <p:spPr>
          <a:xfrm>
            <a:off x="21717000" y="4046220"/>
            <a:ext cx="5257800" cy="685800"/>
          </a:xfrm>
          <a:prstGeom prst="rect">
            <a:avLst/>
          </a:prstGeom>
          <a:noFill/>
          <a:ln/>
        </p:spPr>
        <p:txBody>
          <a:bodyPr wrap="square" lIns="0" tIns="0" rIns="0" bIns="0" rtlCol="0" anchor="t"/>
          <a:lstStyle/>
          <a:p>
            <a:pPr algn="l" indent="0" marL="0">
              <a:lnSpc>
                <a:spcPts val="1050"/>
              </a:lnSpc>
              <a:buNone/>
            </a:pPr>
            <a:r>
              <a:rPr lang="en-US" sz="850" dirty="0">
                <a:solidFill>
                  <a:srgbClr val="FFFFFF"/>
                </a:solidFill>
                <a:latin typeface="Arial" pitchFamily="34" charset="0"/>
                <a:ea typeface="Arial" pitchFamily="34" charset="-122"/>
                <a:cs typeface="Arial" pitchFamily="34" charset="-120"/>
              </a:rPr>
              <a:t>orca detection score (F1: 0 = useless,</a:t>
            </a:r>
            <a:endParaRPr lang="en-US" sz="850" dirty="0"/>
          </a:p>
          <a:p>
            <a:pPr algn="l" indent="0" marL="0">
              <a:lnSpc>
                <a:spcPts val="1050"/>
              </a:lnSpc>
              <a:buNone/>
            </a:pPr>
            <a:r>
              <a:rPr lang="en-US" sz="850" dirty="0">
                <a:solidFill>
                  <a:srgbClr val="FFFFFF"/>
                </a:solidFill>
                <a:latin typeface="Arial" pitchFamily="34" charset="0"/>
                <a:ea typeface="Arial" pitchFamily="34" charset="-122"/>
                <a:cs typeface="Arial" pitchFamily="34" charset="-120"/>
              </a:rPr>
              <a:t>1 = perfect) at our chosen cutoff</a:t>
            </a:r>
            <a:endParaRPr lang="en-US" sz="850" dirty="0"/>
          </a:p>
        </p:txBody>
      </p:sp>
      <p:sp>
        <p:nvSpPr>
          <p:cNvPr id="23" name="Shape 17"/>
          <p:cNvSpPr/>
          <p:nvPr/>
        </p:nvSpPr>
        <p:spPr>
          <a:xfrm>
            <a:off x="27212544" y="3451860"/>
            <a:ext cx="16002" cy="1143000"/>
          </a:xfrm>
          <a:prstGeom prst="rect">
            <a:avLst/>
          </a:prstGeom>
          <a:solidFill>
            <a:srgbClr val="3B5F8A"/>
          </a:solidFill>
          <a:ln w="12700">
            <a:solidFill>
              <a:srgbClr val="3B5F8A"/>
            </a:solidFill>
            <a:prstDash val="solid"/>
          </a:ln>
        </p:spPr>
      </p:sp>
      <p:sp>
        <p:nvSpPr>
          <p:cNvPr id="24" name="Text 18"/>
          <p:cNvSpPr/>
          <p:nvPr/>
        </p:nvSpPr>
        <p:spPr>
          <a:xfrm>
            <a:off x="27340560" y="3360420"/>
            <a:ext cx="5166360" cy="685800"/>
          </a:xfrm>
          <a:prstGeom prst="rect">
            <a:avLst/>
          </a:prstGeom>
          <a:noFill/>
          <a:ln/>
        </p:spPr>
        <p:txBody>
          <a:bodyPr wrap="square" lIns="0" tIns="0" rIns="0" bIns="0" rtlCol="0" anchor="ctr"/>
          <a:lstStyle/>
          <a:p>
            <a:pPr algn="l" indent="0" marL="0">
              <a:buNone/>
            </a:pPr>
            <a:r>
              <a:rPr lang="en-US" sz="2100" b="1" dirty="0">
                <a:solidFill>
                  <a:srgbClr val="34C6A8"/>
                </a:solidFill>
                <a:latin typeface="Cambria" pitchFamily="34" charset="0"/>
                <a:ea typeface="Cambria" pitchFamily="34" charset="-122"/>
                <a:cs typeface="Cambria" pitchFamily="34" charset="-120"/>
              </a:rPr>
              <a:t>+19 points</a:t>
            </a:r>
            <a:endParaRPr lang="en-US" sz="2100" dirty="0"/>
          </a:p>
        </p:txBody>
      </p:sp>
      <p:sp>
        <p:nvSpPr>
          <p:cNvPr id="25" name="Text 19"/>
          <p:cNvSpPr/>
          <p:nvPr/>
        </p:nvSpPr>
        <p:spPr>
          <a:xfrm>
            <a:off x="27340560" y="4046220"/>
            <a:ext cx="5166360" cy="685800"/>
          </a:xfrm>
          <a:prstGeom prst="rect">
            <a:avLst/>
          </a:prstGeom>
          <a:noFill/>
          <a:ln/>
        </p:spPr>
        <p:txBody>
          <a:bodyPr wrap="square" lIns="0" tIns="0" rIns="0" bIns="0" rtlCol="0" anchor="t"/>
          <a:lstStyle/>
          <a:p>
            <a:pPr algn="l" indent="0" marL="0">
              <a:lnSpc>
                <a:spcPts val="1050"/>
              </a:lnSpc>
              <a:buNone/>
            </a:pPr>
            <a:r>
              <a:rPr lang="en-US" sz="850" dirty="0">
                <a:solidFill>
                  <a:srgbClr val="FFFFFF"/>
                </a:solidFill>
                <a:latin typeface="Arial" pitchFamily="34" charset="0"/>
                <a:ea typeface="Arial" pitchFamily="34" charset="-122"/>
                <a:cs typeface="Arial" pitchFamily="34" charset="-120"/>
              </a:rPr>
              <a:t>more of a held-out month’s orca found</a:t>
            </a:r>
            <a:endParaRPr lang="en-US" sz="850" dirty="0"/>
          </a:p>
          <a:p>
            <a:pPr algn="l" indent="0" marL="0">
              <a:lnSpc>
                <a:spcPts val="1050"/>
              </a:lnSpc>
              <a:buNone/>
            </a:pPr>
            <a:r>
              <a:rPr lang="en-US" sz="850" dirty="0">
                <a:solidFill>
                  <a:srgbClr val="FFFFFF"/>
                </a:solidFill>
                <a:latin typeface="Arial" pitchFamily="34" charset="0"/>
                <a:ea typeface="Arial" pitchFamily="34" charset="-122"/>
                <a:cs typeface="Arial" pitchFamily="34" charset="-120"/>
              </a:rPr>
              <a:t>when the loop was run again</a:t>
            </a:r>
            <a:endParaRPr lang="en-US" sz="850" dirty="0"/>
          </a:p>
        </p:txBody>
      </p:sp>
      <p:sp>
        <p:nvSpPr>
          <p:cNvPr id="26" name="Shape 20"/>
          <p:cNvSpPr/>
          <p:nvPr/>
        </p:nvSpPr>
        <p:spPr>
          <a:xfrm>
            <a:off x="274320" y="5577840"/>
            <a:ext cx="6254496" cy="3017520"/>
          </a:xfrm>
          <a:prstGeom prst="roundRect">
            <a:avLst>
              <a:gd name="adj" fmla="val 2727"/>
            </a:avLst>
          </a:prstGeom>
          <a:solidFill>
            <a:srgbClr val="EEF3F7"/>
          </a:solidFill>
          <a:ln w="12700">
            <a:solidFill>
              <a:srgbClr val="D8E2EA"/>
            </a:solidFill>
            <a:prstDash val="solid"/>
          </a:ln>
        </p:spPr>
      </p:sp>
      <p:sp>
        <p:nvSpPr>
          <p:cNvPr id="27" name="Shape 21"/>
          <p:cNvSpPr/>
          <p:nvPr/>
        </p:nvSpPr>
        <p:spPr>
          <a:xfrm>
            <a:off x="502920" y="5806440"/>
            <a:ext cx="480060" cy="480060"/>
          </a:xfrm>
          <a:prstGeom prst="ellipse">
            <a:avLst/>
          </a:prstGeom>
          <a:solidFill>
            <a:srgbClr val="1C7293"/>
          </a:solidFill>
          <a:ln w="12700">
            <a:solidFill>
              <a:srgbClr val="1C7293"/>
            </a:solidFill>
            <a:prstDash val="solid"/>
          </a:ln>
        </p:spPr>
      </p:sp>
      <p:sp>
        <p:nvSpPr>
          <p:cNvPr id="28" name="Text 22"/>
          <p:cNvSpPr/>
          <p:nvPr/>
        </p:nvSpPr>
        <p:spPr>
          <a:xfrm>
            <a:off x="502920"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29" name="Text 23"/>
          <p:cNvSpPr/>
          <p:nvPr/>
        </p:nvSpPr>
        <p:spPr>
          <a:xfrm>
            <a:off x="1074420"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The gap</a:t>
            </a:r>
            <a:endParaRPr lang="en-US" sz="1400" dirty="0"/>
          </a:p>
        </p:txBody>
      </p:sp>
      <p:sp>
        <p:nvSpPr>
          <p:cNvPr id="30" name="Text 24"/>
          <p:cNvSpPr/>
          <p:nvPr/>
        </p:nvSpPr>
        <p:spPr>
          <a:xfrm>
            <a:off x="548640" y="6537960"/>
            <a:ext cx="5705856" cy="192024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Monterey Bay National Marine Sanctuary hosts three killer whale ecotypes: transient (Bigg’s), endangered Southern Resident, and Offshore.</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None are yet routinely detected and classified from passive acoustic monitoring (PAM) data.</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Detections are rare and manual annotation of thousands of hours is impractical, so labeled MARS training data are scarce.</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Goal: turn a continuous PAM archive into an ecologically useful record of orca presence — with its limits measured, not hidden.</a:t>
            </a:r>
            <a:endParaRPr lang="en-US" sz="1200" dirty="0"/>
          </a:p>
        </p:txBody>
      </p:sp>
      <p:sp>
        <p:nvSpPr>
          <p:cNvPr id="31" name="Shape 25"/>
          <p:cNvSpPr/>
          <p:nvPr/>
        </p:nvSpPr>
        <p:spPr>
          <a:xfrm>
            <a:off x="274320" y="8869680"/>
            <a:ext cx="6254496" cy="5943600"/>
          </a:xfrm>
          <a:prstGeom prst="roundRect">
            <a:avLst>
              <a:gd name="adj" fmla="val 1385"/>
            </a:avLst>
          </a:prstGeom>
          <a:solidFill>
            <a:srgbClr val="EEF3F7"/>
          </a:solidFill>
          <a:ln w="12700">
            <a:solidFill>
              <a:srgbClr val="D8E2EA"/>
            </a:solidFill>
            <a:prstDash val="solid"/>
          </a:ln>
        </p:spPr>
      </p:sp>
      <p:sp>
        <p:nvSpPr>
          <p:cNvPr id="32" name="Shape 26"/>
          <p:cNvSpPr/>
          <p:nvPr/>
        </p:nvSpPr>
        <p:spPr>
          <a:xfrm>
            <a:off x="502920" y="9098280"/>
            <a:ext cx="480060" cy="480060"/>
          </a:xfrm>
          <a:prstGeom prst="ellipse">
            <a:avLst/>
          </a:prstGeom>
          <a:solidFill>
            <a:srgbClr val="1C7293"/>
          </a:solidFill>
          <a:ln w="12700">
            <a:solidFill>
              <a:srgbClr val="1C7293"/>
            </a:solidFill>
            <a:prstDash val="solid"/>
          </a:ln>
        </p:spPr>
      </p:sp>
      <p:sp>
        <p:nvSpPr>
          <p:cNvPr id="33" name="Text 27"/>
          <p:cNvSpPr/>
          <p:nvPr/>
        </p:nvSpPr>
        <p:spPr>
          <a:xfrm>
            <a:off x="502920" y="909828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34" name="Text 28"/>
          <p:cNvSpPr/>
          <p:nvPr/>
        </p:nvSpPr>
        <p:spPr>
          <a:xfrm>
            <a:off x="1074420" y="902970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A continuous listening post</a:t>
            </a:r>
            <a:endParaRPr lang="en-US" sz="1400" dirty="0"/>
          </a:p>
        </p:txBody>
      </p:sp>
      <p:sp>
        <p:nvSpPr>
          <p:cNvPr id="35" name="Text 29"/>
          <p:cNvSpPr/>
          <p:nvPr/>
        </p:nvSpPr>
        <p:spPr>
          <a:xfrm>
            <a:off x="548640" y="9829800"/>
            <a:ext cx="5705856" cy="146304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MARS cabled observatory, Smooth Ridge (36°42.75′ N, 122°11.21′ W), ~30 km offshore at ~900 m depth.</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Ocean Sonics icListen HF omnidirectional hydrophone, 10 Hz – 100 kHz, relayed to shore in real time, 24/7.</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Archived and public as the Amazon Web Services (AWS) Pacific Ocean Sound recordings; analysis windows here span 2018–2026.  registry.opendata.aws/pacific-sound</a:t>
            </a:r>
            <a:endParaRPr lang="en-US" sz="1200" dirty="0"/>
          </a:p>
        </p:txBody>
      </p:sp>
      <p:pic>
        <p:nvPicPr>
          <p:cNvPr id="36" name="Image 4" descr="oceans2026_fig1_mars_observatory.jpg">    </p:cNvPr>
          <p:cNvPicPr>
            <a:picLocks noChangeAspect="1"/>
          </p:cNvPicPr>
          <p:nvPr/>
        </p:nvPicPr>
        <p:blipFill>
          <a:blip r:embed="rId5"/>
          <a:stretch>
            <a:fillRect/>
          </a:stretch>
        </p:blipFill>
        <p:spPr>
          <a:xfrm>
            <a:off x="1344168" y="11430000"/>
            <a:ext cx="4114800" cy="2706624"/>
          </a:xfrm>
          <a:prstGeom prst="rect">
            <a:avLst/>
          </a:prstGeom>
        </p:spPr>
      </p:pic>
      <p:sp>
        <p:nvSpPr>
          <p:cNvPr id="37" name="Text 30"/>
          <p:cNvSpPr/>
          <p:nvPr/>
        </p:nvSpPr>
        <p:spPr>
          <a:xfrm>
            <a:off x="548640" y="14196060"/>
            <a:ext cx="5705856" cy="548640"/>
          </a:xfrm>
          <a:prstGeom prst="rect">
            <a:avLst/>
          </a:prstGeom>
          <a:noFill/>
          <a:ln/>
        </p:spPr>
        <p:txBody>
          <a:bodyPr wrap="square" lIns="0" tIns="0" rIns="0" bIns="0" rtlCol="0" anchor="t"/>
          <a:lstStyle/>
          <a:p>
            <a:pPr indent="0" marL="0">
              <a:lnSpc>
                <a:spcPts val="1000"/>
              </a:lnSpc>
              <a:buNone/>
            </a:pPr>
            <a:r>
              <a:rPr lang="en-US" sz="850" i="1" dirty="0">
                <a:solidFill>
                  <a:srgbClr val="4A5C6A"/>
                </a:solidFill>
                <a:latin typeface="Arial" pitchFamily="34" charset="0"/>
                <a:ea typeface="Arial" pitchFamily="34" charset="-122"/>
                <a:cs typeface="Arial" pitchFamily="34" charset="-120"/>
              </a:rPr>
              <a:t>The MARS cabled observatory; the hydrophone sits at the science node. Image: MBARI.</a:t>
            </a:r>
            <a:endParaRPr lang="en-US" sz="850" dirty="0"/>
          </a:p>
        </p:txBody>
      </p:sp>
      <p:sp>
        <p:nvSpPr>
          <p:cNvPr id="38" name="Shape 31"/>
          <p:cNvSpPr/>
          <p:nvPr/>
        </p:nvSpPr>
        <p:spPr>
          <a:xfrm>
            <a:off x="274320" y="15087600"/>
            <a:ext cx="6254496" cy="4754880"/>
          </a:xfrm>
          <a:prstGeom prst="roundRect">
            <a:avLst>
              <a:gd name="adj" fmla="val 1731"/>
            </a:avLst>
          </a:prstGeom>
          <a:solidFill>
            <a:srgbClr val="EEF3F7"/>
          </a:solidFill>
          <a:ln w="12700">
            <a:solidFill>
              <a:srgbClr val="D8E2EA"/>
            </a:solidFill>
            <a:prstDash val="solid"/>
          </a:ln>
        </p:spPr>
      </p:sp>
      <p:sp>
        <p:nvSpPr>
          <p:cNvPr id="39" name="Shape 32"/>
          <p:cNvSpPr/>
          <p:nvPr/>
        </p:nvSpPr>
        <p:spPr>
          <a:xfrm>
            <a:off x="502920" y="15316200"/>
            <a:ext cx="480060" cy="480060"/>
          </a:xfrm>
          <a:prstGeom prst="ellipse">
            <a:avLst/>
          </a:prstGeom>
          <a:solidFill>
            <a:srgbClr val="1C7293"/>
          </a:solidFill>
          <a:ln w="12700">
            <a:solidFill>
              <a:srgbClr val="1C7293"/>
            </a:solidFill>
            <a:prstDash val="solid"/>
          </a:ln>
        </p:spPr>
      </p:sp>
      <p:sp>
        <p:nvSpPr>
          <p:cNvPr id="40" name="Text 33"/>
          <p:cNvSpPr/>
          <p:nvPr/>
        </p:nvSpPr>
        <p:spPr>
          <a:xfrm>
            <a:off x="502920" y="1531620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41" name="Text 34"/>
          <p:cNvSpPr/>
          <p:nvPr/>
        </p:nvSpPr>
        <p:spPr>
          <a:xfrm>
            <a:off x="1074420" y="1524762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Off-the-shelf CNNs confuse the bay</a:t>
            </a:r>
            <a:endParaRPr lang="en-US" sz="1400" dirty="0"/>
          </a:p>
        </p:txBody>
      </p:sp>
      <p:sp>
        <p:nvSpPr>
          <p:cNvPr id="42" name="Text 35"/>
          <p:cNvSpPr/>
          <p:nvPr/>
        </p:nvSpPr>
        <p:spPr>
          <a:xfrm>
            <a:off x="548640" y="16047720"/>
            <a:ext cx="5705856" cy="1371600"/>
          </a:xfrm>
          <a:prstGeom prst="rect">
            <a:avLst/>
          </a:prstGeom>
          <a:noFill/>
          <a:ln/>
        </p:spPr>
        <p:txBody>
          <a:bodyPr wrap="square" lIns="0" tIns="0" rIns="0" bIns="0" rtlCol="0" anchor="t"/>
          <a:lstStyle/>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 Google multispecies whale CNN and OrcAI (Icelandic fish-eating orcas) both produced high-confidence orca detections on MARS recordings.</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Both also confused orca calls with Pacific white-sided dolphin (Lagenorhynchus obliquidens) and other signals — confusion, not sensitivity, was the limiting factor.</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Their scores were still useful as a bootstrap, ranking candidate clips for the first round of expert labeling.</a:t>
            </a:r>
            <a:endParaRPr lang="en-US" sz="1150" dirty="0"/>
          </a:p>
        </p:txBody>
      </p:sp>
      <p:pic>
        <p:nvPicPr>
          <p:cNvPr id="43" name="Image 5" descr="poster_fig3_class_spectrograms.png">    </p:cNvPr>
          <p:cNvPicPr>
            <a:picLocks noChangeAspect="1"/>
          </p:cNvPicPr>
          <p:nvPr/>
        </p:nvPicPr>
        <p:blipFill>
          <a:blip r:embed="rId6"/>
          <a:stretch>
            <a:fillRect/>
          </a:stretch>
        </p:blipFill>
        <p:spPr>
          <a:xfrm>
            <a:off x="548640" y="17510760"/>
            <a:ext cx="5705856" cy="1458468"/>
          </a:xfrm>
          <a:prstGeom prst="rect">
            <a:avLst/>
          </a:prstGeom>
        </p:spPr>
      </p:pic>
      <p:sp>
        <p:nvSpPr>
          <p:cNvPr id="44" name="Text 36"/>
          <p:cNvSpPr/>
          <p:nvPr/>
        </p:nvSpPr>
        <p:spPr>
          <a:xfrm>
            <a:off x="548640" y="19019520"/>
            <a:ext cx="5705856" cy="77724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Mel-scale log-power spectrograms, one confirmed exemplar per class (5 s windows, v4 labels). All four share identical FFT parameters (2048-point FFT, 128 mel bands, 10 Hz–16 kHz) and one color scale, so brightness and detail are directly comparable. Orca and humpback song both carry tonal, harmonically stacked content in overlapping bands — which is why the classifier confuses them.</a:t>
            </a:r>
            <a:endParaRPr lang="en-US" sz="750" dirty="0"/>
          </a:p>
        </p:txBody>
      </p:sp>
      <p:sp>
        <p:nvSpPr>
          <p:cNvPr id="45" name="Shape 37"/>
          <p:cNvSpPr/>
          <p:nvPr/>
        </p:nvSpPr>
        <p:spPr>
          <a:xfrm>
            <a:off x="6803136" y="5577840"/>
            <a:ext cx="6254496" cy="9144000"/>
          </a:xfrm>
          <a:prstGeom prst="roundRect">
            <a:avLst>
              <a:gd name="adj" fmla="val 1316"/>
            </a:avLst>
          </a:prstGeom>
          <a:solidFill>
            <a:srgbClr val="EEF3F7"/>
          </a:solidFill>
          <a:ln w="12700">
            <a:solidFill>
              <a:srgbClr val="D8E2EA"/>
            </a:solidFill>
            <a:prstDash val="solid"/>
          </a:ln>
        </p:spPr>
      </p:sp>
      <p:sp>
        <p:nvSpPr>
          <p:cNvPr id="46" name="Shape 38"/>
          <p:cNvSpPr/>
          <p:nvPr/>
        </p:nvSpPr>
        <p:spPr>
          <a:xfrm>
            <a:off x="7031736" y="5806440"/>
            <a:ext cx="480060" cy="480060"/>
          </a:xfrm>
          <a:prstGeom prst="ellipse">
            <a:avLst/>
          </a:prstGeom>
          <a:solidFill>
            <a:srgbClr val="1C7293"/>
          </a:solidFill>
          <a:ln w="12700">
            <a:solidFill>
              <a:srgbClr val="1C7293"/>
            </a:solidFill>
            <a:prstDash val="solid"/>
          </a:ln>
        </p:spPr>
      </p:sp>
      <p:sp>
        <p:nvSpPr>
          <p:cNvPr id="47" name="Text 39"/>
          <p:cNvSpPr/>
          <p:nvPr/>
        </p:nvSpPr>
        <p:spPr>
          <a:xfrm>
            <a:off x="7031736"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48" name="Text 40"/>
          <p:cNvSpPr/>
          <p:nvPr/>
        </p:nvSpPr>
        <p:spPr>
          <a:xfrm>
            <a:off x="7603236"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Teaching a big model a new sound</a:t>
            </a:r>
            <a:endParaRPr lang="en-US" sz="1400" dirty="0"/>
          </a:p>
        </p:txBody>
      </p:sp>
      <p:sp>
        <p:nvSpPr>
          <p:cNvPr id="49" name="Text 41"/>
          <p:cNvSpPr/>
          <p:nvPr/>
        </p:nvSpPr>
        <p:spPr>
          <a:xfrm>
            <a:off x="7077456" y="6537960"/>
            <a:ext cx="5705856" cy="274320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Perch 2.0 is a pre-trained bioacoustics model. It turns each 5-second window into an embedding — a 1,536-number fingerprint of the sound. Similar sounds get similar fingerprints, so one labeled example retrieves others like it from the Hoplite database.</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 loop: search → label a handful of clips → refit a simple classifier on those fixed fingerprints (~30 s) → look at its mistakes → search again. The big model is never retrained.</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Enabling fix: per-window peak normalization to 0.25 before embedding — without it, quiet distant calls were unrecoverable.</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 classifier scores every window; higher means more orca-like. We keep scores above +1.16 rather than the software’s 0.0 default, with the cutoff chosen on months the model never trained on.</a:t>
            </a:r>
            <a:endParaRPr lang="en-US" sz="1100" dirty="0"/>
          </a:p>
        </p:txBody>
      </p:sp>
      <p:pic>
        <p:nvPicPr>
          <p:cNvPr id="50" name="Image 6" descr="oceans2026_fig2_agile_modeling_loop.png">    </p:cNvPr>
          <p:cNvPicPr>
            <a:picLocks noChangeAspect="1"/>
          </p:cNvPicPr>
          <p:nvPr/>
        </p:nvPicPr>
        <p:blipFill>
          <a:blip r:embed="rId7"/>
          <a:stretch>
            <a:fillRect/>
          </a:stretch>
        </p:blipFill>
        <p:spPr>
          <a:xfrm>
            <a:off x="7077456" y="9372600"/>
            <a:ext cx="5705856" cy="2098548"/>
          </a:xfrm>
          <a:prstGeom prst="rect">
            <a:avLst/>
          </a:prstGeom>
        </p:spPr>
      </p:pic>
      <p:pic>
        <p:nvPicPr>
          <p:cNvPr id="51" name="Image 7" descr="gradio_review_panel_crop.png">    </p:cNvPr>
          <p:cNvPicPr>
            <a:picLocks noChangeAspect="1"/>
          </p:cNvPicPr>
          <p:nvPr/>
        </p:nvPicPr>
        <p:blipFill>
          <a:blip r:embed="rId8"/>
          <a:stretch>
            <a:fillRect/>
          </a:stretch>
        </p:blipFill>
        <p:spPr>
          <a:xfrm>
            <a:off x="7077456" y="11612880"/>
            <a:ext cx="5705856" cy="2327148"/>
          </a:xfrm>
          <a:prstGeom prst="rect">
            <a:avLst/>
          </a:prstGeom>
        </p:spPr>
      </p:pic>
      <p:sp>
        <p:nvSpPr>
          <p:cNvPr id="52" name="Text 42"/>
          <p:cNvSpPr/>
          <p:nvPr/>
        </p:nvSpPr>
        <p:spPr>
          <a:xfrm>
            <a:off x="7077456" y="14013180"/>
            <a:ext cx="5705856" cy="64008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What one turn of the loop looks like: a 5-second candidate, its spectrogram and audio, and six one-click labels — orca_call, humpback_song, dolphin_call, ship_noise, other, unlabeled. This detection was surfaced by v4 on 23 April 2018 (MARS_20180423_225912, score 2.03) and confirmed orca by ear. Reviewers also see a 30 s context view, not shown.</a:t>
            </a:r>
            <a:endParaRPr lang="en-US" sz="750" dirty="0"/>
          </a:p>
        </p:txBody>
      </p:sp>
      <p:sp>
        <p:nvSpPr>
          <p:cNvPr id="53" name="Shape 43"/>
          <p:cNvSpPr/>
          <p:nvPr/>
        </p:nvSpPr>
        <p:spPr>
          <a:xfrm>
            <a:off x="6803136" y="14996160"/>
            <a:ext cx="6254496" cy="5760720"/>
          </a:xfrm>
          <a:prstGeom prst="roundRect">
            <a:avLst>
              <a:gd name="adj" fmla="val 1429"/>
            </a:avLst>
          </a:prstGeom>
          <a:solidFill>
            <a:srgbClr val="EEF3F7"/>
          </a:solidFill>
          <a:ln w="12700">
            <a:solidFill>
              <a:srgbClr val="D8E2EA"/>
            </a:solidFill>
            <a:prstDash val="solid"/>
          </a:ln>
        </p:spPr>
      </p:sp>
      <p:sp>
        <p:nvSpPr>
          <p:cNvPr id="54" name="Shape 44"/>
          <p:cNvSpPr/>
          <p:nvPr/>
        </p:nvSpPr>
        <p:spPr>
          <a:xfrm>
            <a:off x="7031736" y="15224760"/>
            <a:ext cx="480060" cy="480060"/>
          </a:xfrm>
          <a:prstGeom prst="ellipse">
            <a:avLst/>
          </a:prstGeom>
          <a:solidFill>
            <a:srgbClr val="1C7293"/>
          </a:solidFill>
          <a:ln w="12700">
            <a:solidFill>
              <a:srgbClr val="1C7293"/>
            </a:solidFill>
            <a:prstDash val="solid"/>
          </a:ln>
        </p:spPr>
      </p:sp>
      <p:sp>
        <p:nvSpPr>
          <p:cNvPr id="55" name="Text 45"/>
          <p:cNvSpPr/>
          <p:nvPr/>
        </p:nvSpPr>
        <p:spPr>
          <a:xfrm>
            <a:off x="7031736" y="1522476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56" name="Text 46"/>
          <p:cNvSpPr/>
          <p:nvPr/>
        </p:nvSpPr>
        <p:spPr>
          <a:xfrm>
            <a:off x="7603236" y="1515618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The classes separate</a:t>
            </a:r>
            <a:endParaRPr lang="en-US" sz="1400" dirty="0"/>
          </a:p>
        </p:txBody>
      </p:sp>
      <p:pic>
        <p:nvPicPr>
          <p:cNvPr id="57" name="Image 8" descr="tsne_apr2018_oct2020_apr2026_norm_dpi300.png">    </p:cNvPr>
          <p:cNvPicPr>
            <a:picLocks noChangeAspect="1"/>
          </p:cNvPicPr>
          <p:nvPr/>
        </p:nvPicPr>
        <p:blipFill>
          <a:blip r:embed="rId9"/>
          <a:stretch>
            <a:fillRect/>
          </a:stretch>
        </p:blipFill>
        <p:spPr>
          <a:xfrm>
            <a:off x="7735824" y="16002000"/>
            <a:ext cx="4389120" cy="3657600"/>
          </a:xfrm>
          <a:prstGeom prst="rect">
            <a:avLst/>
          </a:prstGeom>
        </p:spPr>
      </p:pic>
      <p:sp>
        <p:nvSpPr>
          <p:cNvPr id="58" name="Text 47"/>
          <p:cNvSpPr/>
          <p:nvPr/>
        </p:nvSpPr>
        <p:spPr>
          <a:xfrm>
            <a:off x="7077456" y="19705320"/>
            <a:ext cx="5705856" cy="96012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Each dot is one 5-second window, placed so that sounds the model hears as similar sit close together (t-SNE). 1,076 labeled windows, 6 classes, 3 seasons — the three the models trained on; May 2018 is held out and does not appear. The orca cluster holds across all three years, so the embeddings are separable across recording conditions and time. Where classes overlap, orca against humpback, is the same confusion the spectrogram row shows.</a:t>
            </a:r>
            <a:endParaRPr lang="en-US" sz="750" dirty="0"/>
          </a:p>
        </p:txBody>
      </p:sp>
      <p:sp>
        <p:nvSpPr>
          <p:cNvPr id="59" name="Shape 48"/>
          <p:cNvSpPr/>
          <p:nvPr/>
        </p:nvSpPr>
        <p:spPr>
          <a:xfrm>
            <a:off x="13331952" y="5577840"/>
            <a:ext cx="6254496" cy="6492240"/>
          </a:xfrm>
          <a:prstGeom prst="roundRect">
            <a:avLst>
              <a:gd name="adj" fmla="val 1316"/>
            </a:avLst>
          </a:prstGeom>
          <a:solidFill>
            <a:srgbClr val="EEF3F7"/>
          </a:solidFill>
          <a:ln w="12700">
            <a:solidFill>
              <a:srgbClr val="D8E2EA"/>
            </a:solidFill>
            <a:prstDash val="solid"/>
          </a:ln>
        </p:spPr>
      </p:sp>
      <p:sp>
        <p:nvSpPr>
          <p:cNvPr id="60" name="Shape 49"/>
          <p:cNvSpPr/>
          <p:nvPr/>
        </p:nvSpPr>
        <p:spPr>
          <a:xfrm>
            <a:off x="13560552" y="5806440"/>
            <a:ext cx="480060" cy="480060"/>
          </a:xfrm>
          <a:prstGeom prst="ellipse">
            <a:avLst/>
          </a:prstGeom>
          <a:solidFill>
            <a:srgbClr val="1C7293"/>
          </a:solidFill>
          <a:ln w="12700">
            <a:solidFill>
              <a:srgbClr val="1C7293"/>
            </a:solidFill>
            <a:prstDash val="solid"/>
          </a:ln>
        </p:spPr>
      </p:sp>
      <p:sp>
        <p:nvSpPr>
          <p:cNvPr id="61" name="Text 50"/>
          <p:cNvSpPr/>
          <p:nvPr/>
        </p:nvSpPr>
        <p:spPr>
          <a:xfrm>
            <a:off x="13560552"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62" name="Text 51"/>
          <p:cNvSpPr/>
          <p:nvPr/>
        </p:nvSpPr>
        <p:spPr>
          <a:xfrm>
            <a:off x="14132052"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v0 → v4: five labeling waves</a:t>
            </a:r>
            <a:endParaRPr lang="en-US" sz="1400" dirty="0"/>
          </a:p>
        </p:txBody>
      </p:sp>
      <p:sp>
        <p:nvSpPr>
          <p:cNvPr id="63" name="Text 52"/>
          <p:cNvSpPr/>
          <p:nvPr/>
        </p:nvSpPr>
        <p:spPr>
          <a:xfrm>
            <a:off x="13606272" y="6537960"/>
            <a:ext cx="5705856" cy="173736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v0 (584 labels, 5 classes) recovers the known 13 April 2018 event; v1 (+214) adds October 2020; v2 (+50) rebalances dolphin and other.</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v3 adds just 17 hard negatives — the detector’s own false alarms, labeled as counter-examples — and April-2026 false alarms fall 6,489 → 304. Eight more corrective labels produce v4, the model built in this walkthrough.</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Two further experiments degraded performance and are not presented here; detail in the project repository.</a:t>
            </a:r>
            <a:endParaRPr lang="en-US" sz="1100" dirty="0"/>
          </a:p>
        </p:txBody>
      </p:sp>
      <p:pic>
        <p:nvPicPr>
          <p:cNvPr id="64" name="Image 9" descr="oceans2026_fig3_classifier_trajectory.png">    </p:cNvPr>
          <p:cNvPicPr>
            <a:picLocks noChangeAspect="1"/>
          </p:cNvPicPr>
          <p:nvPr/>
        </p:nvPicPr>
        <p:blipFill>
          <a:blip r:embed="rId10"/>
          <a:stretch>
            <a:fillRect/>
          </a:stretch>
        </p:blipFill>
        <p:spPr>
          <a:xfrm>
            <a:off x="13606272" y="8366760"/>
            <a:ext cx="5705856" cy="2281428"/>
          </a:xfrm>
          <a:prstGeom prst="rect">
            <a:avLst/>
          </a:prstGeom>
        </p:spPr>
      </p:pic>
      <p:sp>
        <p:nvSpPr>
          <p:cNvPr id="65" name="Text 53"/>
          <p:cNvSpPr/>
          <p:nvPr/>
        </p:nvSpPr>
        <p:spPr>
          <a:xfrm>
            <a:off x="13606272" y="10698480"/>
            <a:ext cx="5705856" cy="64008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Before v0: four of those hours — nearly half the project’s total — went on hand review of April 2018 audio. Two 50-clip rounds settled orca-or-not, then three longer sessions worked 25 clips at a time to give dolphin and humpback their own classes, every humpback clip checked by John Ryan. Hence v0’s 584 labels.</a:t>
            </a:r>
            <a:endParaRPr lang="en-US" sz="750" dirty="0"/>
          </a:p>
        </p:txBody>
      </p:sp>
      <p:sp>
        <p:nvSpPr>
          <p:cNvPr id="66" name="Text 54"/>
          <p:cNvSpPr/>
          <p:nvPr/>
        </p:nvSpPr>
        <p:spPr>
          <a:xfrm>
            <a:off x="13606272" y="11338560"/>
            <a:ext cx="5705856" cy="685800"/>
          </a:xfrm>
          <a:prstGeom prst="rect">
            <a:avLst/>
          </a:prstGeom>
          <a:noFill/>
          <a:ln/>
        </p:spPr>
        <p:txBody>
          <a:bodyPr wrap="square" lIns="0" tIns="0" rIns="0" bIns="0" rtlCol="0" anchor="t"/>
          <a:lstStyle/>
          <a:p>
            <a:pPr indent="0" marL="0">
              <a:lnSpc>
                <a:spcPts val="850"/>
              </a:lnSpc>
              <a:buNone/>
            </a:pPr>
            <a:r>
              <a:rPr lang="en-US" sz="750" dirty="0">
                <a:solidFill>
                  <a:srgbClr val="132330"/>
                </a:solidFill>
                <a:latin typeface="Arial" pitchFamily="34" charset="0"/>
                <a:ea typeface="Arial" pitchFamily="34" charset="-122"/>
                <a:cs typeface="Arial" pitchFamily="34" charset="-120"/>
              </a:rPr>
              <a:t>The two scores above. ROC-AUC (receiver operating characteristic, area under the curve): how well the classifier ranks a true orca window above a non-orca one — 1.0 is perfect, 0.5 a coin flip. cmap (class mean average precision): the same question asked of each class across all thresholds, then averaged with equal weight, so a rare class counts as much as a common one. Because every class counts equally, weak classes pull it down — which is why it sits below ROC-AUC. Both are measured on held-out data. v4’s 0.959 and 0.830 are strong, and the point of this panel is that it reached them on 873 labels, not tens of thousands.</a:t>
            </a:r>
            <a:endParaRPr lang="en-US" sz="750" dirty="0"/>
          </a:p>
        </p:txBody>
      </p:sp>
      <p:sp>
        <p:nvSpPr>
          <p:cNvPr id="67" name="Shape 55"/>
          <p:cNvSpPr/>
          <p:nvPr/>
        </p:nvSpPr>
        <p:spPr>
          <a:xfrm>
            <a:off x="13331952" y="12344400"/>
            <a:ext cx="6254496" cy="8321040"/>
          </a:xfrm>
          <a:prstGeom prst="roundRect">
            <a:avLst>
              <a:gd name="adj" fmla="val 1316"/>
            </a:avLst>
          </a:prstGeom>
          <a:solidFill>
            <a:srgbClr val="EEF3F7"/>
          </a:solidFill>
          <a:ln w="12700">
            <a:solidFill>
              <a:srgbClr val="D8E2EA"/>
            </a:solidFill>
            <a:prstDash val="solid"/>
          </a:ln>
        </p:spPr>
      </p:sp>
      <p:sp>
        <p:nvSpPr>
          <p:cNvPr id="68" name="Shape 56"/>
          <p:cNvSpPr/>
          <p:nvPr/>
        </p:nvSpPr>
        <p:spPr>
          <a:xfrm>
            <a:off x="13560552" y="12573000"/>
            <a:ext cx="480060" cy="480060"/>
          </a:xfrm>
          <a:prstGeom prst="ellipse">
            <a:avLst/>
          </a:prstGeom>
          <a:solidFill>
            <a:srgbClr val="1C7293"/>
          </a:solidFill>
          <a:ln w="12700">
            <a:solidFill>
              <a:srgbClr val="1C7293"/>
            </a:solidFill>
            <a:prstDash val="solid"/>
          </a:ln>
        </p:spPr>
      </p:sp>
      <p:sp>
        <p:nvSpPr>
          <p:cNvPr id="69" name="Text 57"/>
          <p:cNvSpPr/>
          <p:nvPr/>
        </p:nvSpPr>
        <p:spPr>
          <a:xfrm>
            <a:off x="13560552" y="1257300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70" name="Text 58"/>
          <p:cNvSpPr/>
          <p:nvPr/>
        </p:nvSpPr>
        <p:spPr>
          <a:xfrm>
            <a:off x="14132052" y="1250442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Spring 2018 was not one encounter</a:t>
            </a:r>
            <a:endParaRPr lang="en-US" sz="1400" dirty="0"/>
          </a:p>
        </p:txBody>
      </p:sp>
      <p:sp>
        <p:nvSpPr>
          <p:cNvPr id="71" name="Text 59"/>
          <p:cNvSpPr/>
          <p:nvPr/>
        </p:nvSpPr>
        <p:spPr>
          <a:xfrm>
            <a:off x="13606272" y="13304520"/>
            <a:ext cx="5705856" cy="3931920"/>
          </a:xfrm>
          <a:prstGeom prst="rect">
            <a:avLst/>
          </a:prstGeom>
          <a:noFill/>
          <a:ln/>
        </p:spPr>
        <p:txBody>
          <a:bodyPr wrap="square" lIns="0" tIns="0" rIns="0" bIns="0" rtlCol="0" anchor="t"/>
          <a:lstStyle/>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Previously known: a single Bigg’s orca event on 13 April 2018.</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Above our score cutoff, v4 also flagged 18 April (173 detections), 21 April (25) and 25 April (60). Listening to 25, 25 and 50 of those clips confirmed all 100 as orca, with no false alarms. All 58 detections on 23 and 24 April were then reviewed as well: 55 orca, two humpback, one left unlabeled.</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May 2018: 12 May confirmed 181/181; 13 May gives 8 confirmed orca clips on full review, and 14 and 16 May are confirmed too.</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Neither v4 nor orca_v10 has trained on May 2018 recordings — these are detections in a month the presented models have never seen.</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Ten confirmed orca days across the two months from v4 alone — sustained Bigg’s presence, not one encounter.</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Two independent methods agree: regional news and whale-watch reports described record orca sightings that spring, and identified two pods — one Alaskan, one Californian (the CA140 matriline).</a:t>
            </a:r>
            <a:endParaRPr lang="en-US" sz="1150" dirty="0"/>
          </a:p>
        </p:txBody>
      </p:sp>
      <p:pic>
        <p:nvPicPr>
          <p:cNvPr id="72" name="Image 10" descr="oceans2026_fig4_calendar_apr_may_2018.png">    </p:cNvPr>
          <p:cNvPicPr>
            <a:picLocks noChangeAspect="1"/>
          </p:cNvPicPr>
          <p:nvPr/>
        </p:nvPicPr>
        <p:blipFill>
          <a:blip r:embed="rId11"/>
          <a:stretch>
            <a:fillRect/>
          </a:stretch>
        </p:blipFill>
        <p:spPr>
          <a:xfrm>
            <a:off x="13606272" y="17327880"/>
            <a:ext cx="5705856" cy="2345436"/>
          </a:xfrm>
          <a:prstGeom prst="rect">
            <a:avLst/>
          </a:prstGeom>
        </p:spPr>
      </p:pic>
      <p:sp>
        <p:nvSpPr>
          <p:cNvPr id="73" name="Text 60"/>
          <p:cNvSpPr/>
          <p:nvPr/>
        </p:nvSpPr>
        <p:spPr>
          <a:xfrm>
            <a:off x="13606272" y="19728180"/>
            <a:ext cx="5705856" cy="86868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Every day marked confirmed has been listened to. Bars show detections above the cutoff, and days differ in weight: 12 May rests on 181 reviewed clips. 13 May’s single bar understates it — seven further confirmed orca clips sit below the cutoff. Ten days are confirmed under v4. The four hollow triangles are days only v10 found — 2, 3, 7 and 29 May — marked rather than drawn as bars, because v4 had almost no detections there to plot. Fourteen days in all; see panel 10.</a:t>
            </a:r>
            <a:endParaRPr lang="en-US" sz="750" dirty="0"/>
          </a:p>
        </p:txBody>
      </p:sp>
      <p:sp>
        <p:nvSpPr>
          <p:cNvPr id="74" name="Shape 61"/>
          <p:cNvSpPr/>
          <p:nvPr/>
        </p:nvSpPr>
        <p:spPr>
          <a:xfrm>
            <a:off x="19860768" y="5577840"/>
            <a:ext cx="6254496" cy="7132320"/>
          </a:xfrm>
          <a:prstGeom prst="roundRect">
            <a:avLst>
              <a:gd name="adj" fmla="val 1316"/>
            </a:avLst>
          </a:prstGeom>
          <a:solidFill>
            <a:srgbClr val="EEF3F7"/>
          </a:solidFill>
          <a:ln w="12700">
            <a:solidFill>
              <a:srgbClr val="D8E2EA"/>
            </a:solidFill>
            <a:prstDash val="solid"/>
          </a:ln>
        </p:spPr>
      </p:sp>
      <p:sp>
        <p:nvSpPr>
          <p:cNvPr id="75" name="Shape 62"/>
          <p:cNvSpPr/>
          <p:nvPr/>
        </p:nvSpPr>
        <p:spPr>
          <a:xfrm>
            <a:off x="20089368" y="5806440"/>
            <a:ext cx="480060" cy="480060"/>
          </a:xfrm>
          <a:prstGeom prst="ellipse">
            <a:avLst/>
          </a:prstGeom>
          <a:solidFill>
            <a:srgbClr val="1C7293"/>
          </a:solidFill>
          <a:ln w="12700">
            <a:solidFill>
              <a:srgbClr val="1C7293"/>
            </a:solidFill>
            <a:prstDash val="solid"/>
          </a:ln>
        </p:spPr>
      </p:sp>
      <p:sp>
        <p:nvSpPr>
          <p:cNvPr id="76" name="Text 63"/>
          <p:cNvSpPr/>
          <p:nvPr/>
        </p:nvSpPr>
        <p:spPr>
          <a:xfrm>
            <a:off x="20089368"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77" name="Text 64"/>
          <p:cNvSpPr/>
          <p:nvPr/>
        </p:nvSpPr>
        <p:spPr>
          <a:xfrm>
            <a:off x="20660868"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Structure between encounters</a:t>
            </a:r>
            <a:endParaRPr lang="en-US" sz="1400" dirty="0"/>
          </a:p>
        </p:txBody>
      </p:sp>
      <p:pic>
        <p:nvPicPr>
          <p:cNvPr id="78" name="Image 11" descr="tsne_orca_by_day_4days_px30_pres_dpi300.png">    </p:cNvPr>
          <p:cNvPicPr>
            <a:picLocks noChangeAspect="1"/>
          </p:cNvPicPr>
          <p:nvPr/>
        </p:nvPicPr>
        <p:blipFill>
          <a:blip r:embed="rId12"/>
          <a:stretch>
            <a:fillRect/>
          </a:stretch>
        </p:blipFill>
        <p:spPr>
          <a:xfrm>
            <a:off x="20135088" y="6583680"/>
            <a:ext cx="5705856" cy="3781044"/>
          </a:xfrm>
          <a:prstGeom prst="rect">
            <a:avLst/>
          </a:prstGeom>
        </p:spPr>
      </p:pic>
      <p:sp>
        <p:nvSpPr>
          <p:cNvPr id="79" name="Text 65"/>
          <p:cNvSpPr/>
          <p:nvPr/>
        </p:nvSpPr>
        <p:spPr>
          <a:xfrm>
            <a:off x="20135088" y="10424160"/>
            <a:ext cx="5705856" cy="91440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Zooming inside the orca cluster: 473 confirmed orca windows, colored by day. The 25 April evening encounter (purple) sits apart from the 13 April morning event (blue), and 12 May holds its own region a month later. The classes separate in the map at left — and within orca, encounters do too. Exploratory; perplexity 30.</a:t>
            </a:r>
            <a:endParaRPr lang="en-US" sz="750" dirty="0"/>
          </a:p>
        </p:txBody>
      </p:sp>
      <p:sp>
        <p:nvSpPr>
          <p:cNvPr id="80" name="Text 66"/>
          <p:cNvSpPr/>
          <p:nvPr/>
        </p:nvSpPr>
        <p:spPr>
          <a:xfrm>
            <a:off x="20135088" y="11430000"/>
            <a:ext cx="5705856" cy="118872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 split holds however the map is drawn (three t-SNE settings) and is not an artifact of one recording or one passing vessel.</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Two pods were documented in the bay that spring; the two clusters are consistent with, not proof of, that pairing.</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 fingerprints behave like an instrument — they raise testable questions about who was calling.</a:t>
            </a:r>
            <a:endParaRPr lang="en-US" sz="1100" dirty="0"/>
          </a:p>
        </p:txBody>
      </p:sp>
      <p:sp>
        <p:nvSpPr>
          <p:cNvPr id="81" name="Shape 67"/>
          <p:cNvSpPr/>
          <p:nvPr/>
        </p:nvSpPr>
        <p:spPr>
          <a:xfrm>
            <a:off x="19860768" y="12984480"/>
            <a:ext cx="6254496" cy="4389120"/>
          </a:xfrm>
          <a:prstGeom prst="roundRect">
            <a:avLst>
              <a:gd name="adj" fmla="val 1875"/>
            </a:avLst>
          </a:prstGeom>
          <a:solidFill>
            <a:srgbClr val="EEF3F7"/>
          </a:solidFill>
          <a:ln w="12700">
            <a:solidFill>
              <a:srgbClr val="D8E2EA"/>
            </a:solidFill>
            <a:prstDash val="solid"/>
          </a:ln>
        </p:spPr>
      </p:sp>
      <p:sp>
        <p:nvSpPr>
          <p:cNvPr id="82" name="Shape 68"/>
          <p:cNvSpPr/>
          <p:nvPr/>
        </p:nvSpPr>
        <p:spPr>
          <a:xfrm>
            <a:off x="20089368" y="13213080"/>
            <a:ext cx="480060" cy="480060"/>
          </a:xfrm>
          <a:prstGeom prst="ellipse">
            <a:avLst/>
          </a:prstGeom>
          <a:solidFill>
            <a:srgbClr val="1C7293"/>
          </a:solidFill>
          <a:ln w="12700">
            <a:solidFill>
              <a:srgbClr val="1C7293"/>
            </a:solidFill>
            <a:prstDash val="solid"/>
          </a:ln>
        </p:spPr>
      </p:sp>
      <p:sp>
        <p:nvSpPr>
          <p:cNvPr id="83" name="Text 69"/>
          <p:cNvSpPr/>
          <p:nvPr/>
        </p:nvSpPr>
        <p:spPr>
          <a:xfrm>
            <a:off x="20089368" y="1321308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9</a:t>
            </a:r>
            <a:endParaRPr lang="en-US" sz="1400" dirty="0"/>
          </a:p>
        </p:txBody>
      </p:sp>
      <p:sp>
        <p:nvSpPr>
          <p:cNvPr id="84" name="Text 70"/>
          <p:cNvSpPr/>
          <p:nvPr/>
        </p:nvSpPr>
        <p:spPr>
          <a:xfrm>
            <a:off x="20660868" y="1314450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Seen but not heard</a:t>
            </a:r>
            <a:endParaRPr lang="en-US" sz="1400" dirty="0"/>
          </a:p>
        </p:txBody>
      </p:sp>
      <p:pic>
        <p:nvPicPr>
          <p:cNvPr id="85" name="Image 12" descr="oceans2026_fig8_threshold_sweep_v4.png">    </p:cNvPr>
          <p:cNvPicPr>
            <a:picLocks noChangeAspect="1"/>
          </p:cNvPicPr>
          <p:nvPr/>
        </p:nvPicPr>
        <p:blipFill>
          <a:blip r:embed="rId13"/>
          <a:stretch>
            <a:fillRect/>
          </a:stretch>
        </p:blipFill>
        <p:spPr>
          <a:xfrm>
            <a:off x="20135088" y="14036040"/>
            <a:ext cx="5705856" cy="1636776"/>
          </a:xfrm>
          <a:prstGeom prst="rect">
            <a:avLst/>
          </a:prstGeom>
        </p:spPr>
      </p:pic>
      <p:sp>
        <p:nvSpPr>
          <p:cNvPr id="86" name="Text 71"/>
          <p:cNvSpPr/>
          <p:nvPr/>
        </p:nvSpPr>
        <p:spPr>
          <a:xfrm>
            <a:off x="20135088" y="15773400"/>
            <a:ext cx="5705856" cy="1508760"/>
          </a:xfrm>
          <a:prstGeom prst="rect">
            <a:avLst/>
          </a:prstGeom>
          <a:noFill/>
          <a:ln/>
        </p:spPr>
        <p:txBody>
          <a:bodyPr wrap="square" lIns="0" tIns="0" rIns="0" bIns="0" rtlCol="0" anchor="t"/>
          <a:lstStyle/>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Two months where orcas were seen from boats but never heard: October 2020 and April 2026.</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Every October 2020 detection above our cutoff was listened to, and every one was humpback — false alarms, not missed orca.</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Bigg’s orcas are often silent while hunting, so seen-but-not-heard is a real outcome, not a broken detector. Both months now serve as a standing test that the detector stays quiet when it should.</a:t>
            </a:r>
            <a:endParaRPr lang="en-US" sz="1050" dirty="0"/>
          </a:p>
        </p:txBody>
      </p:sp>
      <p:sp>
        <p:nvSpPr>
          <p:cNvPr id="87" name="Shape 72"/>
          <p:cNvSpPr/>
          <p:nvPr/>
        </p:nvSpPr>
        <p:spPr>
          <a:xfrm>
            <a:off x="26389584" y="5577840"/>
            <a:ext cx="6254496" cy="6126480"/>
          </a:xfrm>
          <a:prstGeom prst="roundRect">
            <a:avLst>
              <a:gd name="adj" fmla="val 1343"/>
            </a:avLst>
          </a:prstGeom>
          <a:solidFill>
            <a:srgbClr val="EEF3F7"/>
          </a:solidFill>
          <a:ln w="12700">
            <a:solidFill>
              <a:srgbClr val="D8E2EA"/>
            </a:solidFill>
            <a:prstDash val="solid"/>
          </a:ln>
        </p:spPr>
      </p:sp>
      <p:sp>
        <p:nvSpPr>
          <p:cNvPr id="88" name="Shape 73"/>
          <p:cNvSpPr/>
          <p:nvPr/>
        </p:nvSpPr>
        <p:spPr>
          <a:xfrm>
            <a:off x="26618184" y="5806440"/>
            <a:ext cx="480060" cy="480060"/>
          </a:xfrm>
          <a:prstGeom prst="ellipse">
            <a:avLst/>
          </a:prstGeom>
          <a:solidFill>
            <a:srgbClr val="1C7293"/>
          </a:solidFill>
          <a:ln w="12700">
            <a:solidFill>
              <a:srgbClr val="1C7293"/>
            </a:solidFill>
            <a:prstDash val="solid"/>
          </a:ln>
        </p:spPr>
      </p:sp>
      <p:sp>
        <p:nvSpPr>
          <p:cNvPr id="89" name="Text 74"/>
          <p:cNvSpPr/>
          <p:nvPr/>
        </p:nvSpPr>
        <p:spPr>
          <a:xfrm>
            <a:off x="26618184"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10</a:t>
            </a:r>
            <a:endParaRPr lang="en-US" sz="1400" dirty="0"/>
          </a:p>
        </p:txBody>
      </p:sp>
      <p:sp>
        <p:nvSpPr>
          <p:cNvPr id="90" name="Text 75"/>
          <p:cNvSpPr/>
          <p:nvPr/>
        </p:nvSpPr>
        <p:spPr>
          <a:xfrm>
            <a:off x="27189684"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Running the loop again</a:t>
            </a:r>
            <a:endParaRPr lang="en-US" sz="1400" dirty="0"/>
          </a:p>
        </p:txBody>
      </p:sp>
      <p:sp>
        <p:nvSpPr>
          <p:cNvPr id="91" name="Text 76"/>
          <p:cNvSpPr/>
          <p:nvPr/>
        </p:nvSpPr>
        <p:spPr>
          <a:xfrm>
            <a:off x="26663904" y="6515100"/>
            <a:ext cx="5705856" cy="411480"/>
          </a:xfrm>
          <a:prstGeom prst="rect">
            <a:avLst/>
          </a:prstGeom>
          <a:noFill/>
          <a:ln/>
        </p:spPr>
        <p:txBody>
          <a:bodyPr wrap="square" lIns="0" tIns="0" rIns="0" bIns="0" rtlCol="0" anchor="t"/>
          <a:lstStyle/>
          <a:p>
            <a:pPr indent="0" marL="0">
              <a:lnSpc>
                <a:spcPts val="1100"/>
              </a:lnSpc>
              <a:buNone/>
            </a:pPr>
            <a:r>
              <a:rPr lang="en-US" sz="950" dirty="0">
                <a:solidFill>
                  <a:srgbClr val="132330"/>
                </a:solidFill>
                <a:latin typeface="Arial" pitchFamily="34" charset="0"/>
                <a:ea typeface="Arial" pitchFamily="34" charset="-122"/>
                <a:cs typeface="Arial" pitchFamily="34" charset="-120"/>
              </a:rPr>
              <a:t>One more turn of the loop, on more labels, produced a second classifier — orca_v10. May 2018 is the referee: neither it nor v4 has ever trained on that month.</a:t>
            </a:r>
            <a:endParaRPr lang="en-US" sz="950" dirty="0"/>
          </a:p>
        </p:txBody>
      </p:sp>
      <p:pic>
        <p:nvPicPr>
          <p:cNvPr id="92" name="Image 13" descr="oceans2026_fig10_v10_holdout.png">    </p:cNvPr>
          <p:cNvPicPr>
            <a:picLocks noChangeAspect="1"/>
          </p:cNvPicPr>
          <p:nvPr/>
        </p:nvPicPr>
        <p:blipFill>
          <a:blip r:embed="rId14"/>
          <a:stretch>
            <a:fillRect/>
          </a:stretch>
        </p:blipFill>
        <p:spPr>
          <a:xfrm>
            <a:off x="26663904" y="7086600"/>
            <a:ext cx="5705856" cy="1463040"/>
          </a:xfrm>
          <a:prstGeom prst="rect">
            <a:avLst/>
          </a:prstGeom>
        </p:spPr>
      </p:pic>
      <p:sp>
        <p:nvSpPr>
          <p:cNvPr id="93" name="Text 77"/>
          <p:cNvSpPr/>
          <p:nvPr/>
        </p:nvSpPr>
        <p:spPr>
          <a:xfrm>
            <a:off x="26663904" y="8686800"/>
            <a:ext cx="5705856" cy="2834640"/>
          </a:xfrm>
          <a:prstGeom prst="rect">
            <a:avLst/>
          </a:prstGeom>
          <a:noFill/>
          <a:ln/>
        </p:spPr>
        <p:txBody>
          <a:bodyPr wrap="square" lIns="0" tIns="0" rIns="0" bIns="0" rtlCol="0" anchor="t"/>
          <a:lstStyle/>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Across the 196 ear-confirmed orca windows in May, v10 scores higher than v4 on 192 of the 195 they share.</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Of v10’s above-threshold detections not already confirmed, all 14 were reviewed by ear and all 14 were orca — no false alarms among those reviewed. May is not exhaustively labeled, so this is not a month-wide false-alarm rate.</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Four fell on days never previously confirmed — 2, 3, 7 and 29 May. May’s confirmed orca days go from four to eight, and the ten days in panel 7 become fourteen.</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The loop does not just produce a detector. Each turn produces a measurably better one.</a:t>
            </a:r>
            <a:endParaRPr lang="en-US" sz="1000" dirty="0"/>
          </a:p>
        </p:txBody>
      </p:sp>
      <p:sp>
        <p:nvSpPr>
          <p:cNvPr id="94" name="Shape 78"/>
          <p:cNvSpPr/>
          <p:nvPr/>
        </p:nvSpPr>
        <p:spPr>
          <a:xfrm>
            <a:off x="26389584" y="11978640"/>
            <a:ext cx="6254496" cy="4389120"/>
          </a:xfrm>
          <a:prstGeom prst="roundRect">
            <a:avLst>
              <a:gd name="adj" fmla="val 1875"/>
            </a:avLst>
          </a:prstGeom>
          <a:solidFill>
            <a:srgbClr val="EEF3F7"/>
          </a:solidFill>
          <a:ln w="12700">
            <a:solidFill>
              <a:srgbClr val="D8E2EA"/>
            </a:solidFill>
            <a:prstDash val="solid"/>
          </a:ln>
        </p:spPr>
      </p:sp>
      <p:sp>
        <p:nvSpPr>
          <p:cNvPr id="95" name="Shape 79"/>
          <p:cNvSpPr/>
          <p:nvPr/>
        </p:nvSpPr>
        <p:spPr>
          <a:xfrm>
            <a:off x="26618184" y="12207240"/>
            <a:ext cx="480060" cy="480060"/>
          </a:xfrm>
          <a:prstGeom prst="ellipse">
            <a:avLst/>
          </a:prstGeom>
          <a:solidFill>
            <a:srgbClr val="1C7293"/>
          </a:solidFill>
          <a:ln w="12700">
            <a:solidFill>
              <a:srgbClr val="1C7293"/>
            </a:solidFill>
            <a:prstDash val="solid"/>
          </a:ln>
        </p:spPr>
      </p:sp>
      <p:sp>
        <p:nvSpPr>
          <p:cNvPr id="96" name="Text 80"/>
          <p:cNvSpPr/>
          <p:nvPr/>
        </p:nvSpPr>
        <p:spPr>
          <a:xfrm>
            <a:off x="26618184" y="122072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11</a:t>
            </a:r>
            <a:endParaRPr lang="en-US" sz="1400" dirty="0"/>
          </a:p>
        </p:txBody>
      </p:sp>
      <p:sp>
        <p:nvSpPr>
          <p:cNvPr id="97" name="Text 81"/>
          <p:cNvSpPr/>
          <p:nvPr/>
        </p:nvSpPr>
        <p:spPr>
          <a:xfrm>
            <a:off x="27189684" y="121386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Measured limits</a:t>
            </a:r>
            <a:endParaRPr lang="en-US" sz="1400" dirty="0"/>
          </a:p>
        </p:txBody>
      </p:sp>
      <p:sp>
        <p:nvSpPr>
          <p:cNvPr id="98" name="Text 82"/>
          <p:cNvSpPr/>
          <p:nvPr/>
        </p:nvSpPr>
        <p:spPr>
          <a:xfrm>
            <a:off x="26663904" y="12915900"/>
            <a:ext cx="5705856" cy="365760"/>
          </a:xfrm>
          <a:prstGeom prst="rect">
            <a:avLst/>
          </a:prstGeom>
          <a:noFill/>
          <a:ln/>
        </p:spPr>
        <p:txBody>
          <a:bodyPr wrap="square" lIns="0" tIns="0" rIns="0" bIns="0" rtlCol="0" anchor="t"/>
          <a:lstStyle/>
          <a:p>
            <a:pPr indent="0" marL="0">
              <a:lnSpc>
                <a:spcPts val="950"/>
              </a:lnSpc>
              <a:buNone/>
            </a:pPr>
            <a:r>
              <a:rPr lang="en-US" sz="800" i="1" dirty="0">
                <a:solidFill>
                  <a:srgbClr val="4A5C6A"/>
                </a:solidFill>
                <a:latin typeface="Arial" pitchFamily="34" charset="0"/>
                <a:ea typeface="Arial" pitchFamily="34" charset="-122"/>
                <a:cs typeface="Arial" pitchFamily="34" charset="-120"/>
              </a:rPr>
              <a:t>Per-class scores for orca_v10, on 459 held-out windows. Each class has its own cutoff.</a:t>
            </a:r>
            <a:endParaRPr lang="en-US" sz="800" dirty="0"/>
          </a:p>
        </p:txBody>
      </p:sp>
      <p:pic>
        <p:nvPicPr>
          <p:cNvPr id="99" name="Image 14" descr="oceans2026_fig9_per_class_f1_v4.png">    </p:cNvPr>
          <p:cNvPicPr>
            <a:picLocks noChangeAspect="1"/>
          </p:cNvPicPr>
          <p:nvPr/>
        </p:nvPicPr>
        <p:blipFill>
          <a:blip r:embed="rId15"/>
          <a:stretch>
            <a:fillRect/>
          </a:stretch>
        </p:blipFill>
        <p:spPr>
          <a:xfrm>
            <a:off x="26663904" y="13350240"/>
            <a:ext cx="5705856" cy="1495044"/>
          </a:xfrm>
          <a:prstGeom prst="rect">
            <a:avLst/>
          </a:prstGeom>
        </p:spPr>
      </p:pic>
      <p:sp>
        <p:nvSpPr>
          <p:cNvPr id="100" name="Text 83"/>
          <p:cNvSpPr/>
          <p:nvPr/>
        </p:nvSpPr>
        <p:spPr>
          <a:xfrm>
            <a:off x="26663904" y="14950440"/>
            <a:ext cx="5705856" cy="1325880"/>
          </a:xfrm>
          <a:prstGeom prst="rect">
            <a:avLst/>
          </a:prstGeom>
          <a:noFill/>
          <a:ln/>
        </p:spPr>
        <p:txBody>
          <a:bodyPr wrap="square" lIns="0" tIns="0" rIns="0" bIns="0" rtlCol="0" anchor="t"/>
          <a:lstStyle/>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Each class needs its own cutoff — the best values run from +0.79 to +2.31, so one global setting cannot serve them all. v10’s orca cutoff of +2.31 is its own optimum, not a correction to the +1.16 used with v4 elsewhere here.</a:t>
            </a:r>
            <a:endParaRPr lang="en-US" sz="950" dirty="0"/>
          </a:p>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Cutoffs are set on months the model did not train on, never on the month being analyzed.</a:t>
            </a:r>
            <a:endParaRPr lang="en-US" sz="950" dirty="0"/>
          </a:p>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Whale-watch vessels arrive once orcas are sighted, so ship noise tracks orca presence — it can never be evidence of absence.</a:t>
            </a:r>
            <a:endParaRPr lang="en-US" sz="950" dirty="0"/>
          </a:p>
        </p:txBody>
      </p:sp>
      <p:sp>
        <p:nvSpPr>
          <p:cNvPr id="101" name="Shape 84"/>
          <p:cNvSpPr/>
          <p:nvPr/>
        </p:nvSpPr>
        <p:spPr>
          <a:xfrm>
            <a:off x="26389584" y="16642080"/>
            <a:ext cx="6254496" cy="3749040"/>
          </a:xfrm>
          <a:prstGeom prst="roundRect">
            <a:avLst>
              <a:gd name="adj" fmla="val 2195"/>
            </a:avLst>
          </a:prstGeom>
          <a:solidFill>
            <a:srgbClr val="EEF3F7"/>
          </a:solidFill>
          <a:ln w="12700">
            <a:solidFill>
              <a:srgbClr val="D8E2EA"/>
            </a:solidFill>
            <a:prstDash val="solid"/>
          </a:ln>
        </p:spPr>
      </p:sp>
      <p:sp>
        <p:nvSpPr>
          <p:cNvPr id="102" name="Shape 85"/>
          <p:cNvSpPr/>
          <p:nvPr/>
        </p:nvSpPr>
        <p:spPr>
          <a:xfrm>
            <a:off x="26618184" y="16870680"/>
            <a:ext cx="480060" cy="480060"/>
          </a:xfrm>
          <a:prstGeom prst="ellipse">
            <a:avLst/>
          </a:prstGeom>
          <a:solidFill>
            <a:srgbClr val="1C7293"/>
          </a:solidFill>
          <a:ln w="12700">
            <a:solidFill>
              <a:srgbClr val="1C7293"/>
            </a:solidFill>
            <a:prstDash val="solid"/>
          </a:ln>
        </p:spPr>
      </p:sp>
      <p:sp>
        <p:nvSpPr>
          <p:cNvPr id="103" name="Text 86"/>
          <p:cNvSpPr/>
          <p:nvPr/>
        </p:nvSpPr>
        <p:spPr>
          <a:xfrm>
            <a:off x="26618184" y="1687068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12</a:t>
            </a:r>
            <a:endParaRPr lang="en-US" sz="1400" dirty="0"/>
          </a:p>
        </p:txBody>
      </p:sp>
      <p:sp>
        <p:nvSpPr>
          <p:cNvPr id="104" name="Text 87"/>
          <p:cNvSpPr/>
          <p:nvPr/>
        </p:nvSpPr>
        <p:spPr>
          <a:xfrm>
            <a:off x="27189684" y="1680210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Next</a:t>
            </a:r>
            <a:endParaRPr lang="en-US" sz="1400" dirty="0"/>
          </a:p>
        </p:txBody>
      </p:sp>
      <p:sp>
        <p:nvSpPr>
          <p:cNvPr id="105" name="Text 88"/>
          <p:cNvSpPr/>
          <p:nvPr/>
        </p:nvSpPr>
        <p:spPr>
          <a:xfrm>
            <a:off x="26663904" y="17602200"/>
            <a:ext cx="5705856" cy="1097280"/>
          </a:xfrm>
          <a:prstGeom prst="rect">
            <a:avLst/>
          </a:prstGeom>
          <a:noFill/>
          <a:ln/>
        </p:spPr>
        <p:txBody>
          <a:bodyPr wrap="square" lIns="0" tIns="0" rIns="0" bIns="0" rtlCol="0" anchor="t"/>
          <a:lstStyle/>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Humpback vocalization is one broad class covering song and a wide range of other calls. Separating them is the likeliest route to lifting the weakest scores here.</a:t>
            </a:r>
            <a:endParaRPr lang="en-US" sz="950" dirty="0"/>
          </a:p>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Each of the two would then need its own score cutoff, as every class already has.</a:t>
            </a:r>
            <a:endParaRPr lang="en-US" sz="950" dirty="0"/>
          </a:p>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Extending to the Southern Resident and Offshore ecotypes.</a:t>
            </a:r>
            <a:endParaRPr lang="en-US" sz="950" dirty="0"/>
          </a:p>
        </p:txBody>
      </p:sp>
      <p:sp>
        <p:nvSpPr>
          <p:cNvPr id="106" name="Text 89"/>
          <p:cNvSpPr/>
          <p:nvPr/>
        </p:nvSpPr>
        <p:spPr>
          <a:xfrm>
            <a:off x="26663904" y="18745200"/>
            <a:ext cx="5705856" cy="228600"/>
          </a:xfrm>
          <a:prstGeom prst="rect">
            <a:avLst/>
          </a:prstGeom>
          <a:noFill/>
          <a:ln/>
        </p:spPr>
        <p:txBody>
          <a:bodyPr wrap="square" lIns="0" tIns="0" rIns="0" bIns="0" rtlCol="0" anchor="ctr"/>
          <a:lstStyle/>
          <a:p>
            <a:pPr indent="0" marL="0">
              <a:buNone/>
            </a:pPr>
            <a:r>
              <a:rPr lang="en-US" sz="1000" b="1" dirty="0">
                <a:solidFill>
                  <a:srgbClr val="0B2545"/>
                </a:solidFill>
                <a:latin typeface="Cambria" pitchFamily="34" charset="0"/>
                <a:ea typeface="Cambria" pitchFamily="34" charset="-122"/>
                <a:cs typeface="Cambria" pitchFamily="34" charset="-120"/>
              </a:rPr>
              <a:t>Acknowledgements</a:t>
            </a:r>
            <a:endParaRPr lang="en-US" sz="1000" dirty="0"/>
          </a:p>
        </p:txBody>
      </p:sp>
      <p:sp>
        <p:nvSpPr>
          <p:cNvPr id="107" name="Text 90"/>
          <p:cNvSpPr/>
          <p:nvPr/>
        </p:nvSpPr>
        <p:spPr>
          <a:xfrm>
            <a:off x="26663904" y="18973800"/>
            <a:ext cx="5705856" cy="548640"/>
          </a:xfrm>
          <a:prstGeom prst="rect">
            <a:avLst/>
          </a:prstGeom>
          <a:noFill/>
          <a:ln/>
        </p:spPr>
        <p:txBody>
          <a:bodyPr wrap="square" lIns="0" tIns="0" rIns="0" bIns="0" rtlCol="0" anchor="t"/>
          <a:lstStyle/>
          <a:p>
            <a:pPr indent="0" marL="0">
              <a:lnSpc>
                <a:spcPts val="850"/>
              </a:lnSpc>
              <a:buNone/>
            </a:pPr>
            <a:r>
              <a:rPr lang="en-US" sz="750" dirty="0">
                <a:solidFill>
                  <a:srgbClr val="4A5C6A"/>
                </a:solidFill>
                <a:latin typeface="Arial" pitchFamily="34" charset="0"/>
                <a:ea typeface="Arial" pitchFamily="34" charset="-122"/>
                <a:cs typeface="Arial" pitchFamily="34" charset="-120"/>
              </a:rPr>
              <a:t>MARS is operated by MBARI with support from the David and Lucile Packard Foundation. Visual sighting context from the California Killer Whale Project and Monterey Bay vessel reports.</a:t>
            </a:r>
            <a:endParaRPr lang="en-US" sz="750" dirty="0"/>
          </a:p>
        </p:txBody>
      </p:sp>
      <p:sp>
        <p:nvSpPr>
          <p:cNvPr id="108" name="Text 91"/>
          <p:cNvSpPr/>
          <p:nvPr/>
        </p:nvSpPr>
        <p:spPr>
          <a:xfrm>
            <a:off x="26663904" y="19476720"/>
            <a:ext cx="5705856" cy="228600"/>
          </a:xfrm>
          <a:prstGeom prst="rect">
            <a:avLst/>
          </a:prstGeom>
          <a:noFill/>
          <a:ln/>
        </p:spPr>
        <p:txBody>
          <a:bodyPr wrap="square" lIns="0" tIns="0" rIns="0" bIns="0" rtlCol="0" anchor="ctr"/>
          <a:lstStyle/>
          <a:p>
            <a:pPr indent="0" marL="0">
              <a:buNone/>
            </a:pPr>
            <a:r>
              <a:rPr lang="en-US" sz="1000" b="1" dirty="0">
                <a:solidFill>
                  <a:srgbClr val="0B2545"/>
                </a:solidFill>
                <a:latin typeface="Cambria" pitchFamily="34" charset="0"/>
                <a:ea typeface="Cambria" pitchFamily="34" charset="-122"/>
                <a:cs typeface="Cambria" pitchFamily="34" charset="-120"/>
              </a:rPr>
              <a:t>Selected references</a:t>
            </a:r>
            <a:endParaRPr lang="en-US" sz="1000" dirty="0"/>
          </a:p>
        </p:txBody>
      </p:sp>
      <p:sp>
        <p:nvSpPr>
          <p:cNvPr id="109" name="Text 92"/>
          <p:cNvSpPr/>
          <p:nvPr/>
        </p:nvSpPr>
        <p:spPr>
          <a:xfrm>
            <a:off x="26663904" y="19705320"/>
            <a:ext cx="5705856" cy="685800"/>
          </a:xfrm>
          <a:prstGeom prst="rect">
            <a:avLst/>
          </a:prstGeom>
          <a:noFill/>
          <a:ln/>
        </p:spPr>
        <p:txBody>
          <a:bodyPr wrap="square" lIns="0" tIns="0" rIns="0" bIns="0" rtlCol="0" anchor="t"/>
          <a:lstStyle/>
          <a:p>
            <a:pPr indent="0" marL="0">
              <a:lnSpc>
                <a:spcPts val="750"/>
              </a:lnSpc>
              <a:buNone/>
            </a:pPr>
            <a:r>
              <a:rPr lang="en-US" sz="650" dirty="0">
                <a:solidFill>
                  <a:srgbClr val="4A5C6A"/>
                </a:solidFill>
                <a:latin typeface="Arial" pitchFamily="34" charset="0"/>
                <a:ea typeface="Arial" pitchFamily="34" charset="-122"/>
                <a:cs typeface="Arial" pitchFamily="34" charset="-120"/>
              </a:rPr>
              <a:t>van Merriënboer et al. (2025) Perch 2.0, arXiv:2508.04665  ·  Burns et al. (2025) Perch 2.0 transfers ‘whale’ to underwater tasks, arXiv:2512.03219  ·  Google Research, perch-hoplite  ·  Harvey, Allen &amp; Harrell (2024) multispecies-whale, Kaggle  ·  Bonhoeffer et al. (2026) orcAI, Mar. Mamm. Sci. 42(1) e70083, doi:10.1111/mms.70083  ·  Ryan et al. (2016) OCEANS 2016 MTS/IEEE Monterey, doi:10.1109/OCEANS.2016.7761363  ·  McInnes et al. (2023) Bigg’s killer whale catalog, NOAA SWFSC, doi:10.25923/0q3f-1812</a:t>
            </a:r>
            <a:endParaRPr lang="en-US" sz="650" dirty="0"/>
          </a:p>
        </p:txBody>
      </p:sp>
      <p:sp>
        <p:nvSpPr>
          <p:cNvPr id="110" name="Shape 93"/>
          <p:cNvSpPr/>
          <p:nvPr/>
        </p:nvSpPr>
        <p:spPr>
          <a:xfrm>
            <a:off x="31683960" y="20825460"/>
            <a:ext cx="960120" cy="960120"/>
          </a:xfrm>
          <a:prstGeom prst="rect">
            <a:avLst/>
          </a:prstGeom>
          <a:solidFill>
            <a:srgbClr val="FFFFFF"/>
          </a:solidFill>
          <a:ln w="25400">
            <a:solidFill>
              <a:srgbClr val="1C7293"/>
            </a:solidFill>
            <a:prstDash val="dash"/>
          </a:ln>
        </p:spPr>
      </p:sp>
      <p:sp>
        <p:nvSpPr>
          <p:cNvPr id="111" name="Text 94"/>
          <p:cNvSpPr/>
          <p:nvPr/>
        </p:nvSpPr>
        <p:spPr>
          <a:xfrm>
            <a:off x="31683960" y="20825460"/>
            <a:ext cx="960120" cy="960120"/>
          </a:xfrm>
          <a:prstGeom prst="rect">
            <a:avLst/>
          </a:prstGeom>
          <a:noFill/>
          <a:ln/>
        </p:spPr>
        <p:txBody>
          <a:bodyPr wrap="square" lIns="0" tIns="0" rIns="0" bIns="0" rtlCol="0" anchor="ctr"/>
          <a:lstStyle/>
          <a:p>
            <a:pPr algn="ctr" indent="0" marL="0">
              <a:buNone/>
            </a:pPr>
            <a:r>
              <a:rPr lang="en-US" sz="1100" b="1" dirty="0">
                <a:solidFill>
                  <a:srgbClr val="1C7293"/>
                </a:solidFill>
                <a:latin typeface="Arial" pitchFamily="34" charset="0"/>
                <a:ea typeface="Arial" pitchFamily="34" charset="-122"/>
                <a:cs typeface="Arial" pitchFamily="34" charset="-120"/>
              </a:rPr>
              <a:t>QR</a:t>
            </a:r>
            <a:endParaRPr lang="en-US" sz="1100" dirty="0"/>
          </a:p>
        </p:txBody>
      </p:sp>
      <p:sp>
        <p:nvSpPr>
          <p:cNvPr id="112" name="Text 95"/>
          <p:cNvSpPr/>
          <p:nvPr/>
        </p:nvSpPr>
        <p:spPr>
          <a:xfrm>
            <a:off x="28072080" y="20825460"/>
            <a:ext cx="3383280" cy="960120"/>
          </a:xfrm>
          <a:prstGeom prst="rect">
            <a:avLst/>
          </a:prstGeom>
          <a:noFill/>
          <a:ln/>
        </p:spPr>
        <p:txBody>
          <a:bodyPr wrap="square" lIns="0" tIns="0" rIns="0" bIns="0" rtlCol="0" anchor="ctr"/>
          <a:lstStyle/>
          <a:p>
            <a:pPr algn="r" indent="0" marL="0">
              <a:lnSpc>
                <a:spcPts val="1050"/>
              </a:lnSpc>
              <a:buNone/>
            </a:pPr>
            <a:r>
              <a:rPr lang="en-US" sz="900" b="1" i="1" dirty="0">
                <a:solidFill>
                  <a:srgbClr val="4A5C6A"/>
                </a:solidFill>
                <a:latin typeface="Arial" pitchFamily="34" charset="0"/>
                <a:ea typeface="Arial" pitchFamily="34" charset="-122"/>
                <a:cs typeface="Arial" pitchFamily="34" charset="-120"/>
              </a:rPr>
              <a:t>QR → code, figures and data
</a:t>
            </a:r>
            <a:pPr algn="r" indent="0" marL="0">
              <a:lnSpc>
                <a:spcPts val="1050"/>
              </a:lnSpc>
              <a:buNone/>
            </a:pPr>
            <a:r>
              <a:rPr lang="en-US" sz="900" i="1" dirty="0">
                <a:solidFill>
                  <a:srgbClr val="4A5C6A"/>
                </a:solidFill>
                <a:latin typeface="Arial" pitchFamily="34" charset="0"/>
                <a:ea typeface="Arial" pitchFamily="34" charset="-122"/>
                <a:cs typeface="Arial" pitchFamily="34" charset="-120"/>
              </a:rPr>
              <a:t>github.com/duane-edgington/perch-hoplite</a:t>
            </a:r>
            <a:endParaRPr lang="en-US" sz="900" dirty="0"/>
          </a:p>
        </p:txBody>
      </p:sp>
      <p:sp>
        <p:nvSpPr>
          <p:cNvPr id="113" name="Text 96"/>
          <p:cNvSpPr/>
          <p:nvPr/>
        </p:nvSpPr>
        <p:spPr>
          <a:xfrm>
            <a:off x="274320" y="20894040"/>
            <a:ext cx="26654760" cy="914400"/>
          </a:xfrm>
          <a:prstGeom prst="rect">
            <a:avLst/>
          </a:prstGeom>
          <a:noFill/>
          <a:ln/>
        </p:spPr>
        <p:txBody>
          <a:bodyPr wrap="square" lIns="0" tIns="0" rIns="0" bIns="0" rtlCol="0" anchor="t"/>
          <a:lstStyle/>
          <a:p>
            <a:pPr indent="0" marL="0">
              <a:lnSpc>
                <a:spcPts val="1200"/>
              </a:lnSpc>
              <a:buNone/>
            </a:pPr>
            <a:r>
              <a:rPr lang="en-US" sz="950" dirty="0">
                <a:solidFill>
                  <a:srgbClr val="4A5C6A"/>
                </a:solidFill>
                <a:latin typeface="Arial" pitchFamily="34" charset="0"/>
                <a:ea typeface="Arial" pitchFamily="34" charset="-122"/>
                <a:cs typeface="Arial" pitchFamily="34" charset="-120"/>
              </a:rPr>
              <a:t>Duane R. Edgington  duane@mbari.org  ·  John Ryan  ryjo@mbari.org  ·  Monterey Bay Aquarium Research Institute, Moss Landing, California</a:t>
            </a:r>
            <a:endParaRPr lang="en-US" sz="950" dirty="0"/>
          </a:p>
          <a:p>
            <a:pPr indent="0" marL="0">
              <a:lnSpc>
                <a:spcPts val="1200"/>
              </a:lnSpc>
              <a:buNone/>
            </a:pPr>
            <a:r>
              <a:rPr lang="en-US" sz="950" dirty="0">
                <a:solidFill>
                  <a:srgbClr val="4A5C6A"/>
                </a:solidFill>
                <a:latin typeface="Arial" pitchFamily="34" charset="0"/>
                <a:ea typeface="Arial" pitchFamily="34" charset="-122"/>
                <a:cs typeface="Arial" pitchFamily="34" charset="-120"/>
              </a:rPr>
              <a:t>Project: mbari.org/project/soundscape-listening-room   |   Audio: Pacific Ocean Sound recordings (AWS Open Data Registry), MARS cabled observatory, MBNMS.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2026-08-25T22:00:54Z</dcterms:created>
  <dcterms:modified xsi:type="dcterms:W3CDTF">2026-08-25T22:00:54Z</dcterms:modified>
</cp:coreProperties>
</file>