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~1,450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the classifier retrains in ~30 s</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both carry tonal, harmonically stacked content in overlapping bands — which is why the classifier confuses them, and why humpback is the weakest class.</a:t>
            </a:r>
            <a:endParaRPr lang="en-US" sz="900" dirty="0"/>
          </a:p>
        </p:txBody>
      </p:sp>
      <p:sp>
        <p:nvSpPr>
          <p:cNvPr id="39" name="Shape 35"/>
          <p:cNvSpPr/>
          <p:nvPr/>
        </p:nvSpPr>
        <p:spPr>
          <a:xfrm>
            <a:off x="8435340" y="5577840"/>
            <a:ext cx="7886700" cy="5029200"/>
          </a:xfrm>
          <a:prstGeom prst="roundRect">
            <a:avLst>
              <a:gd name="adj" fmla="val 1636"/>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046970" y="8778240"/>
            <a:ext cx="4663440" cy="1714500"/>
          </a:xfrm>
          <a:prstGeom prst="rect">
            <a:avLst/>
          </a:prstGeom>
        </p:spPr>
      </p:pic>
      <p:sp>
        <p:nvSpPr>
          <p:cNvPr id="45" name="Shape 40"/>
          <p:cNvSpPr/>
          <p:nvPr/>
        </p:nvSpPr>
        <p:spPr>
          <a:xfrm>
            <a:off x="8435340" y="10881360"/>
            <a:ext cx="7886700" cy="4754880"/>
          </a:xfrm>
          <a:prstGeom prst="roundRect">
            <a:avLst>
              <a:gd name="adj" fmla="val 1731"/>
            </a:avLst>
          </a:prstGeom>
          <a:solidFill>
            <a:srgbClr val="EEF3F7"/>
          </a:solidFill>
          <a:ln w="12700">
            <a:solidFill>
              <a:srgbClr val="D8E2EA"/>
            </a:solidFill>
            <a:prstDash val="solid"/>
          </a:ln>
        </p:spPr>
      </p:sp>
      <p:sp>
        <p:nvSpPr>
          <p:cNvPr id="46" name="Shape 41"/>
          <p:cNvSpPr/>
          <p:nvPr/>
        </p:nvSpPr>
        <p:spPr>
          <a:xfrm>
            <a:off x="8686800" y="1110996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11099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10733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png">    </p:cNvPr>
          <p:cNvPicPr>
            <a:picLocks noChangeAspect="1"/>
          </p:cNvPicPr>
          <p:nvPr/>
        </p:nvPicPr>
        <p:blipFill>
          <a:blip r:embed="rId4"/>
          <a:stretch>
            <a:fillRect/>
          </a:stretch>
        </p:blipFill>
        <p:spPr>
          <a:xfrm>
            <a:off x="10504170" y="11887200"/>
            <a:ext cx="3749040" cy="3122676"/>
          </a:xfrm>
          <a:prstGeom prst="rect">
            <a:avLst/>
          </a:prstGeom>
        </p:spPr>
      </p:pic>
      <p:sp>
        <p:nvSpPr>
          <p:cNvPr id="50" name="Text 44"/>
          <p:cNvSpPr/>
          <p:nvPr/>
        </p:nvSpPr>
        <p:spPr>
          <a:xfrm>
            <a:off x="8709660" y="15064740"/>
            <a:ext cx="7338060"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823 labeled windows, 6 classes, 3 seasons (April 2018, October 2020, April 2026). The orca cluster holds across all three years — the embeddings are separable across recording conditions and time, which is the premise this method rests on. Where classes visibly overlap, orca against humpback, is the same confusion the spectrograms show and the detection scores measure.</a:t>
            </a:r>
            <a:endParaRPr lang="en-US" sz="850" dirty="0"/>
          </a:p>
        </p:txBody>
      </p:sp>
      <p:sp>
        <p:nvSpPr>
          <p:cNvPr id="51" name="Shape 45"/>
          <p:cNvSpPr/>
          <p:nvPr/>
        </p:nvSpPr>
        <p:spPr>
          <a:xfrm>
            <a:off x="8435340" y="15910560"/>
            <a:ext cx="7886700" cy="4846320"/>
          </a:xfrm>
          <a:prstGeom prst="roundRect">
            <a:avLst>
              <a:gd name="adj" fmla="val 1698"/>
            </a:avLst>
          </a:prstGeom>
          <a:solidFill>
            <a:srgbClr val="EEF3F7"/>
          </a:solidFill>
          <a:ln w="12700">
            <a:solidFill>
              <a:srgbClr val="D8E2EA"/>
            </a:solidFill>
            <a:prstDash val="solid"/>
          </a:ln>
        </p:spPr>
      </p:sp>
      <p:sp>
        <p:nvSpPr>
          <p:cNvPr id="52" name="Shape 46"/>
          <p:cNvSpPr/>
          <p:nvPr/>
        </p:nvSpPr>
        <p:spPr>
          <a:xfrm>
            <a:off x="8686800" y="1613916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61391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61025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87068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516600"/>
            <a:ext cx="5394960" cy="2157984"/>
          </a:xfrm>
          <a:prstGeom prst="rect">
            <a:avLst/>
          </a:prstGeom>
        </p:spPr>
      </p:pic>
      <p:sp>
        <p:nvSpPr>
          <p:cNvPr id="57" name="Shape 50"/>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8" name="Shape 51"/>
          <p:cNvSpPr/>
          <p:nvPr/>
        </p:nvSpPr>
        <p:spPr>
          <a:xfrm>
            <a:off x="16847820" y="5806440"/>
            <a:ext cx="525780" cy="525780"/>
          </a:xfrm>
          <a:prstGeom prst="ellipse">
            <a:avLst/>
          </a:prstGeom>
          <a:solidFill>
            <a:srgbClr val="1C7293"/>
          </a:solidFill>
          <a:ln w="12700">
            <a:solidFill>
              <a:srgbClr val="1C7293"/>
            </a:solidFill>
            <a:prstDash val="solid"/>
          </a:ln>
        </p:spPr>
      </p:sp>
      <p:sp>
        <p:nvSpPr>
          <p:cNvPr id="59" name="Text 52"/>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0" name="Text 53"/>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1" name="Text 54"/>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2"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3" name="Text 55"/>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4" name="Shape 56"/>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5" name="Shape 57"/>
          <p:cNvSpPr/>
          <p:nvPr/>
        </p:nvSpPr>
        <p:spPr>
          <a:xfrm>
            <a:off x="16847820" y="13761720"/>
            <a:ext cx="525780" cy="525780"/>
          </a:xfrm>
          <a:prstGeom prst="ellipse">
            <a:avLst/>
          </a:prstGeom>
          <a:solidFill>
            <a:srgbClr val="1C7293"/>
          </a:solidFill>
          <a:ln w="12700">
            <a:solidFill>
              <a:srgbClr val="1C7293"/>
            </a:solidFill>
            <a:prstDash val="solid"/>
          </a:ln>
        </p:spPr>
      </p:sp>
      <p:sp>
        <p:nvSpPr>
          <p:cNvPr id="66" name="Text 58"/>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7" name="Text 59"/>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8" name="Image 6" descr="tsne_orca_by_day_4days_px30_pres.png">    </p:cNvPr>
          <p:cNvPicPr>
            <a:picLocks noChangeAspect="1"/>
          </p:cNvPicPr>
          <p:nvPr/>
        </p:nvPicPr>
        <p:blipFill>
          <a:blip r:embed="rId7"/>
          <a:stretch>
            <a:fillRect/>
          </a:stretch>
        </p:blipFill>
        <p:spPr>
          <a:xfrm>
            <a:off x="17910810" y="14584680"/>
            <a:ext cx="5257800" cy="3483864"/>
          </a:xfrm>
          <a:prstGeom prst="rect">
            <a:avLst/>
          </a:prstGeom>
        </p:spPr>
      </p:pic>
      <p:sp>
        <p:nvSpPr>
          <p:cNvPr id="69" name="Text 60"/>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0" name="Text 61"/>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1" name="Shape 62"/>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2" name="Shape 63"/>
          <p:cNvSpPr/>
          <p:nvPr/>
        </p:nvSpPr>
        <p:spPr>
          <a:xfrm>
            <a:off x="25008840" y="5806440"/>
            <a:ext cx="525780" cy="525780"/>
          </a:xfrm>
          <a:prstGeom prst="ellipse">
            <a:avLst/>
          </a:prstGeom>
          <a:solidFill>
            <a:srgbClr val="1C7293"/>
          </a:solidFill>
          <a:ln w="12700">
            <a:solidFill>
              <a:srgbClr val="1C7293"/>
            </a:solidFill>
            <a:prstDash val="solid"/>
          </a:ln>
        </p:spPr>
      </p:sp>
      <p:sp>
        <p:nvSpPr>
          <p:cNvPr id="73" name="Text 64"/>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4" name="Text 65"/>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5"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6" name="Text 66"/>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7" name="Shape 67"/>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8" name="Shape 68"/>
          <p:cNvSpPr/>
          <p:nvPr/>
        </p:nvSpPr>
        <p:spPr>
          <a:xfrm>
            <a:off x="25008840" y="10927080"/>
            <a:ext cx="525780" cy="525780"/>
          </a:xfrm>
          <a:prstGeom prst="ellipse">
            <a:avLst/>
          </a:prstGeom>
          <a:solidFill>
            <a:srgbClr val="1C7293"/>
          </a:solidFill>
          <a:ln w="12700">
            <a:solidFill>
              <a:srgbClr val="1C7293"/>
            </a:solidFill>
            <a:prstDash val="solid"/>
          </a:ln>
        </p:spPr>
      </p:sp>
      <p:sp>
        <p:nvSpPr>
          <p:cNvPr id="79" name="Text 69"/>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0" name="Text 70"/>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pic>
        <p:nvPicPr>
          <p:cNvPr id="81" name="Image 8" descr="oceans2026_fig9_per_class_f1_v4.png">    </p:cNvPr>
          <p:cNvPicPr>
            <a:picLocks noChangeAspect="1"/>
          </p:cNvPicPr>
          <p:nvPr/>
        </p:nvPicPr>
        <p:blipFill>
          <a:blip r:embed="rId9"/>
          <a:stretch>
            <a:fillRect/>
          </a:stretch>
        </p:blipFill>
        <p:spPr>
          <a:xfrm>
            <a:off x="25031700" y="11750040"/>
            <a:ext cx="7338060" cy="1920240"/>
          </a:xfrm>
          <a:prstGeom prst="rect">
            <a:avLst/>
          </a:prstGeom>
        </p:spPr>
      </p:pic>
      <p:sp>
        <p:nvSpPr>
          <p:cNvPr id="82" name="Text 71"/>
          <p:cNvSpPr/>
          <p:nvPr/>
        </p:nvSpPr>
        <p:spPr>
          <a:xfrm>
            <a:off x="25031700" y="13853160"/>
            <a:ext cx="7338060" cy="155448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Each class needs its own cutoff — the best values run from +0.16 to +2.47, so one global setting cannot serve them all.</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50" dirty="0"/>
          </a:p>
        </p:txBody>
      </p:sp>
      <p:sp>
        <p:nvSpPr>
          <p:cNvPr id="83" name="Shape 72"/>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4" name="Shape 73"/>
          <p:cNvSpPr/>
          <p:nvPr/>
        </p:nvSpPr>
        <p:spPr>
          <a:xfrm>
            <a:off x="25008840" y="16047720"/>
            <a:ext cx="525780" cy="525780"/>
          </a:xfrm>
          <a:prstGeom prst="ellipse">
            <a:avLst/>
          </a:prstGeom>
          <a:solidFill>
            <a:srgbClr val="1C7293"/>
          </a:solidFill>
          <a:ln w="12700">
            <a:solidFill>
              <a:srgbClr val="1C7293"/>
            </a:solidFill>
            <a:prstDash val="solid"/>
          </a:ln>
        </p:spPr>
      </p:sp>
      <p:sp>
        <p:nvSpPr>
          <p:cNvPr id="85" name="Text 74"/>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6" name="Text 75"/>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7" name="Text 76"/>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Staged: a gray-whale-moan class and re-review of the April 2018 and April 2026 humpback clips — gray whales migrate through the same window.</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next production retrain folds in the +75 April and +8 May orca labels and the October 2020 relabels, once 4-season ship_noise inflation is resolved.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88" name="Text 77"/>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89" name="Text 78"/>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0" name="Text 79"/>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1" name="Text 80"/>
          <p:cNvSpPr/>
          <p:nvPr/>
        </p:nvSpPr>
        <p:spPr>
          <a:xfrm>
            <a:off x="25031700" y="19499580"/>
            <a:ext cx="7338060" cy="1188720"/>
          </a:xfrm>
          <a:prstGeom prst="rect">
            <a:avLst/>
          </a:prstGeom>
          <a:noFill/>
          <a:ln/>
        </p:spPr>
        <p:txBody>
          <a:bodyPr wrap="square" lIns="0" tIns="0" rIns="0" bIns="0" rtlCol="0" anchor="t"/>
          <a:lstStyle/>
          <a:p>
            <a:pPr indent="0" marL="0">
              <a:lnSpc>
                <a:spcPts val="1000"/>
              </a:lnSpc>
              <a:buNone/>
            </a:pPr>
            <a:r>
              <a:rPr lang="en-US" sz="850" dirty="0">
                <a:solidFill>
                  <a:srgbClr val="4A5C6A"/>
                </a:solidFill>
                <a:latin typeface="Arial" pitchFamily="34" charset="0"/>
                <a:ea typeface="Arial" pitchFamily="34" charset="-122"/>
                <a:cs typeface="Arial" pitchFamily="34" charset="-120"/>
              </a:rPr>
              <a:t>van Merriënboer et al. (2025) Perch 2.0, arXiv:2508.04665  ·  Burns et al. Perch 2.0 transfers ‘whale’ to underwater tasks, arXiv:2512.03219  ·  Google Research, perch-hoplite  ·  Harvey, Allen &amp; Harrell (2024) multispecies-whale, Kaggle  ·  Bonhoeffer et al. (2025) orcAI, Mar. Mamm. Sci. 42(1)  ·  Ryan et al. (2016) OCEANS Monterey  ·  McInnes et al. (2023) Bigg’s killer whale catalog, NOAA SWFSC</a:t>
            </a:r>
            <a:endParaRPr lang="en-US" sz="850" dirty="0"/>
          </a:p>
        </p:txBody>
      </p:sp>
      <p:sp>
        <p:nvSpPr>
          <p:cNvPr id="92" name="Shape 81"/>
          <p:cNvSpPr/>
          <p:nvPr/>
        </p:nvSpPr>
        <p:spPr>
          <a:xfrm>
            <a:off x="30815280" y="20894040"/>
            <a:ext cx="914400" cy="914400"/>
          </a:xfrm>
          <a:prstGeom prst="rect">
            <a:avLst/>
          </a:prstGeom>
          <a:solidFill>
            <a:srgbClr val="FFFFFF"/>
          </a:solidFill>
          <a:ln w="25400">
            <a:solidFill>
              <a:srgbClr val="1C7293"/>
            </a:solidFill>
            <a:prstDash val="dash"/>
          </a:ln>
        </p:spPr>
      </p:sp>
      <p:sp>
        <p:nvSpPr>
          <p:cNvPr id="93" name="Text 82"/>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4" name="Text 83"/>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5" name="Text 84"/>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2026-08-21T23:30:44Z</dcterms:created>
  <dcterms:modified xsi:type="dcterms:W3CDTF">2026-08-21T23:30:44Z</dcterms:modified>
</cp:coreProperties>
</file>